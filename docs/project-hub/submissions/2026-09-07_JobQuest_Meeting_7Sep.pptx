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70" r:id="rId22"/>
    <p:sldId id="258" r:id="rId10"/>
    <p:sldId id="259" r:id="rId11"/>
    <p:sldId id="260" r:id="rId12"/>
    <p:sldId id="261" r:id="rId13"/>
    <p:sldId id="269" r:id="rId21"/>
    <p:sldId id="262" r:id="rId14"/>
    <p:sldId id="263" r:id="rId15"/>
    <p:sldId id="266" r:id="rId18"/>
    <p:sldId id="267" r:id="rId19"/>
    <p:sldId id="268" r:id="rId20"/>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9.xml"/><Relationship Id="rId15" Type="http://schemas.openxmlformats.org/officeDocument/2006/relationships/slide" Target="slides/slide10.xml"/><Relationship Id="rId17" Type="http://schemas.openxmlformats.org/officeDocument/2006/relationships/slide" Target="slides/slide14.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8.xml"/><Relationship Id="rId22"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We're the Golden Trio, and our project is JobQuest — an AI-native platform for exploring careers by actually trying the work. Today: the topic and its field, our objectives and scope, the theory we build on, who it serves, and — in the most detail — the business processes behind the product, how we supervise the AI, and how we'll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our route for the next fifteen minutes: the topic and its field; our objectives and scope; the theoretical foundations we build on; who the system serves and the business processes that run it; and finally our evaluation approach, a summary and next steps. We'll spend most of the time on the product itself.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a career is one of the highest-stakes decisions a person makes, yet it's usually made knowing almost nothing about the actual day-to-day work. The standard tools are personality and interest quizzes like MBTI and RIASEC — but those only capture what someone believes about themselves, not whether they'd thrive, and their reliability is questionable: an MBTI type changes for a large share of people on retest. In Vietnam this shows up as students entering mismatched majors and a persistent employer skills gap. There are experiential options — Forage lets you do real tasks — but it's static, employer-authored and built for recruiting. That's the gap our field leaves open.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 is a platform where you learn a job by doing it. The experience blends genres deliberately: RPG progression for levels and skills, visual-novel scenes for the storytelling, and roguelike random events so no two runs are alike. The AI isn't a bolt-on chatbot — it's the engine that generates, narrates and judges every scenario. On access: we've moved away from two separate modes. Now every job's starter level is simply open and free to play, and skills unlock the higher levels — or a cross-move into an adjacent job. Supporting layers, explicitly: a get-to-know-me conversation for players unsure where to start; visual-novel presentation; roguelike career and life events, our 'life is more than work' theme; a private logbook of skills, badges and a character sheet; and a job rating once a job is finished. Career orientation stays a supporting module, not the core. Scope: we go deep on IT first — realistic to build, credible to evaluate — supervised human-in-the-loop at authoring and human-on-the-loop at runtime, with an offline benchmark as proof.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the base we build on — and for each one, what it changes in our system. First, experiential learning: the theory says people learn by doing and then reflecting, so in JobQuest you play the job first and get feedback after. Second, the Realistic Job Preview tradition: honest previews that show the downsides produce better fit and less regret — so our missions deliberately include the hard parts, the pressure and the trade-offs. Third, learning by simulation: practising on a realistic imitation of real work teaches the work itself, and that holds well beyond medicine where it started — which is what makes our scene-based missions a legitimate way to learn a job.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foundations. Fourth, gamification and self-determination theory: mechanics work when they're tied to the learning, and motivation comes from feeling competent and in control — so our levels, skill points and unlocks are always earned by doing the work, never points for their own sake. Fifth, career theory: interests shape what we choose, confidence is built by succeeding at real tasks, and what fits a person changes over a lifetime — which is exactly why we have get-to-know-me, why missions build confidence, and why life events keep changing what fits. Sixth, the AI foundations: language models can generate scenarios and judge open answers, but that judging must be validated — so curated seeds keep generation grounded and an offline expert reference set validates the judging.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workflow, end to end. The user signs up — an account is required, since we save progress and personalise. Get-to-know-me is optional now: it's there for players who don't know which job to start from. Then they pick a job — and importantly, every job's starter level is open and free to play, so nothing blocks you from looking around. Before anything happens we give them context: your role, your team, the work environment. Then they play the tasks — each task is a real scenario or situation from that job, testing its own mix of skills. The AI evaluates their choices, rates the skills they showed and explains why. They earn skill points, which unlock higher levels of that job — or a cross-move into an adjacent one. Finish a whole job and you can rate it. Then the loop repeats, and roguelike life events keep changing what fits.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Zooming into a single mission. The lifecycle runs left to right: the AI generates from a hand-authored seed so it stays realistic; it narrates in visual-novel scenes that branch on the user's choices; tasks are presented as scenarios, structured or free-response; judging is deterministic for structured tasks and rubric-based for free text; and the result returns a score, guidance and skill points. On the left, AI supervision — the point our advisor asked us to be explicit about. At authoring we are human-in-the-loop: we write and control each role's seed. At runtime we are human-on-the-loop: the AI runs autonomously per turn, and rather than approving every output we oversee quality through the offline expert reference set — that's our oversight mechanism. On the right, three supporting processes: roguelike random events that reshuffle each run and drive replayability; a job rating the player gives after finishing a whole job, on five dimensions — salary, stress, difficulty, work–life balance and enjoyment — which feeds an honest, aggregate-only job profile; and the private logbook of jobs tried, skills and badges.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one job end to end, so the lifecycle isn't abstract. A Backend Engineer starter level: we set the context — your team, your stack, and tonight you're on call. We author the seed: the skeleton of the incident, the facts that must hold and the rubric for good handling. The AI expands that into a specific, varied scenario. The player hits a branching choice — payments are down at 2 a.m., where do you look first? Then a structured task, ordering the triage steps, scored automatically; and a free-response task, writing the incident summary, scored against our rubric. They finish with a score, feedback, the skills they showed rated — debugging and communication — and skill points toward the next level. And once the whole job is finished, they rate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we've set the topic and field, our objectives and scope, acknowledged the theory we build on and what each part changes in our system, covered who it serves, and walked the business processes in detail — the loop, the mission lifecycle, a full worked example and the skills graph — plus how we supervise the AI and how we'll evaluate it. Next we'll formalise the use cases and activity diagrams, finalise how each task format maps to judging, and build the reference set and metrics. Thank you — we're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aren't just a score — they're how you travel. Every task pays out skills, soft and hard, and skill points unlock the next level and the next job. Jobs connect through shared skills, so once your skills qualify you can cross straight over without starting from zero: a senior frontend engineer whose skills already cover the ground can move directly into product owner or UI-UX lead. And because every job's starter level is open, you can always look around first — then rate a job once you've finished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computer-science contribution, and how we'll eventually prove the AI is doing its job. We build an expert-reviewed IT reference set — gold scenarios paired with gold judgments and rubrics. Against it we measure two things: generation quality, is the content realistic and faithful to the seed; and judging accuracy, does the AI's scoring agree with expert scoring. It's offline and self-contained, so no large user study is needed, and it's feasible precisely because we scoped to IT, which is our own domain. We're presenting the approach today; results come later.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word on who JobQuest is for and who runs it. The explorer is the end user — everything centres on them: they sign up, play tasks, earn skills and rate jobs. Behind the scenes are two admin roles. The Content Lead is our business admin — in JobQuest's context that's whoever owns the curated job seeds, the rubrics and the career data that keep simulations realistic. And the System Admin is the IT admin — running the platform, configuring the AI models, and overseeing safety and statistics. One player-facing group, two operator groups behind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update: we've refreshed the JobQuest logo, so let's introduce it. At the centre is an eight-point guiding star — find your direction before you fly. Its top point and the red fin below double as a rocket, turning direction into motion. A dashed elliptical orbit carries a small planet around the star — every job is one stop on a larger, connected journey, which is exactly our career graph. And the outer compass ring, with its cardinal tick marks and corner stars, frames the whole thing as exploration that stays oriented, never lost. One mark: a compass, a rocket, and an orbit, all at once.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2192000" cy="6858000"/>
          </a:xfrm>
          <a:prstGeom prst="rect">
            <a:avLst/>
          </a:prstGeom>
        </p:spPr>
      </p:pic>
      <p:cxnSp>
        <p:nvCxnSpPr>
          <p:cNvPr id="3" name="Connector 2"/>
          <p:cNvCxnSpPr/>
          <p:nvPr/>
        </p:nvCxnSpPr>
        <p:spPr>
          <a:xfrm>
            <a:off x="320040" y="320040"/>
            <a:ext cx="347472" cy="0"/>
          </a:xfrm>
          <a:prstGeom prst="line">
            <a:avLst/>
          </a:prstGeom>
          <a:ln w="15875">
            <a:solidFill>
              <a:srgbClr val="D4B06A"/>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20040" y="320040"/>
            <a:ext cx="0" cy="347472"/>
          </a:xfrm>
          <a:prstGeom prst="line">
            <a:avLst/>
          </a:prstGeom>
          <a:ln w="15875">
            <a:solidFill>
              <a:srgbClr val="D4B06A"/>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1524183" y="320040"/>
            <a:ext cx="347472" cy="0"/>
          </a:xfrm>
          <a:prstGeom prst="line">
            <a:avLst/>
          </a:prstGeom>
          <a:ln w="15875">
            <a:solidFill>
              <a:srgbClr val="D4B06A"/>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871655" y="320040"/>
            <a:ext cx="0" cy="347472"/>
          </a:xfrm>
          <a:prstGeom prst="line">
            <a:avLst/>
          </a:prstGeom>
          <a:ln w="15875">
            <a:solidFill>
              <a:srgbClr val="D4B06A"/>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6537960"/>
            <a:ext cx="347472" cy="0"/>
          </a:xfrm>
          <a:prstGeom prst="line">
            <a:avLst/>
          </a:prstGeom>
          <a:ln w="15875">
            <a:solidFill>
              <a:srgbClr val="D4B06A"/>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320040" y="6190488"/>
            <a:ext cx="0" cy="347472"/>
          </a:xfrm>
          <a:prstGeom prst="line">
            <a:avLst/>
          </a:prstGeom>
          <a:ln w="15875">
            <a:solidFill>
              <a:srgbClr val="D4B06A"/>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1524183" y="6537960"/>
            <a:ext cx="347472" cy="0"/>
          </a:xfrm>
          <a:prstGeom prst="line">
            <a:avLst/>
          </a:prstGeom>
          <a:ln w="15875">
            <a:solidFill>
              <a:srgbClr val="D4B06A"/>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871655" y="6190488"/>
            <a:ext cx="0" cy="347472"/>
          </a:xfrm>
          <a:prstGeom prst="line">
            <a:avLst/>
          </a:prstGeom>
          <a:ln w="15875">
            <a:solidFill>
              <a:srgbClr val="D4B06A"/>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logo.png"/>
          <p:cNvPicPr>
            <a:picLocks noChangeAspect="1"/>
          </p:cNvPicPr>
          <p:nvPr/>
        </p:nvPicPr>
        <p:blipFill>
          <a:blip r:embed="rId3"/>
          <a:stretch>
            <a:fillRect/>
          </a:stretch>
        </p:blipFill>
        <p:spPr>
          <a:xfrm>
            <a:off x="5511660" y="660000"/>
            <a:ext cx="1168680" cy="1168680"/>
          </a:xfrm>
          <a:prstGeom prst="rect">
            <a:avLst/>
          </a:prstGeom>
        </p:spPr>
      </p:pic>
      <p:sp>
        <p:nvSpPr>
          <p:cNvPr id="12" name="TextBox 11"/>
          <p:cNvSpPr txBox="1"/>
          <p:nvPr/>
        </p:nvSpPr>
        <p:spPr>
          <a:xfrm>
            <a:off x="0" y="1760000"/>
            <a:ext cx="12192000" cy="900000"/>
          </a:xfrm>
          <a:prstGeom prst="rect">
            <a:avLst/>
          </a:prstGeom>
          <a:noFill/>
        </p:spPr>
        <p:txBody>
          <a:bodyPr wrap="square" lIns="0" rIns="0" tIns="0" bIns="0" anchor="ctr">
            <a:spAutoFit/>
          </a:bodyPr>
          <a:lstStyle/>
          <a:p>
            <a:pPr algn="ctr">
              <a:spcBef>
                <a:spcPts val="0"/>
              </a:spcBef>
              <a:spcAft>
                <a:spcPts val="0"/>
              </a:spcAft>
            </a:pPr>
            <a:r>
              <a:rPr sz="5000" b="1" i="0" spc="200">
                <a:solidFill>
                  <a:srgbClr val="F0D79A"/>
                </a:solidFill>
                <a:latin typeface="Cinzel"/>
              </a:rPr>
              <a:t>JobQuest</a:t>
            </a:r>
          </a:p>
        </p:txBody>
      </p:sp>
      <p:sp>
        <p:nvSpPr>
          <p:cNvPr id="13" name="TextBox 12"/>
          <p:cNvSpPr txBox="1"/>
          <p:nvPr/>
        </p:nvSpPr>
        <p:spPr>
          <a:xfrm>
            <a:off x="1066648" y="2660000"/>
            <a:ext cx="10058704" cy="520000"/>
          </a:xfrm>
          <a:prstGeom prst="rect">
            <a:avLst/>
          </a:prstGeom>
          <a:noFill/>
        </p:spPr>
        <p:txBody>
          <a:bodyPr wrap="square" lIns="0" rIns="0" tIns="0" bIns="0" anchor="ctr">
            <a:spAutoFit/>
          </a:bodyPr>
          <a:lstStyle/>
          <a:p>
            <a:pPr algn="ctr">
              <a:spcBef>
                <a:spcPts val="0"/>
              </a:spcBef>
              <a:spcAft>
                <a:spcPts val="0"/>
              </a:spcAft>
            </a:pPr>
            <a:r>
              <a:rPr sz="1900" b="0" i="0">
                <a:solidFill>
                  <a:srgbClr val="F8F6EE"/>
                </a:solidFill>
                <a:latin typeface="Montserrat"/>
              </a:rPr>
              <a:t>An AI-Native Experiential Career-Exploration Platform</a:t>
            </a:r>
          </a:p>
        </p:txBody>
      </p:sp>
      <p:sp>
        <p:nvSpPr>
          <p:cNvPr id="14" name="TextBox 13"/>
          <p:cNvSpPr txBox="1"/>
          <p:nvPr/>
        </p:nvSpPr>
        <p:spPr>
          <a:xfrm>
            <a:off x="1523848" y="3320000"/>
            <a:ext cx="9144304" cy="520000"/>
          </a:xfrm>
          <a:prstGeom prst="rect">
            <a:avLst/>
          </a:prstGeom>
          <a:noFill/>
        </p:spPr>
        <p:txBody>
          <a:bodyPr wrap="square" lIns="0" rIns="0" tIns="0" bIns="0" anchor="ctr">
            <a:spAutoFit/>
          </a:bodyPr>
          <a:lstStyle/>
          <a:p>
            <a:pPr algn="ctr">
              <a:spcBef>
                <a:spcPts val="0"/>
              </a:spcBef>
              <a:spcAft>
                <a:spcPts val="0"/>
              </a:spcAft>
            </a:pPr>
            <a:r>
              <a:rPr sz="2000" b="0" i="1">
                <a:solidFill>
                  <a:srgbClr val="D4B06A"/>
                </a:solidFill>
                <a:latin typeface="Playfair Display"/>
              </a:rPr>
              <a:t>“Try the job before you pick the career.”</a:t>
            </a:r>
          </a:p>
        </p:txBody>
      </p:sp>
      <p:sp>
        <p:nvSpPr>
          <p:cNvPr id="15" name="TextBox 14"/>
          <p:cNvSpPr txBox="1"/>
          <p:nvPr/>
        </p:nvSpPr>
        <p:spPr>
          <a:xfrm>
            <a:off x="609448" y="6120000"/>
            <a:ext cx="10972800" cy="360000"/>
          </a:xfrm>
          <a:prstGeom prst="rect">
            <a:avLst/>
          </a:prstGeom>
          <a:noFill/>
        </p:spPr>
        <p:txBody>
          <a:bodyPr wrap="square" lIns="0" rIns="0" tIns="0" bIns="0" anchor="ctr">
            <a:spAutoFit/>
          </a:bodyPr>
          <a:lstStyle/>
          <a:p>
            <a:pPr algn="ctr">
              <a:spcBef>
                <a:spcPts val="0"/>
              </a:spcBef>
              <a:spcAft>
                <a:spcPts val="0"/>
              </a:spcAft>
            </a:pPr>
            <a:r>
              <a:rPr sz="1150" b="0" i="0">
                <a:solidFill>
                  <a:srgbClr val="C7D2E0"/>
                </a:solidFill>
                <a:latin typeface="Montserrat"/>
              </a:rPr>
              <a:t>Specialized Project (ĐACN)  ·  HCMUT  ·  Advisor: Assoc. Prof. Võ Thị Ngọc Châu  ·  Golden Trio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AGENDA</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700" b="1" i="0">
                <a:solidFill>
                  <a:srgbClr val="F8F6EE"/>
                </a:solidFill>
                <a:latin typeface="Playfair Display"/>
              </a:rPr>
              <a:t>Our route for the next fifteen minutes.</a:t>
            </a:r>
          </a:p>
        </p:txBody>
      </p:sp>
      <p:sp>
        <p:nvSpPr>
          <p:cNvPr id="5" name="Oval 4"/>
          <p:cNvSpPr/>
          <p:nvPr/>
        </p:nvSpPr>
        <p:spPr>
          <a:xfrm>
            <a:off x="3250000" y="2020000"/>
            <a:ext cx="300000" cy="30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1</a:t>
            </a:r>
          </a:p>
        </p:txBody>
      </p:sp>
      <p:sp>
        <p:nvSpPr>
          <p:cNvPr id="6" name="TextBox 5"/>
          <p:cNvSpPr txBox="1"/>
          <p:nvPr/>
        </p:nvSpPr>
        <p:spPr>
          <a:xfrm>
            <a:off x="3730000" y="2020000"/>
            <a:ext cx="5600000" cy="340000"/>
          </a:xfrm>
          <a:prstGeom prst="rect">
            <a:avLst/>
          </a:prstGeom>
          <a:noFill/>
        </p:spPr>
        <p:txBody>
          <a:bodyPr wrap="square" lIns="0" rIns="0" tIns="0" bIns="0" anchor="ctr">
            <a:spAutoFit/>
          </a:bodyPr>
          <a:lstStyle/>
          <a:p>
            <a:pPr algn="l">
              <a:spcBef>
                <a:spcPts val="0"/>
              </a:spcBef>
              <a:spcAft>
                <a:spcPts val="0"/>
              </a:spcAft>
            </a:pPr>
            <a:r>
              <a:rPr sz="1700" b="1" i="0">
                <a:solidFill>
                  <a:srgbClr val="F8F6EE"/>
                </a:solidFill>
                <a:latin typeface="Montserrat"/>
              </a:rPr>
              <a:t>Topic &amp; field</a:t>
            </a:r>
          </a:p>
        </p:txBody>
      </p:sp>
      <p:sp>
        <p:nvSpPr>
          <p:cNvPr id="7" name="Oval 6"/>
          <p:cNvSpPr/>
          <p:nvPr/>
        </p:nvSpPr>
        <p:spPr>
          <a:xfrm>
            <a:off x="3250000" y="2840000"/>
            <a:ext cx="300000" cy="30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2</a:t>
            </a:r>
          </a:p>
        </p:txBody>
      </p:sp>
      <p:sp>
        <p:nvSpPr>
          <p:cNvPr id="8" name="TextBox 7"/>
          <p:cNvSpPr txBox="1"/>
          <p:nvPr/>
        </p:nvSpPr>
        <p:spPr>
          <a:xfrm>
            <a:off x="3730000" y="2840000"/>
            <a:ext cx="5600000" cy="340000"/>
          </a:xfrm>
          <a:prstGeom prst="rect">
            <a:avLst/>
          </a:prstGeom>
          <a:noFill/>
        </p:spPr>
        <p:txBody>
          <a:bodyPr wrap="square" lIns="0" rIns="0" tIns="0" bIns="0" anchor="ctr">
            <a:spAutoFit/>
          </a:bodyPr>
          <a:lstStyle/>
          <a:p>
            <a:pPr algn="l">
              <a:spcBef>
                <a:spcPts val="0"/>
              </a:spcBef>
              <a:spcAft>
                <a:spcPts val="0"/>
              </a:spcAft>
            </a:pPr>
            <a:r>
              <a:rPr sz="1700" b="1" i="0">
                <a:solidFill>
                  <a:srgbClr val="F8F6EE"/>
                </a:solidFill>
                <a:latin typeface="Montserrat"/>
              </a:rPr>
              <a:t>Objectives &amp; scope</a:t>
            </a:r>
          </a:p>
        </p:txBody>
      </p:sp>
      <p:sp>
        <p:nvSpPr>
          <p:cNvPr id="9" name="Oval 8"/>
          <p:cNvSpPr/>
          <p:nvPr/>
        </p:nvSpPr>
        <p:spPr>
          <a:xfrm>
            <a:off x="3250000" y="3660000"/>
            <a:ext cx="300000" cy="30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3</a:t>
            </a:r>
          </a:p>
        </p:txBody>
      </p:sp>
      <p:sp>
        <p:nvSpPr>
          <p:cNvPr id="10" name="TextBox 9"/>
          <p:cNvSpPr txBox="1"/>
          <p:nvPr/>
        </p:nvSpPr>
        <p:spPr>
          <a:xfrm>
            <a:off x="3730000" y="3660000"/>
            <a:ext cx="5600000" cy="340000"/>
          </a:xfrm>
          <a:prstGeom prst="rect">
            <a:avLst/>
          </a:prstGeom>
          <a:noFill/>
        </p:spPr>
        <p:txBody>
          <a:bodyPr wrap="square" lIns="0" rIns="0" tIns="0" bIns="0" anchor="ctr">
            <a:spAutoFit/>
          </a:bodyPr>
          <a:lstStyle/>
          <a:p>
            <a:pPr algn="l">
              <a:spcBef>
                <a:spcPts val="0"/>
              </a:spcBef>
              <a:spcAft>
                <a:spcPts val="0"/>
              </a:spcAft>
            </a:pPr>
            <a:r>
              <a:rPr sz="1700" b="1" i="0">
                <a:solidFill>
                  <a:srgbClr val="F8F6EE"/>
                </a:solidFill>
                <a:latin typeface="Montserrat"/>
              </a:rPr>
              <a:t>Theoretical foundations</a:t>
            </a:r>
          </a:p>
        </p:txBody>
      </p:sp>
      <p:sp>
        <p:nvSpPr>
          <p:cNvPr id="11" name="Oval 10"/>
          <p:cNvSpPr/>
          <p:nvPr/>
        </p:nvSpPr>
        <p:spPr>
          <a:xfrm>
            <a:off x="3250000" y="4480000"/>
            <a:ext cx="300000" cy="30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4</a:t>
            </a:r>
          </a:p>
        </p:txBody>
      </p:sp>
      <p:sp>
        <p:nvSpPr>
          <p:cNvPr id="12" name="TextBox 11"/>
          <p:cNvSpPr txBox="1"/>
          <p:nvPr/>
        </p:nvSpPr>
        <p:spPr>
          <a:xfrm>
            <a:off x="3730000" y="4480000"/>
            <a:ext cx="5600000" cy="340000"/>
          </a:xfrm>
          <a:prstGeom prst="rect">
            <a:avLst/>
          </a:prstGeom>
          <a:noFill/>
        </p:spPr>
        <p:txBody>
          <a:bodyPr wrap="square" lIns="0" rIns="0" tIns="0" bIns="0" anchor="ctr">
            <a:spAutoFit/>
          </a:bodyPr>
          <a:lstStyle/>
          <a:p>
            <a:pPr algn="l">
              <a:spcBef>
                <a:spcPts val="0"/>
              </a:spcBef>
              <a:spcAft>
                <a:spcPts val="0"/>
              </a:spcAft>
            </a:pPr>
            <a:r>
              <a:rPr sz="1700" b="1" i="0">
                <a:solidFill>
                  <a:srgbClr val="F8F6EE"/>
                </a:solidFill>
                <a:latin typeface="Montserrat"/>
              </a:rPr>
              <a:t>User groups &amp; business processes</a:t>
            </a:r>
          </a:p>
        </p:txBody>
      </p:sp>
      <p:sp>
        <p:nvSpPr>
          <p:cNvPr id="13" name="Oval 12"/>
          <p:cNvSpPr/>
          <p:nvPr/>
        </p:nvSpPr>
        <p:spPr>
          <a:xfrm>
            <a:off x="3250000" y="5300000"/>
            <a:ext cx="300000" cy="30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5</a:t>
            </a:r>
          </a:p>
        </p:txBody>
      </p:sp>
      <p:sp>
        <p:nvSpPr>
          <p:cNvPr id="14" name="TextBox 13"/>
          <p:cNvSpPr txBox="1"/>
          <p:nvPr/>
        </p:nvSpPr>
        <p:spPr>
          <a:xfrm>
            <a:off x="3730000" y="5300000"/>
            <a:ext cx="5600000" cy="340000"/>
          </a:xfrm>
          <a:prstGeom prst="rect">
            <a:avLst/>
          </a:prstGeom>
          <a:noFill/>
        </p:spPr>
        <p:txBody>
          <a:bodyPr wrap="square" lIns="0" rIns="0" tIns="0" bIns="0" anchor="ctr">
            <a:spAutoFit/>
          </a:bodyPr>
          <a:lstStyle/>
          <a:p>
            <a:pPr algn="l">
              <a:spcBef>
                <a:spcPts val="0"/>
              </a:spcBef>
              <a:spcAft>
                <a:spcPts val="0"/>
              </a:spcAft>
            </a:pPr>
            <a:r>
              <a:rPr sz="1700" b="1" i="0">
                <a:solidFill>
                  <a:srgbClr val="F8F6EE"/>
                </a:solidFill>
                <a:latin typeface="Montserrat"/>
              </a:rPr>
              <a:t>Evaluation, summary &amp;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OUR LOGO</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700" b="1" i="0">
                <a:solidFill>
                  <a:srgbClr val="F8F6EE"/>
                </a:solidFill>
                <a:latin typeface="Playfair Display"/>
              </a:rPr>
              <a:t>A new look — and what it means.</a:t>
            </a:r>
          </a:p>
        </p:txBody>
      </p:sp>
      <p:pic>
        <p:nvPicPr>
          <p:cNvPr id="50" name="JobQuest Logo" descr="JobQuest logo"/>
          <p:cNvPicPr>
            <a:picLocks noChangeAspect="1"/>
          </p:cNvPicPr>
          <p:nvPr/>
        </p:nvPicPr>
        <p:blipFill>
          <a:blip r:embed="rId3"/>
          <a:stretch>
            <a:fillRect/>
          </a:stretch>
        </p:blipFill>
        <p:spPr>
          <a:xfrm>
            <a:off x="900000" y="1780000"/>
            <a:ext cx="3300000" cy="3300000"/>
          </a:xfrm>
          <a:prstGeom prst="ellipse">
            <a:avLst/>
          </a:prstGeom>
        </p:spPr>
      </p:pic>
      <p:sp>
        <p:nvSpPr>
          <p:cNvPr id="60" name="Rounded Rectangle Logo Card"/>
          <p:cNvSpPr/>
          <p:nvPr/>
        </p:nvSpPr>
        <p:spPr>
          <a:xfrm>
            <a:off x="4750000" y="1690000"/>
            <a:ext cx="6900000" cy="3550000"/>
          </a:xfrm>
          <a:prstGeom prst="roundRect">
            <a:avLst>
              <a:gd name="adj" fmla="val 4500"/>
            </a:avLst>
          </a:prstGeom>
          <a:solidFill>
            <a:srgbClr val="142B52">
              <a:alpha val="60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4-Point Star 61"/>
          <p:cNvSpPr/>
          <p:nvPr/>
        </p:nvSpPr>
        <p:spPr>
          <a:xfrm>
            <a:off x="4950000" y="1900000"/>
            <a:ext cx="230000" cy="230000"/>
          </a:xfrm>
          <a:prstGeom prst="star4">
            <a:avLst>
              <a:gd name="adj" fmla="val 16000"/>
            </a:avLst>
          </a:prstGeom>
          <a:solidFill>
            <a:srgbClr val="F0D7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2"/>
          <p:cNvSpPr txBox="1"/>
          <p:nvPr/>
        </p:nvSpPr>
        <p:spPr>
          <a:xfrm>
            <a:off x="5320000" y="1870000"/>
            <a:ext cx="6320000" cy="62000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F0D79A"/>
                </a:solidFill>
                <a:latin typeface="Montserrat"/>
              </a:rPr>
              <a:t>The guiding star  </a:t>
            </a:r>
            <a:r>
              <a:rPr sz="1150" b="0" i="0">
                <a:solidFill>
                  <a:srgbClr val="F8F6EE"/>
                </a:solidFill>
                <a:latin typeface="Montserrat"/>
              </a:rPr>
              <a:t>an eight-point compass star — find your direction before you fly.</a:t>
            </a:r>
          </a:p>
        </p:txBody>
      </p:sp>
      <p:sp>
        <p:nvSpPr>
          <p:cNvPr id="63" name="4-Point Star 63"/>
          <p:cNvSpPr/>
          <p:nvPr/>
        </p:nvSpPr>
        <p:spPr>
          <a:xfrm>
            <a:off x="4950000" y="2650000"/>
            <a:ext cx="230000" cy="230000"/>
          </a:xfrm>
          <a:prstGeom prst="star4">
            <a:avLst>
              <a:gd name="adj" fmla="val 16000"/>
            </a:avLst>
          </a:prstGeom>
          <a:solidFill>
            <a:srgbClr val="F0D7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4"/>
          <p:cNvSpPr txBox="1"/>
          <p:nvPr/>
        </p:nvSpPr>
        <p:spPr>
          <a:xfrm>
            <a:off x="5320000" y="2620000"/>
            <a:ext cx="6320000" cy="62000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F0D79A"/>
                </a:solidFill>
                <a:latin typeface="Montserrat"/>
              </a:rPr>
              <a:t>The rocket  </a:t>
            </a:r>
            <a:r>
              <a:rPr sz="1150" b="0" i="0">
                <a:solidFill>
                  <a:srgbClr val="F8F6EE"/>
                </a:solidFill>
                <a:latin typeface="Montserrat"/>
              </a:rPr>
              <a:t>the star's point and red fin double as a rocket — direction, turned into motion.</a:t>
            </a:r>
          </a:p>
        </p:txBody>
      </p:sp>
      <p:sp>
        <p:nvSpPr>
          <p:cNvPr id="65" name="4-Point Star 65"/>
          <p:cNvSpPr/>
          <p:nvPr/>
        </p:nvSpPr>
        <p:spPr>
          <a:xfrm>
            <a:off x="4950000" y="3400000"/>
            <a:ext cx="230000" cy="230000"/>
          </a:xfrm>
          <a:prstGeom prst="star4">
            <a:avLst>
              <a:gd name="adj" fmla="val 16000"/>
            </a:avLst>
          </a:prstGeom>
          <a:solidFill>
            <a:srgbClr val="F0D7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6"/>
          <p:cNvSpPr txBox="1"/>
          <p:nvPr/>
        </p:nvSpPr>
        <p:spPr>
          <a:xfrm>
            <a:off x="5320000" y="3370000"/>
            <a:ext cx="6320000" cy="62000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F0D79A"/>
                </a:solidFill>
                <a:latin typeface="Montserrat"/>
              </a:rPr>
              <a:t>The orbit path  </a:t>
            </a:r>
            <a:r>
              <a:rPr sz="1150" b="0" i="0">
                <a:solidFill>
                  <a:srgbClr val="F8F6EE"/>
                </a:solidFill>
                <a:latin typeface="Montserrat"/>
              </a:rPr>
              <a:t>a small planet orbits the star — every job is a stop on one connected journey.</a:t>
            </a:r>
          </a:p>
        </p:txBody>
      </p:sp>
      <p:sp>
        <p:nvSpPr>
          <p:cNvPr id="67" name="4-Point Star 67"/>
          <p:cNvSpPr/>
          <p:nvPr/>
        </p:nvSpPr>
        <p:spPr>
          <a:xfrm>
            <a:off x="4950000" y="4150000"/>
            <a:ext cx="230000" cy="230000"/>
          </a:xfrm>
          <a:prstGeom prst="star4">
            <a:avLst>
              <a:gd name="adj" fmla="val 16000"/>
            </a:avLst>
          </a:prstGeom>
          <a:solidFill>
            <a:srgbClr val="F0D7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8"/>
          <p:cNvSpPr txBox="1"/>
          <p:nvPr/>
        </p:nvSpPr>
        <p:spPr>
          <a:xfrm>
            <a:off x="5320000" y="4120000"/>
            <a:ext cx="6320000" cy="62000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F0D79A"/>
                </a:solidFill>
                <a:latin typeface="Montserrat"/>
              </a:rPr>
              <a:t>The compass ring  </a:t>
            </a:r>
            <a:r>
              <a:rPr sz="1150" b="0" i="0">
                <a:solidFill>
                  <a:srgbClr val="F8F6EE"/>
                </a:solidFill>
                <a:latin typeface="Montserrat"/>
              </a:rPr>
              <a:t>cardinal ticks and corner stars frame it — exploration, kept honest and oriented.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TOPIC &amp; FIELD</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700" b="1" i="0">
                <a:solidFill>
                  <a:srgbClr val="F8F6EE"/>
                </a:solidFill>
                <a:latin typeface="Playfair Display"/>
              </a:rPr>
              <a:t>Career decisions are made almost blind.</a:t>
            </a:r>
          </a:p>
        </p:txBody>
      </p:sp>
      <p:sp>
        <p:nvSpPr>
          <p:cNvPr id="5" name="Rounded Rectangle 4"/>
          <p:cNvSpPr/>
          <p:nvPr/>
        </p:nvSpPr>
        <p:spPr>
          <a:xfrm>
            <a:off x="548640" y="1660000"/>
            <a:ext cx="1955000" cy="330000"/>
          </a:xfrm>
          <a:prstGeom prst="roundRect">
            <a:avLst>
              <a:gd name="adj" fmla="val 50000"/>
            </a:avLst>
          </a:prstGeom>
          <a:solidFill>
            <a:srgbClr val="254A7A">
              <a:alpha val="55000"/>
            </a:srgbClr>
          </a:solidFill>
          <a:ln w="9525">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Bef>
                <a:spcPts val="0"/>
              </a:spcBef>
              <a:spcAft>
                <a:spcPts val="0"/>
              </a:spcAft>
            </a:pPr>
            <a:r>
              <a:rPr sz="1100" b="1" i="0">
                <a:solidFill>
                  <a:srgbClr val="F0D79A"/>
                </a:solidFill>
                <a:latin typeface="Montserrat"/>
              </a:rPr>
              <a:t>Career guidance</a:t>
            </a:r>
          </a:p>
        </p:txBody>
      </p:sp>
      <p:sp>
        <p:nvSpPr>
          <p:cNvPr id="6" name="Rounded Rectangle 5"/>
          <p:cNvSpPr/>
          <p:nvPr/>
        </p:nvSpPr>
        <p:spPr>
          <a:xfrm>
            <a:off x="2683640" y="1660000"/>
            <a:ext cx="2480000" cy="330000"/>
          </a:xfrm>
          <a:prstGeom prst="roundRect">
            <a:avLst>
              <a:gd name="adj" fmla="val 50000"/>
            </a:avLst>
          </a:prstGeom>
          <a:solidFill>
            <a:srgbClr val="254A7A">
              <a:alpha val="55000"/>
            </a:srgbClr>
          </a:solidFill>
          <a:ln w="9525">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Bef>
                <a:spcPts val="0"/>
              </a:spcBef>
              <a:spcAft>
                <a:spcPts val="0"/>
              </a:spcAft>
            </a:pPr>
            <a:r>
              <a:rPr sz="1100" b="1" i="0">
                <a:solidFill>
                  <a:srgbClr val="F0D79A"/>
                </a:solidFill>
                <a:latin typeface="Montserrat"/>
              </a:rPr>
              <a:t>Education technology</a:t>
            </a:r>
          </a:p>
        </p:txBody>
      </p:sp>
      <p:sp>
        <p:nvSpPr>
          <p:cNvPr id="7" name="Rounded Rectangle 6"/>
          <p:cNvSpPr/>
          <p:nvPr/>
        </p:nvSpPr>
        <p:spPr>
          <a:xfrm>
            <a:off x="5343640" y="1660000"/>
            <a:ext cx="3740000" cy="330000"/>
          </a:xfrm>
          <a:prstGeom prst="roundRect">
            <a:avLst>
              <a:gd name="adj" fmla="val 50000"/>
            </a:avLst>
          </a:prstGeom>
          <a:solidFill>
            <a:srgbClr val="254A7A">
              <a:alpha val="55000"/>
            </a:srgbClr>
          </a:solidFill>
          <a:ln w="9525">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Bef>
                <a:spcPts val="0"/>
              </a:spcBef>
              <a:spcAft>
                <a:spcPts val="0"/>
              </a:spcAft>
            </a:pPr>
            <a:r>
              <a:rPr sz="1100" b="1" i="0">
                <a:solidFill>
                  <a:srgbClr val="F0D79A"/>
                </a:solidFill>
                <a:latin typeface="Montserrat"/>
              </a:rPr>
              <a:t>AI-native interactive simulation</a:t>
            </a:r>
          </a:p>
        </p:txBody>
      </p:sp>
      <p:sp>
        <p:nvSpPr>
          <p:cNvPr id="8" name="4-Point Star 7"/>
          <p:cNvSpPr/>
          <p:nvPr/>
        </p:nvSpPr>
        <p:spPr>
          <a:xfrm>
            <a:off x="570000" y="2260000"/>
            <a:ext cx="300000" cy="30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0000" y="2260000"/>
            <a:ext cx="6250000" cy="760000"/>
          </a:xfrm>
          <a:prstGeom prst="rect">
            <a:avLst/>
          </a:prstGeom>
          <a:noFill/>
        </p:spPr>
        <p:txBody>
          <a:bodyPr wrap="square" lIns="0" rIns="0" tIns="0" bIns="0" anchor="t">
            <a:spAutoFit/>
          </a:bodyPr>
          <a:lstStyle/>
          <a:p>
            <a:pPr algn="l">
              <a:lnSpc>
                <a:spcPct val="105000"/>
              </a:lnSpc>
              <a:spcBef>
                <a:spcPts val="0"/>
              </a:spcBef>
              <a:spcAft>
                <a:spcPts val="0"/>
              </a:spcAft>
            </a:pPr>
            <a:r>
              <a:rPr sz="1350" b="1" i="0">
                <a:solidFill>
                  <a:srgbClr val="F0D79A"/>
                </a:solidFill>
                <a:latin typeface="Montserrat"/>
              </a:rPr>
              <a:t>Chosen almost blind  </a:t>
            </a:r>
            <a:r>
              <a:rPr sz="1250" b="0" i="0">
                <a:solidFill>
                  <a:srgbClr val="F8F6EE"/>
                </a:solidFill>
                <a:latin typeface="Montserrat"/>
              </a:rPr>
              <a:t>Most people pick a career knowing little about the day-to-day work.</a:t>
            </a:r>
          </a:p>
        </p:txBody>
      </p:sp>
      <p:sp>
        <p:nvSpPr>
          <p:cNvPr id="10" name="4-Point Star 9"/>
          <p:cNvSpPr/>
          <p:nvPr/>
        </p:nvSpPr>
        <p:spPr>
          <a:xfrm>
            <a:off x="570000" y="3240000"/>
            <a:ext cx="300000" cy="30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0000" y="3240000"/>
            <a:ext cx="6250000" cy="760000"/>
          </a:xfrm>
          <a:prstGeom prst="rect">
            <a:avLst/>
          </a:prstGeom>
          <a:noFill/>
        </p:spPr>
        <p:txBody>
          <a:bodyPr wrap="square" lIns="0" rIns="0" tIns="0" bIns="0" anchor="t">
            <a:spAutoFit/>
          </a:bodyPr>
          <a:lstStyle/>
          <a:p>
            <a:pPr algn="l">
              <a:lnSpc>
                <a:spcPct val="105000"/>
              </a:lnSpc>
              <a:spcBef>
                <a:spcPts val="0"/>
              </a:spcBef>
              <a:spcAft>
                <a:spcPts val="0"/>
              </a:spcAft>
            </a:pPr>
            <a:r>
              <a:rPr sz="1350" b="1" i="0">
                <a:solidFill>
                  <a:srgbClr val="F0D79A"/>
                </a:solidFill>
                <a:latin typeface="Montserrat"/>
              </a:rPr>
              <a:t>Self-report tools  </a:t>
            </a:r>
            <a:r>
              <a:rPr sz="1250" b="0" i="0">
                <a:solidFill>
                  <a:srgbClr val="F8F6EE"/>
                </a:solidFill>
                <a:latin typeface="Montserrat"/>
              </a:rPr>
              <a:t>MBTI, RIASEC ask what you think you'd like — not whether you'd thrive.</a:t>
            </a:r>
          </a:p>
        </p:txBody>
      </p:sp>
      <p:sp>
        <p:nvSpPr>
          <p:cNvPr id="12" name="4-Point Star 11"/>
          <p:cNvSpPr/>
          <p:nvPr/>
        </p:nvSpPr>
        <p:spPr>
          <a:xfrm>
            <a:off x="570000" y="4220000"/>
            <a:ext cx="300000" cy="30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0000" y="4220000"/>
            <a:ext cx="6250000" cy="760000"/>
          </a:xfrm>
          <a:prstGeom prst="rect">
            <a:avLst/>
          </a:prstGeom>
          <a:noFill/>
        </p:spPr>
        <p:txBody>
          <a:bodyPr wrap="square" lIns="0" rIns="0" tIns="0" bIns="0" anchor="t">
            <a:spAutoFit/>
          </a:bodyPr>
          <a:lstStyle/>
          <a:p>
            <a:pPr algn="l">
              <a:lnSpc>
                <a:spcPct val="105000"/>
              </a:lnSpc>
              <a:spcBef>
                <a:spcPts val="0"/>
              </a:spcBef>
              <a:spcAft>
                <a:spcPts val="0"/>
              </a:spcAft>
            </a:pPr>
            <a:r>
              <a:rPr sz="1350" b="1" i="0">
                <a:solidFill>
                  <a:srgbClr val="F0D79A"/>
                </a:solidFill>
                <a:latin typeface="Montserrat"/>
              </a:rPr>
              <a:t>Vietnamese context  </a:t>
            </a:r>
            <a:r>
              <a:rPr sz="1250" b="0" i="0">
                <a:solidFill>
                  <a:srgbClr val="F8F6EE"/>
                </a:solidFill>
                <a:latin typeface="Montserrat"/>
              </a:rPr>
              <a:t>Major–career mismatch and a documented employer skills gap.</a:t>
            </a:r>
          </a:p>
        </p:txBody>
      </p:sp>
      <p:sp>
        <p:nvSpPr>
          <p:cNvPr id="14" name="4-Point Star 13"/>
          <p:cNvSpPr/>
          <p:nvPr/>
        </p:nvSpPr>
        <p:spPr>
          <a:xfrm>
            <a:off x="570000" y="5200000"/>
            <a:ext cx="300000" cy="30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0000" y="5200000"/>
            <a:ext cx="6250000" cy="760000"/>
          </a:xfrm>
          <a:prstGeom prst="rect">
            <a:avLst/>
          </a:prstGeom>
          <a:noFill/>
        </p:spPr>
        <p:txBody>
          <a:bodyPr wrap="square" lIns="0" rIns="0" tIns="0" bIns="0" anchor="t">
            <a:spAutoFit/>
          </a:bodyPr>
          <a:lstStyle/>
          <a:p>
            <a:pPr algn="l">
              <a:lnSpc>
                <a:spcPct val="105000"/>
              </a:lnSpc>
              <a:spcBef>
                <a:spcPts val="0"/>
              </a:spcBef>
              <a:spcAft>
                <a:spcPts val="0"/>
              </a:spcAft>
            </a:pPr>
            <a:r>
              <a:rPr sz="1350" b="1" i="0">
                <a:solidFill>
                  <a:srgbClr val="F0D79A"/>
                </a:solidFill>
                <a:latin typeface="Montserrat"/>
              </a:rPr>
              <a:t>Experiential options are narrow  </a:t>
            </a:r>
            <a:r>
              <a:rPr sz="1250" b="0" i="0">
                <a:solidFill>
                  <a:srgbClr val="F8F6EE"/>
                </a:solidFill>
                <a:latin typeface="Montserrat"/>
              </a:rPr>
              <a:t>Forage offers real tasks, but it's static and recruitment-bound.</a:t>
            </a:r>
          </a:p>
        </p:txBody>
      </p:sp>
      <p:sp>
        <p:nvSpPr>
          <p:cNvPr id="16" name="Rounded Rectangle 15"/>
          <p:cNvSpPr/>
          <p:nvPr/>
        </p:nvSpPr>
        <p:spPr>
          <a:xfrm>
            <a:off x="7850000" y="2260000"/>
            <a:ext cx="3800000" cy="20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50000" y="2470000"/>
            <a:ext cx="3400000" cy="360000"/>
          </a:xfrm>
          <a:prstGeom prst="rect">
            <a:avLst/>
          </a:prstGeom>
          <a:noFill/>
        </p:spPr>
        <p:txBody>
          <a:bodyPr wrap="square" lIns="0" rIns="0" tIns="0" bIns="0" anchor="ctr">
            <a:spAutoFit/>
          </a:bodyPr>
          <a:lstStyle/>
          <a:p>
            <a:pPr algn="ctr">
              <a:spcBef>
                <a:spcPts val="0"/>
              </a:spcBef>
              <a:spcAft>
                <a:spcPts val="0"/>
              </a:spcAft>
            </a:pPr>
            <a:r>
              <a:rPr sz="1150" b="1" i="0" spc="200">
                <a:solidFill>
                  <a:srgbClr val="D4B06A"/>
                </a:solidFill>
                <a:latin typeface="Cinzel"/>
              </a:rPr>
              <a:t>RELIABILITY OF SELF-REPORT</a:t>
            </a:r>
          </a:p>
        </p:txBody>
      </p:sp>
      <p:sp>
        <p:nvSpPr>
          <p:cNvPr id="18" name="TextBox 17"/>
          <p:cNvSpPr txBox="1"/>
          <p:nvPr/>
        </p:nvSpPr>
        <p:spPr>
          <a:xfrm>
            <a:off x="8050000" y="2820000"/>
            <a:ext cx="3400000" cy="760000"/>
          </a:xfrm>
          <a:prstGeom prst="rect">
            <a:avLst/>
          </a:prstGeom>
          <a:noFill/>
        </p:spPr>
        <p:txBody>
          <a:bodyPr wrap="square" lIns="0" rIns="0" tIns="0" bIns="0" anchor="ctr">
            <a:spAutoFit/>
          </a:bodyPr>
          <a:lstStyle/>
          <a:p>
            <a:pPr algn="ctr">
              <a:spcBef>
                <a:spcPts val="0"/>
              </a:spcBef>
              <a:spcAft>
                <a:spcPts val="0"/>
              </a:spcAft>
            </a:pPr>
            <a:r>
              <a:rPr sz="5400" b="1" i="0">
                <a:solidFill>
                  <a:srgbClr val="F0D79A"/>
                </a:solidFill>
                <a:latin typeface="Playfair Display"/>
              </a:rPr>
              <a:t>39–76%</a:t>
            </a:r>
          </a:p>
        </p:txBody>
      </p:sp>
      <p:sp>
        <p:nvSpPr>
          <p:cNvPr id="19" name="TextBox 18"/>
          <p:cNvSpPr txBox="1"/>
          <p:nvPr/>
        </p:nvSpPr>
        <p:spPr>
          <a:xfrm>
            <a:off x="8050000" y="3620000"/>
            <a:ext cx="3400000" cy="560000"/>
          </a:xfrm>
          <a:prstGeom prst="rect">
            <a:avLst/>
          </a:prstGeom>
          <a:noFill/>
        </p:spPr>
        <p:txBody>
          <a:bodyPr wrap="square" lIns="0" rIns="0" tIns="0" bIns="0" anchor="t">
            <a:spAutoFit/>
          </a:bodyPr>
          <a:lstStyle/>
          <a:p>
            <a:pPr algn="ctr">
              <a:lnSpc>
                <a:spcPct val="105000"/>
              </a:lnSpc>
              <a:spcBef>
                <a:spcPts val="0"/>
              </a:spcBef>
              <a:spcAft>
                <a:spcPts val="0"/>
              </a:spcAft>
            </a:pPr>
            <a:r>
              <a:rPr sz="1250" b="0" i="0">
                <a:solidFill>
                  <a:srgbClr val="F8F6EE"/>
                </a:solidFill>
                <a:latin typeface="Montserrat"/>
              </a:rPr>
              <a:t>of people get a different MBTI type when they retake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OBJECTIVES &amp; SCOPE</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500" b="1" i="0">
                <a:solidFill>
                  <a:srgbClr val="F8F6EE"/>
                </a:solidFill>
                <a:latin typeface="Playfair Display"/>
              </a:rPr>
              <a:t>Learn a job by doing it — not by answering questions about yourself.</a:t>
            </a:r>
          </a:p>
        </p:txBody>
      </p:sp>
      <p:sp>
        <p:nvSpPr>
          <p:cNvPr id="5" name="Rounded Rectangle 4"/>
          <p:cNvSpPr/>
          <p:nvPr/>
        </p:nvSpPr>
        <p:spPr>
          <a:xfrm>
            <a:off x="548640" y="1900000"/>
            <a:ext cx="5450000" cy="30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93360" y="1900000"/>
            <a:ext cx="5450000" cy="30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0000" y="2100000"/>
            <a:ext cx="4900000" cy="320000"/>
          </a:xfrm>
          <a:prstGeom prst="rect">
            <a:avLst/>
          </a:prstGeom>
          <a:noFill/>
        </p:spPr>
        <p:txBody>
          <a:bodyPr wrap="square" lIns="0" rIns="0" tIns="0" bIns="0" anchor="ctr">
            <a:spAutoFit/>
          </a:bodyPr>
          <a:lstStyle/>
          <a:p>
            <a:pPr algn="l">
              <a:spcBef>
                <a:spcPts val="0"/>
              </a:spcBef>
              <a:spcAft>
                <a:spcPts val="0"/>
              </a:spcAft>
            </a:pPr>
            <a:r>
              <a:rPr sz="1250" b="1" i="0" spc="250">
                <a:solidFill>
                  <a:srgbClr val="D4B06A"/>
                </a:solidFill>
                <a:latin typeface="Cinzel"/>
              </a:rPr>
              <a:t>THE PRODUCT</a:t>
            </a:r>
          </a:p>
        </p:txBody>
      </p:sp>
      <p:sp>
        <p:nvSpPr>
          <p:cNvPr id="8" name="4-Point Star 7"/>
          <p:cNvSpPr/>
          <p:nvPr/>
        </p:nvSpPr>
        <p:spPr>
          <a:xfrm>
            <a:off x="745000" y="2545000"/>
            <a:ext cx="270000" cy="27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0000" y="2540000"/>
            <a:ext cx="4550000" cy="720000"/>
          </a:xfrm>
          <a:prstGeom prst="rect">
            <a:avLst/>
          </a:prstGeom>
          <a:noFill/>
        </p:spPr>
        <p:txBody>
          <a:bodyPr wrap="square" lIns="0" rIns="0" tIns="0" bIns="0" anchor="t">
            <a:spAutoFit/>
          </a:bodyPr>
          <a:lstStyle/>
          <a:p>
            <a:pPr algn="l">
              <a:lnSpc>
                <a:spcPct val="105000"/>
              </a:lnSpc>
              <a:spcBef>
                <a:spcPts val="0"/>
              </a:spcBef>
              <a:spcAft>
                <a:spcPts val="0"/>
              </a:spcAft>
            </a:pPr>
            <a:r>
              <a:rPr sz="1300" b="1" i="0">
                <a:solidFill>
                  <a:srgbClr val="F0D79A"/>
                </a:solidFill>
                <a:latin typeface="Montserrat"/>
              </a:rPr>
              <a:t>Experience real jobs  </a:t>
            </a:r>
            <a:r>
              <a:rPr sz="1200" b="0" i="0">
                <a:solidFill>
                  <a:srgbClr val="F8F6EE"/>
                </a:solidFill>
                <a:latin typeface="Montserrat"/>
              </a:rPr>
              <a:t>AI-driven job simulations — RPG progression, visual-novel scenes, roguelike events.</a:t>
            </a:r>
          </a:p>
        </p:txBody>
      </p:sp>
      <p:sp>
        <p:nvSpPr>
          <p:cNvPr id="10" name="4-Point Star 9"/>
          <p:cNvSpPr/>
          <p:nvPr/>
        </p:nvSpPr>
        <p:spPr>
          <a:xfrm>
            <a:off x="745000" y="3305000"/>
            <a:ext cx="270000" cy="27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0000" y="3300000"/>
            <a:ext cx="4550000" cy="720000"/>
          </a:xfrm>
          <a:prstGeom prst="rect">
            <a:avLst/>
          </a:prstGeom>
          <a:noFill/>
        </p:spPr>
        <p:txBody>
          <a:bodyPr wrap="square" lIns="0" rIns="0" tIns="0" bIns="0" anchor="t">
            <a:spAutoFit/>
          </a:bodyPr>
          <a:lstStyle/>
          <a:p>
            <a:pPr algn="l">
              <a:lnSpc>
                <a:spcPct val="105000"/>
              </a:lnSpc>
              <a:spcBef>
                <a:spcPts val="0"/>
              </a:spcBef>
              <a:spcAft>
                <a:spcPts val="0"/>
              </a:spcAft>
            </a:pPr>
            <a:r>
              <a:rPr sz="1300" b="1" i="0">
                <a:solidFill>
                  <a:srgbClr val="F0D79A"/>
                </a:solidFill>
                <a:latin typeface="Montserrat"/>
              </a:rPr>
              <a:t>AI is the core engine  </a:t>
            </a:r>
            <a:r>
              <a:rPr sz="1200" b="0" i="0">
                <a:solidFill>
                  <a:srgbClr val="F8F6EE"/>
                </a:solidFill>
                <a:latin typeface="Montserrat"/>
              </a:rPr>
              <a:t>it generates · narrates &amp; adapts · judges every scenario.</a:t>
            </a:r>
          </a:p>
        </p:txBody>
      </p:sp>
      <p:sp>
        <p:nvSpPr>
          <p:cNvPr id="12" name="4-Point Star 11"/>
          <p:cNvSpPr/>
          <p:nvPr/>
        </p:nvSpPr>
        <p:spPr>
          <a:xfrm>
            <a:off x="745000" y="4065000"/>
            <a:ext cx="270000" cy="27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0000" y="4060000"/>
            <a:ext cx="4550000" cy="720000"/>
          </a:xfrm>
          <a:prstGeom prst="rect">
            <a:avLst/>
          </a:prstGeom>
          <a:noFill/>
        </p:spPr>
        <p:txBody>
          <a:bodyPr wrap="square" lIns="0" rIns="0" tIns="0" bIns="0" anchor="t">
            <a:spAutoFit/>
          </a:bodyPr>
          <a:lstStyle/>
          <a:p>
            <a:pPr algn="l">
              <a:lnSpc>
                <a:spcPct val="105000"/>
              </a:lnSpc>
              <a:spcBef>
                <a:spcPts val="0"/>
              </a:spcBef>
              <a:spcAft>
                <a:spcPts val="0"/>
              </a:spcAft>
            </a:pPr>
            <a:r>
              <a:rPr sz="1300" b="1" i="0">
                <a:solidFill>
                  <a:srgbClr val="F0D79A"/>
                </a:solidFill>
                <a:latin typeface="Montserrat"/>
              </a:rPr>
              <a:t>Open by level  </a:t>
            </a:r>
            <a:r>
              <a:rPr sz="1200" b="0" i="0">
                <a:solidFill>
                  <a:srgbClr val="F8F6EE"/>
                </a:solidFill>
                <a:latin typeface="Montserrat"/>
              </a:rPr>
              <a:t>Every job's starter level is free to play; skills unlock higher levels and cross-moves.</a:t>
            </a:r>
          </a:p>
        </p:txBody>
      </p:sp>
      <p:sp>
        <p:nvSpPr>
          <p:cNvPr id="14" name="TextBox 13"/>
          <p:cNvSpPr txBox="1"/>
          <p:nvPr/>
        </p:nvSpPr>
        <p:spPr>
          <a:xfrm>
            <a:off x="6465000" y="2100000"/>
            <a:ext cx="4900000" cy="320000"/>
          </a:xfrm>
          <a:prstGeom prst="rect">
            <a:avLst/>
          </a:prstGeom>
          <a:noFill/>
        </p:spPr>
        <p:txBody>
          <a:bodyPr wrap="square" lIns="0" rIns="0" tIns="0" bIns="0" anchor="ctr">
            <a:spAutoFit/>
          </a:bodyPr>
          <a:lstStyle/>
          <a:p>
            <a:pPr algn="l">
              <a:spcBef>
                <a:spcPts val="0"/>
              </a:spcBef>
              <a:spcAft>
                <a:spcPts val="0"/>
              </a:spcAft>
            </a:pPr>
            <a:r>
              <a:rPr sz="1250" b="1" i="0" spc="250">
                <a:solidFill>
                  <a:srgbClr val="D4B06A"/>
                </a:solidFill>
                <a:latin typeface="Cinzel"/>
              </a:rPr>
              <a:t>SCOPE &amp; PROOF</a:t>
            </a:r>
          </a:p>
        </p:txBody>
      </p:sp>
      <p:sp>
        <p:nvSpPr>
          <p:cNvPr id="15" name="4-Point Star 14"/>
          <p:cNvSpPr/>
          <p:nvPr/>
        </p:nvSpPr>
        <p:spPr>
          <a:xfrm>
            <a:off x="6390000" y="2545000"/>
            <a:ext cx="270000" cy="27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85000" y="2540000"/>
            <a:ext cx="4550000" cy="720000"/>
          </a:xfrm>
          <a:prstGeom prst="rect">
            <a:avLst/>
          </a:prstGeom>
          <a:noFill/>
        </p:spPr>
        <p:txBody>
          <a:bodyPr wrap="square" lIns="0" rIns="0" tIns="0" bIns="0" anchor="t">
            <a:spAutoFit/>
          </a:bodyPr>
          <a:lstStyle/>
          <a:p>
            <a:pPr algn="l">
              <a:lnSpc>
                <a:spcPct val="105000"/>
              </a:lnSpc>
              <a:spcBef>
                <a:spcPts val="0"/>
              </a:spcBef>
              <a:spcAft>
                <a:spcPts val="0"/>
              </a:spcAft>
            </a:pPr>
            <a:r>
              <a:rPr sz="1300" b="1" i="0">
                <a:solidFill>
                  <a:srgbClr val="F0D79A"/>
                </a:solidFill>
                <a:latin typeface="Montserrat"/>
              </a:rPr>
              <a:t>Phase 1: go deep on IT  </a:t>
            </a:r>
            <a:r>
              <a:rPr sz="1200" b="0" i="0">
                <a:solidFill>
                  <a:srgbClr val="F8F6EE"/>
                </a:solidFill>
                <a:latin typeface="Montserrat"/>
              </a:rPr>
              <a:t>realistic to build and credible to evaluate.</a:t>
            </a:r>
          </a:p>
        </p:txBody>
      </p:sp>
      <p:sp>
        <p:nvSpPr>
          <p:cNvPr id="17" name="4-Point Star 16"/>
          <p:cNvSpPr/>
          <p:nvPr/>
        </p:nvSpPr>
        <p:spPr>
          <a:xfrm>
            <a:off x="6390000" y="3305000"/>
            <a:ext cx="270000" cy="27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85000" y="3300000"/>
            <a:ext cx="4550000" cy="720000"/>
          </a:xfrm>
          <a:prstGeom prst="rect">
            <a:avLst/>
          </a:prstGeom>
          <a:noFill/>
        </p:spPr>
        <p:txBody>
          <a:bodyPr wrap="square" lIns="0" rIns="0" tIns="0" bIns="0" anchor="t">
            <a:spAutoFit/>
          </a:bodyPr>
          <a:lstStyle/>
          <a:p>
            <a:pPr algn="l">
              <a:lnSpc>
                <a:spcPct val="105000"/>
              </a:lnSpc>
              <a:spcBef>
                <a:spcPts val="0"/>
              </a:spcBef>
              <a:spcAft>
                <a:spcPts val="0"/>
              </a:spcAft>
            </a:pPr>
            <a:r>
              <a:rPr sz="1300" b="1" i="0">
                <a:solidFill>
                  <a:srgbClr val="F0D79A"/>
                </a:solidFill>
                <a:latin typeface="Montserrat"/>
              </a:rPr>
              <a:t>AI supervision  </a:t>
            </a:r>
            <a:r>
              <a:rPr sz="1200" b="0" i="0">
                <a:solidFill>
                  <a:srgbClr val="F8F6EE"/>
                </a:solidFill>
                <a:latin typeface="Montserrat"/>
              </a:rPr>
              <a:t>human-in-the-loop authoring · human-on-the-loop runtime.</a:t>
            </a:r>
          </a:p>
        </p:txBody>
      </p:sp>
      <p:sp>
        <p:nvSpPr>
          <p:cNvPr id="19" name="4-Point Star 18"/>
          <p:cNvSpPr/>
          <p:nvPr/>
        </p:nvSpPr>
        <p:spPr>
          <a:xfrm>
            <a:off x="6390000" y="4065000"/>
            <a:ext cx="270000" cy="27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5000" y="4060000"/>
            <a:ext cx="4550000" cy="720000"/>
          </a:xfrm>
          <a:prstGeom prst="rect">
            <a:avLst/>
          </a:prstGeom>
          <a:noFill/>
        </p:spPr>
        <p:txBody>
          <a:bodyPr wrap="square" lIns="0" rIns="0" tIns="0" bIns="0" anchor="t">
            <a:spAutoFit/>
          </a:bodyPr>
          <a:lstStyle/>
          <a:p>
            <a:pPr algn="l">
              <a:lnSpc>
                <a:spcPct val="105000"/>
              </a:lnSpc>
              <a:spcBef>
                <a:spcPts val="0"/>
              </a:spcBef>
              <a:spcAft>
                <a:spcPts val="0"/>
              </a:spcAft>
            </a:pPr>
            <a:r>
              <a:rPr sz="1300" b="1" i="0">
                <a:solidFill>
                  <a:srgbClr val="F0D79A"/>
                </a:solidFill>
                <a:latin typeface="Montserrat"/>
              </a:rPr>
              <a:t>Evaluation  </a:t>
            </a:r>
            <a:r>
              <a:rPr sz="1200" b="0" i="0">
                <a:solidFill>
                  <a:srgbClr val="F8F6EE"/>
                </a:solidFill>
                <a:latin typeface="Montserrat"/>
              </a:rPr>
              <a:t>offline benchmark vs an expert-reviewed IT reference set.</a:t>
            </a:r>
          </a:p>
        </p:txBody>
      </p:sp>
      <p:sp>
        <p:nvSpPr>
          <p:cNvPr id="21" name="TextBox 20"/>
          <p:cNvSpPr txBox="1"/>
          <p:nvPr/>
        </p:nvSpPr>
        <p:spPr>
          <a:xfrm>
            <a:off x="548640" y="5120000"/>
            <a:ext cx="11094720" cy="600000"/>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D4B06A"/>
                </a:solidFill>
                <a:latin typeface="Montserrat"/>
              </a:rPr>
              <a:t>Supporting layers   </a:t>
            </a:r>
            <a:r>
              <a:rPr sz="1200" b="0" i="0">
                <a:solidFill>
                  <a:srgbClr val="F8F6EE"/>
                </a:solidFill>
                <a:latin typeface="Montserrat"/>
              </a:rPr>
              <a:t>get-to-know-me for players unsure where to start  ·  visual-novel presentation  ·  roguelike career + life events (“life is more than work”)  ·  a private logbook of skills, badges &amp; character sheet  ·  a job rating once a job is finished.  </a:t>
            </a:r>
            <a:r>
              <a:rPr sz="1200" b="0" i="1">
                <a:solidFill>
                  <a:srgbClr val="5D7EA8"/>
                </a:solidFill>
                <a:latin typeface="Montserrat"/>
              </a:rPr>
              <a:t>Career orientation is a supporting module, not the core.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THEORETICAL FOUNDATIONS · 1 / 2</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700" b="1" i="0">
                <a:solidFill>
                  <a:srgbClr val="F8F6EE"/>
                </a:solidFill>
                <a:latin typeface="Playfair Display"/>
              </a:rPr>
              <a:t>Why experiencing a job beats reading about it.</a:t>
            </a:r>
          </a:p>
        </p:txBody>
      </p:sp>
      <p:sp>
        <p:nvSpPr>
          <p:cNvPr id="5" name="Rounded Rectangle 4"/>
          <p:cNvSpPr/>
          <p:nvPr/>
        </p:nvSpPr>
        <p:spPr>
          <a:xfrm>
            <a:off x="54864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864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1</a:t>
            </a:r>
          </a:p>
        </p:txBody>
      </p:sp>
      <p:sp>
        <p:nvSpPr>
          <p:cNvPr id="7" name="TextBox 6"/>
          <p:cNvSpPr txBox="1"/>
          <p:nvPr/>
        </p:nvSpPr>
        <p:spPr>
          <a:xfrm>
            <a:off x="84864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Experiential learning</a:t>
            </a:r>
          </a:p>
        </p:txBody>
      </p:sp>
      <p:sp>
        <p:nvSpPr>
          <p:cNvPr id="8" name="TextBox 7"/>
          <p:cNvSpPr txBox="1"/>
          <p:nvPr/>
        </p:nvSpPr>
        <p:spPr>
          <a:xfrm>
            <a:off x="84864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The theory — we learn by doing, then reflecting on what happened.</a:t>
            </a:r>
            <a:br>
              <a:rPr sz="1250" b="0" i="0">
                <a:solidFill>
                  <a:srgbClr val="F8F6EE"/>
                </a:solidFill>
                <a:latin typeface="Montserrat"/>
              </a:rPr>
            </a:br>
            <a:br>
              <a:rPr sz="1250" b="0" i="0">
                <a:solidFill>
                  <a:srgbClr val="F8F6EE"/>
                </a:solidFill>
                <a:latin typeface="Montserrat"/>
              </a:rPr>
            </a:br>
            <a:r>
              <a:rPr sz="1250" b="0" i="0">
                <a:solidFill>
                  <a:srgbClr val="F8F6EE"/>
                </a:solidFill>
                <a:latin typeface="Montserrat"/>
              </a:rPr>
              <a:t>In JobQuest — you play the job first; feedback comes after.</a:t>
            </a:r>
          </a:p>
        </p:txBody>
      </p:sp>
      <p:sp>
        <p:nvSpPr>
          <p:cNvPr id="9" name="TextBox 8"/>
          <p:cNvSpPr txBox="1"/>
          <p:nvPr/>
        </p:nvSpPr>
        <p:spPr>
          <a:xfrm>
            <a:off x="84864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Kolb</a:t>
            </a:r>
          </a:p>
        </p:txBody>
      </p:sp>
      <p:sp>
        <p:nvSpPr>
          <p:cNvPr id="10" name="Rounded Rectangle 9"/>
          <p:cNvSpPr/>
          <p:nvPr/>
        </p:nvSpPr>
        <p:spPr>
          <a:xfrm>
            <a:off x="434688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4688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2</a:t>
            </a:r>
          </a:p>
        </p:txBody>
      </p:sp>
      <p:sp>
        <p:nvSpPr>
          <p:cNvPr id="12" name="TextBox 11"/>
          <p:cNvSpPr txBox="1"/>
          <p:nvPr/>
        </p:nvSpPr>
        <p:spPr>
          <a:xfrm>
            <a:off x="464688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Realistic Job Preview</a:t>
            </a:r>
          </a:p>
        </p:txBody>
      </p:sp>
      <p:sp>
        <p:nvSpPr>
          <p:cNvPr id="13" name="TextBox 12"/>
          <p:cNvSpPr txBox="1"/>
          <p:nvPr/>
        </p:nvSpPr>
        <p:spPr>
          <a:xfrm>
            <a:off x="464688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The theory — honest previews, downsides included, improve fit.</a:t>
            </a:r>
            <a:br>
              <a:rPr sz="1250" b="0" i="0">
                <a:solidFill>
                  <a:srgbClr val="F8F6EE"/>
                </a:solidFill>
                <a:latin typeface="Montserrat"/>
              </a:rPr>
            </a:br>
            <a:br>
              <a:rPr sz="1250" b="0" i="0">
                <a:solidFill>
                  <a:srgbClr val="F8F6EE"/>
                </a:solidFill>
                <a:latin typeface="Montserrat"/>
              </a:rPr>
            </a:br>
            <a:r>
              <a:rPr sz="1250" b="0" i="0">
                <a:solidFill>
                  <a:srgbClr val="F8F6EE"/>
                </a:solidFill>
                <a:latin typeface="Montserrat"/>
              </a:rPr>
              <a:t>In JobQuest — missions include the hard parts, not just the perks.</a:t>
            </a:r>
          </a:p>
        </p:txBody>
      </p:sp>
      <p:sp>
        <p:nvSpPr>
          <p:cNvPr id="14" name="TextBox 13"/>
          <p:cNvSpPr txBox="1"/>
          <p:nvPr/>
        </p:nvSpPr>
        <p:spPr>
          <a:xfrm>
            <a:off x="464688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Earnest, Allen &amp; Landis 2011 · Phillips 1998</a:t>
            </a:r>
          </a:p>
        </p:txBody>
      </p:sp>
      <p:sp>
        <p:nvSpPr>
          <p:cNvPr id="15" name="Rounded Rectangle 14"/>
          <p:cNvSpPr/>
          <p:nvPr/>
        </p:nvSpPr>
        <p:spPr>
          <a:xfrm>
            <a:off x="814512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4512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3</a:t>
            </a:r>
          </a:p>
        </p:txBody>
      </p:sp>
      <p:sp>
        <p:nvSpPr>
          <p:cNvPr id="17" name="TextBox 16"/>
          <p:cNvSpPr txBox="1"/>
          <p:nvPr/>
        </p:nvSpPr>
        <p:spPr>
          <a:xfrm>
            <a:off x="844512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Learning by simulation</a:t>
            </a:r>
          </a:p>
        </p:txBody>
      </p:sp>
      <p:sp>
        <p:nvSpPr>
          <p:cNvPr id="18" name="TextBox 17"/>
          <p:cNvSpPr txBox="1"/>
          <p:nvPr/>
        </p:nvSpPr>
        <p:spPr>
          <a:xfrm>
            <a:off x="844512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The theory — practising a realistic imitation teaches the real work.</a:t>
            </a:r>
            <a:br>
              <a:rPr sz="1250" b="0" i="0">
                <a:solidFill>
                  <a:srgbClr val="F8F6EE"/>
                </a:solidFill>
                <a:latin typeface="Montserrat"/>
              </a:rPr>
            </a:br>
            <a:br>
              <a:rPr sz="1250" b="0" i="0">
                <a:solidFill>
                  <a:srgbClr val="F8F6EE"/>
                </a:solidFill>
                <a:latin typeface="Montserrat"/>
              </a:rPr>
            </a:br>
            <a:r>
              <a:rPr sz="1250" b="0" i="0">
                <a:solidFill>
                  <a:srgbClr val="F8F6EE"/>
                </a:solidFill>
                <a:latin typeface="Montserrat"/>
              </a:rPr>
              <a:t>In JobQuest — a simulated workday is a valid way to learn a job.</a:t>
            </a:r>
          </a:p>
        </p:txBody>
      </p:sp>
      <p:sp>
        <p:nvSpPr>
          <p:cNvPr id="19" name="TextBox 18"/>
          <p:cNvSpPr txBox="1"/>
          <p:nvPr/>
        </p:nvSpPr>
        <p:spPr>
          <a:xfrm>
            <a:off x="844512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Chernikova et al. 2020  (g ≈ 0.85)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THEORETICAL FOUNDATIONS · 2 / 2</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700" b="1" i="0">
                <a:solidFill>
                  <a:srgbClr val="F8F6EE"/>
                </a:solidFill>
                <a:latin typeface="Playfair Display"/>
              </a:rPr>
              <a:t>Engagement, career theory &amp; AI.</a:t>
            </a:r>
          </a:p>
        </p:txBody>
      </p:sp>
      <p:sp>
        <p:nvSpPr>
          <p:cNvPr id="5" name="Rounded Rectangle 4"/>
          <p:cNvSpPr/>
          <p:nvPr/>
        </p:nvSpPr>
        <p:spPr>
          <a:xfrm>
            <a:off x="54864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864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4</a:t>
            </a:r>
          </a:p>
        </p:txBody>
      </p:sp>
      <p:sp>
        <p:nvSpPr>
          <p:cNvPr id="7" name="TextBox 6"/>
          <p:cNvSpPr txBox="1"/>
          <p:nvPr/>
        </p:nvSpPr>
        <p:spPr>
          <a:xfrm>
            <a:off x="84864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Gamification &amp; serious games</a:t>
            </a:r>
          </a:p>
        </p:txBody>
      </p:sp>
      <p:sp>
        <p:nvSpPr>
          <p:cNvPr id="8" name="TextBox 7"/>
          <p:cNvSpPr txBox="1"/>
          <p:nvPr/>
        </p:nvSpPr>
        <p:spPr>
          <a:xfrm>
            <a:off x="84864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The theory — mechanics work when tied to the learning, driven by competence and autonomy.</a:t>
            </a:r>
            <a:br>
              <a:rPr sz="1250" b="0" i="0">
                <a:solidFill>
                  <a:srgbClr val="F8F6EE"/>
                </a:solidFill>
                <a:latin typeface="Montserrat"/>
              </a:rPr>
            </a:br>
            <a:br>
              <a:rPr sz="1250" b="0" i="0">
                <a:solidFill>
                  <a:srgbClr val="F8F6EE"/>
                </a:solidFill>
                <a:latin typeface="Montserrat"/>
              </a:rPr>
            </a:br>
            <a:r>
              <a:rPr sz="1250" b="0" i="0">
                <a:solidFill>
                  <a:srgbClr val="F8F6EE"/>
                </a:solidFill>
                <a:latin typeface="Montserrat"/>
              </a:rPr>
              <a:t>In JobQuest — levels and skill points are earned by doing the work.</a:t>
            </a:r>
          </a:p>
        </p:txBody>
      </p:sp>
      <p:sp>
        <p:nvSpPr>
          <p:cNvPr id="9" name="TextBox 8"/>
          <p:cNvSpPr txBox="1"/>
          <p:nvPr/>
        </p:nvSpPr>
        <p:spPr>
          <a:xfrm>
            <a:off x="84864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Hamari 2014 · Sailer &amp; Homner 2020 · Ryan 2006</a:t>
            </a:r>
          </a:p>
        </p:txBody>
      </p:sp>
      <p:sp>
        <p:nvSpPr>
          <p:cNvPr id="10" name="Rounded Rectangle 9"/>
          <p:cNvSpPr/>
          <p:nvPr/>
        </p:nvSpPr>
        <p:spPr>
          <a:xfrm>
            <a:off x="434688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4688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5</a:t>
            </a:r>
          </a:p>
        </p:txBody>
      </p:sp>
      <p:sp>
        <p:nvSpPr>
          <p:cNvPr id="12" name="TextBox 11"/>
          <p:cNvSpPr txBox="1"/>
          <p:nvPr/>
        </p:nvSpPr>
        <p:spPr>
          <a:xfrm>
            <a:off x="464688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Career theory</a:t>
            </a:r>
          </a:p>
        </p:txBody>
      </p:sp>
      <p:sp>
        <p:nvSpPr>
          <p:cNvPr id="13" name="TextBox 12"/>
          <p:cNvSpPr txBox="1"/>
          <p:nvPr/>
        </p:nvSpPr>
        <p:spPr>
          <a:xfrm>
            <a:off x="464688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The theory — interests shape choice, confidence grows from mastery, fit changes over a lifetime.</a:t>
            </a:r>
            <a:br>
              <a:rPr sz="1250" b="0" i="0">
                <a:solidFill>
                  <a:srgbClr val="F8F6EE"/>
                </a:solidFill>
                <a:latin typeface="Montserrat"/>
              </a:rPr>
            </a:br>
            <a:br>
              <a:rPr sz="1250" b="0" i="0">
                <a:solidFill>
                  <a:srgbClr val="F8F6EE"/>
                </a:solidFill>
                <a:latin typeface="Montserrat"/>
              </a:rPr>
            </a:br>
            <a:r>
              <a:rPr sz="1250" b="0" i="0">
                <a:solidFill>
                  <a:srgbClr val="F8F6EE"/>
                </a:solidFill>
                <a:latin typeface="Montserrat"/>
              </a:rPr>
              <a:t>In JobQuest — life events keep changing what fits.</a:t>
            </a:r>
          </a:p>
        </p:txBody>
      </p:sp>
      <p:sp>
        <p:nvSpPr>
          <p:cNvPr id="14" name="TextBox 13"/>
          <p:cNvSpPr txBox="1"/>
          <p:nvPr/>
        </p:nvSpPr>
        <p:spPr>
          <a:xfrm>
            <a:off x="464688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Holland · Lent, Brown &amp; Hackett · Super</a:t>
            </a:r>
          </a:p>
        </p:txBody>
      </p:sp>
      <p:sp>
        <p:nvSpPr>
          <p:cNvPr id="15" name="Rounded Rectangle 14"/>
          <p:cNvSpPr/>
          <p:nvPr/>
        </p:nvSpPr>
        <p:spPr>
          <a:xfrm>
            <a:off x="814512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4512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6</a:t>
            </a:r>
          </a:p>
        </p:txBody>
      </p:sp>
      <p:sp>
        <p:nvSpPr>
          <p:cNvPr id="17" name="TextBox 16"/>
          <p:cNvSpPr txBox="1"/>
          <p:nvPr/>
        </p:nvSpPr>
        <p:spPr>
          <a:xfrm>
            <a:off x="844512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AI foundations</a:t>
            </a:r>
          </a:p>
        </p:txBody>
      </p:sp>
      <p:sp>
        <p:nvSpPr>
          <p:cNvPr id="18" name="TextBox 17"/>
          <p:cNvSpPr txBox="1"/>
          <p:nvPr/>
        </p:nvSpPr>
        <p:spPr>
          <a:xfrm>
            <a:off x="844512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The theory — LLMs can generate and judge, but judging must be validated.</a:t>
            </a:r>
            <a:br>
              <a:rPr sz="1250" b="0" i="0">
                <a:solidFill>
                  <a:srgbClr val="F8F6EE"/>
                </a:solidFill>
                <a:latin typeface="Montserrat"/>
              </a:rPr>
            </a:br>
            <a:br>
              <a:rPr sz="1250" b="0" i="0">
                <a:solidFill>
                  <a:srgbClr val="F8F6EE"/>
                </a:solidFill>
                <a:latin typeface="Montserrat"/>
              </a:rPr>
            </a:br>
            <a:r>
              <a:rPr sz="1250" b="0" i="0">
                <a:solidFill>
                  <a:srgbClr val="F8F6EE"/>
                </a:solidFill>
                <a:latin typeface="Montserrat"/>
              </a:rPr>
              <a:t>In JobQuest — seeds ground generation; a reference set validates judging.</a:t>
            </a:r>
          </a:p>
        </p:txBody>
      </p:sp>
      <p:sp>
        <p:nvSpPr>
          <p:cNvPr id="19" name="TextBox 18"/>
          <p:cNvSpPr txBox="1"/>
          <p:nvPr/>
        </p:nvSpPr>
        <p:spPr>
          <a:xfrm>
            <a:off x="844512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Sarsa 2022 · Zheng 2023 · Liu 2023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KEY USER GROUPS</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700" b="1" i="0">
                <a:solidFill>
                  <a:srgbClr val="F8F6EE"/>
                </a:solidFill>
                <a:latin typeface="Playfair Display"/>
              </a:rPr>
              <a:t>Who it serves — and who runs it.</a:t>
            </a:r>
          </a:p>
        </p:txBody>
      </p:sp>
      <p:sp>
        <p:nvSpPr>
          <p:cNvPr id="5" name="Rounded Rectangle 4"/>
          <p:cNvSpPr/>
          <p:nvPr/>
        </p:nvSpPr>
        <p:spPr>
          <a:xfrm>
            <a:off x="54864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864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1</a:t>
            </a:r>
          </a:p>
        </p:txBody>
      </p:sp>
      <p:sp>
        <p:nvSpPr>
          <p:cNvPr id="7" name="TextBox 6"/>
          <p:cNvSpPr txBox="1"/>
          <p:nvPr/>
        </p:nvSpPr>
        <p:spPr>
          <a:xfrm>
            <a:off x="84864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Explorer</a:t>
            </a:r>
          </a:p>
        </p:txBody>
      </p:sp>
      <p:sp>
        <p:nvSpPr>
          <p:cNvPr id="8" name="TextBox 7"/>
          <p:cNvSpPr txBox="1"/>
          <p:nvPr/>
        </p:nvSpPr>
        <p:spPr>
          <a:xfrm>
            <a:off x="84864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The end user: signs up, plays missions, earns skills, and rates jobs — the whole experience is built around them.</a:t>
            </a:r>
          </a:p>
        </p:txBody>
      </p:sp>
      <p:sp>
        <p:nvSpPr>
          <p:cNvPr id="9" name="TextBox 8"/>
          <p:cNvSpPr txBox="1"/>
          <p:nvPr/>
        </p:nvSpPr>
        <p:spPr>
          <a:xfrm>
            <a:off x="84864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The player</a:t>
            </a:r>
          </a:p>
        </p:txBody>
      </p:sp>
      <p:sp>
        <p:nvSpPr>
          <p:cNvPr id="10" name="Rounded Rectangle 9"/>
          <p:cNvSpPr/>
          <p:nvPr/>
        </p:nvSpPr>
        <p:spPr>
          <a:xfrm>
            <a:off x="434688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4688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2</a:t>
            </a:r>
          </a:p>
        </p:txBody>
      </p:sp>
      <p:sp>
        <p:nvSpPr>
          <p:cNvPr id="12" name="TextBox 11"/>
          <p:cNvSpPr txBox="1"/>
          <p:nvPr/>
        </p:nvSpPr>
        <p:spPr>
          <a:xfrm>
            <a:off x="464688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Content Lead</a:t>
            </a:r>
          </a:p>
        </p:txBody>
      </p:sp>
      <p:sp>
        <p:nvSpPr>
          <p:cNvPr id="13" name="TextBox 12"/>
          <p:cNvSpPr txBox="1"/>
          <p:nvPr/>
        </p:nvSpPr>
        <p:spPr>
          <a:xfrm>
            <a:off x="464688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JobQuest’s business admin: owns the curated job seeds, rubrics, and career data that keep every simulation realistic.</a:t>
            </a:r>
          </a:p>
        </p:txBody>
      </p:sp>
      <p:sp>
        <p:nvSpPr>
          <p:cNvPr id="14" name="TextBox 13"/>
          <p:cNvSpPr txBox="1"/>
          <p:nvPr/>
        </p:nvSpPr>
        <p:spPr>
          <a:xfrm>
            <a:off x="464688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Business admin</a:t>
            </a:r>
          </a:p>
        </p:txBody>
      </p:sp>
      <p:sp>
        <p:nvSpPr>
          <p:cNvPr id="15" name="Rounded Rectangle 14"/>
          <p:cNvSpPr/>
          <p:nvPr/>
        </p:nvSpPr>
        <p:spPr>
          <a:xfrm>
            <a:off x="814512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4512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3</a:t>
            </a:r>
          </a:p>
        </p:txBody>
      </p:sp>
      <p:sp>
        <p:nvSpPr>
          <p:cNvPr id="17" name="TextBox 16"/>
          <p:cNvSpPr txBox="1"/>
          <p:nvPr/>
        </p:nvSpPr>
        <p:spPr>
          <a:xfrm>
            <a:off x="844512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System Admin</a:t>
            </a:r>
          </a:p>
        </p:txBody>
      </p:sp>
      <p:sp>
        <p:nvSpPr>
          <p:cNvPr id="18" name="TextBox 17"/>
          <p:cNvSpPr txBox="1"/>
          <p:nvPr/>
        </p:nvSpPr>
        <p:spPr>
          <a:xfrm>
            <a:off x="844512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The IT admin: runs the platform, configures the AI models, and oversees safety and the aggregate statistics.</a:t>
            </a:r>
          </a:p>
        </p:txBody>
      </p:sp>
      <p:sp>
        <p:nvSpPr>
          <p:cNvPr id="19" name="TextBox 18"/>
          <p:cNvSpPr txBox="1"/>
          <p:nvPr/>
        </p:nvSpPr>
        <p:spPr>
          <a:xfrm>
            <a:off x="844512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IT admin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BUSINESS PROCESSES · 1 / 2</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700" b="1" i="0">
                <a:solidFill>
                  <a:srgbClr val="F8F6EE"/>
                </a:solidFill>
                <a:latin typeface="Playfair Display"/>
              </a:rPr>
              <a:t>The core play loop.</a:t>
            </a:r>
          </a:p>
        </p:txBody>
      </p:sp>
      <p:sp>
        <p:nvSpPr>
          <p:cNvPr id="5" name="Rounded Rectangle 4"/>
          <p:cNvSpPr/>
          <p:nvPr/>
        </p:nvSpPr>
        <p:spPr>
          <a:xfrm>
            <a:off x="548640" y="198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33640" y="204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1</a:t>
            </a:r>
          </a:p>
        </p:txBody>
      </p:sp>
      <p:sp>
        <p:nvSpPr>
          <p:cNvPr id="7" name="TextBox 6"/>
          <p:cNvSpPr txBox="1"/>
          <p:nvPr/>
        </p:nvSpPr>
        <p:spPr>
          <a:xfrm>
            <a:off x="1108640" y="211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Sign up</a:t>
            </a:r>
          </a:p>
        </p:txBody>
      </p:sp>
      <p:sp>
        <p:nvSpPr>
          <p:cNvPr id="8" name="TextBox 7"/>
          <p:cNvSpPr txBox="1"/>
          <p:nvPr/>
        </p:nvSpPr>
        <p:spPr>
          <a:xfrm>
            <a:off x="778640" y="260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Account required — saves progress &amp; personalizes.</a:t>
            </a:r>
          </a:p>
        </p:txBody>
      </p:sp>
      <p:cxnSp>
        <p:nvCxnSpPr>
          <p:cNvPr id="9" name="Connector 8"/>
          <p:cNvCxnSpPr/>
          <p:nvPr/>
        </p:nvCxnSpPr>
        <p:spPr>
          <a:xfrm>
            <a:off x="3078640" y="2760000"/>
            <a:ext cx="340000" cy="0"/>
          </a:xfrm>
          <a:prstGeom prst="line">
            <a:avLst/>
          </a:prstGeom>
          <a:ln w="15875">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18640" y="198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03640" y="204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2</a:t>
            </a:r>
          </a:p>
        </p:txBody>
      </p:sp>
      <p:sp>
        <p:nvSpPr>
          <p:cNvPr id="12" name="TextBox 11"/>
          <p:cNvSpPr txBox="1"/>
          <p:nvPr/>
        </p:nvSpPr>
        <p:spPr>
          <a:xfrm>
            <a:off x="3978640" y="211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Get-to-know-me</a:t>
            </a:r>
          </a:p>
        </p:txBody>
      </p:sp>
      <p:sp>
        <p:nvSpPr>
          <p:cNvPr id="13" name="TextBox 12"/>
          <p:cNvSpPr txBox="1"/>
          <p:nvPr/>
        </p:nvSpPr>
        <p:spPr>
          <a:xfrm>
            <a:off x="3648640" y="260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Optional — for players who don't know which job to start from.</a:t>
            </a:r>
          </a:p>
        </p:txBody>
      </p:sp>
      <p:cxnSp>
        <p:nvCxnSpPr>
          <p:cNvPr id="14" name="Connector 13"/>
          <p:cNvCxnSpPr/>
          <p:nvPr/>
        </p:nvCxnSpPr>
        <p:spPr>
          <a:xfrm>
            <a:off x="5948640" y="2760000"/>
            <a:ext cx="340000" cy="0"/>
          </a:xfrm>
          <a:prstGeom prst="line">
            <a:avLst/>
          </a:prstGeom>
          <a:ln w="15875">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88640" y="198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73640" y="204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3</a:t>
            </a:r>
          </a:p>
        </p:txBody>
      </p:sp>
      <p:sp>
        <p:nvSpPr>
          <p:cNvPr id="17" name="TextBox 16"/>
          <p:cNvSpPr txBox="1"/>
          <p:nvPr/>
        </p:nvSpPr>
        <p:spPr>
          <a:xfrm>
            <a:off x="6848640" y="211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Pick a job</a:t>
            </a:r>
          </a:p>
        </p:txBody>
      </p:sp>
      <p:sp>
        <p:nvSpPr>
          <p:cNvPr id="18" name="TextBox 17"/>
          <p:cNvSpPr txBox="1"/>
          <p:nvPr/>
        </p:nvSpPr>
        <p:spPr>
          <a:xfrm>
            <a:off x="6518640" y="260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Every job's starter level is open and free to play.</a:t>
            </a:r>
          </a:p>
        </p:txBody>
      </p:sp>
      <p:cxnSp>
        <p:nvCxnSpPr>
          <p:cNvPr id="19" name="Connector 18"/>
          <p:cNvCxnSpPr/>
          <p:nvPr/>
        </p:nvCxnSpPr>
        <p:spPr>
          <a:xfrm>
            <a:off x="8818640" y="2760000"/>
            <a:ext cx="340000" cy="0"/>
          </a:xfrm>
          <a:prstGeom prst="line">
            <a:avLst/>
          </a:prstGeom>
          <a:ln w="15875">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158640" y="198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243640" y="204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4</a:t>
            </a:r>
          </a:p>
        </p:txBody>
      </p:sp>
      <p:sp>
        <p:nvSpPr>
          <p:cNvPr id="22" name="TextBox 21"/>
          <p:cNvSpPr txBox="1"/>
          <p:nvPr/>
        </p:nvSpPr>
        <p:spPr>
          <a:xfrm>
            <a:off x="9718640" y="211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Role &amp; context</a:t>
            </a:r>
          </a:p>
        </p:txBody>
      </p:sp>
      <p:sp>
        <p:nvSpPr>
          <p:cNvPr id="23" name="TextBox 22"/>
          <p:cNvSpPr txBox="1"/>
          <p:nvPr/>
        </p:nvSpPr>
        <p:spPr>
          <a:xfrm>
            <a:off x="9388640" y="260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You're given your role, your team and the work environment before anything happens.</a:t>
            </a:r>
          </a:p>
        </p:txBody>
      </p:sp>
      <p:cxnSp>
        <p:nvCxnSpPr>
          <p:cNvPr id="24" name="Connector 23"/>
          <p:cNvCxnSpPr/>
          <p:nvPr/>
        </p:nvCxnSpPr>
        <p:spPr>
          <a:xfrm>
            <a:off x="10423640" y="3540000"/>
            <a:ext cx="0" cy="760000"/>
          </a:xfrm>
          <a:prstGeom prst="line">
            <a:avLst/>
          </a:prstGeom>
          <a:ln w="15875">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58640" y="430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43640" y="436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5</a:t>
            </a:r>
          </a:p>
        </p:txBody>
      </p:sp>
      <p:sp>
        <p:nvSpPr>
          <p:cNvPr id="27" name="TextBox 26"/>
          <p:cNvSpPr txBox="1"/>
          <p:nvPr/>
        </p:nvSpPr>
        <p:spPr>
          <a:xfrm>
            <a:off x="9718640" y="443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Play the tasks</a:t>
            </a:r>
          </a:p>
        </p:txBody>
      </p:sp>
      <p:sp>
        <p:nvSpPr>
          <p:cNvPr id="28" name="TextBox 27"/>
          <p:cNvSpPr txBox="1"/>
          <p:nvPr/>
        </p:nvSpPr>
        <p:spPr>
          <a:xfrm>
            <a:off x="9388640" y="492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Each task is a real scenario from the job, testing its own mix of skills.</a:t>
            </a:r>
          </a:p>
        </p:txBody>
      </p:sp>
      <p:cxnSp>
        <p:nvCxnSpPr>
          <p:cNvPr id="29" name="Connector 28"/>
          <p:cNvCxnSpPr/>
          <p:nvPr/>
        </p:nvCxnSpPr>
        <p:spPr>
          <a:xfrm flipH="1">
            <a:off x="8818640" y="5080000"/>
            <a:ext cx="340000" cy="0"/>
          </a:xfrm>
          <a:prstGeom prst="line">
            <a:avLst/>
          </a:prstGeom>
          <a:ln w="15875">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88640" y="430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73640" y="436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6</a:t>
            </a:r>
          </a:p>
        </p:txBody>
      </p:sp>
      <p:sp>
        <p:nvSpPr>
          <p:cNvPr id="32" name="TextBox 31"/>
          <p:cNvSpPr txBox="1"/>
          <p:nvPr/>
        </p:nvSpPr>
        <p:spPr>
          <a:xfrm>
            <a:off x="6848640" y="443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AI evaluates</a:t>
            </a:r>
          </a:p>
        </p:txBody>
      </p:sp>
      <p:sp>
        <p:nvSpPr>
          <p:cNvPr id="33" name="TextBox 32"/>
          <p:cNvSpPr txBox="1"/>
          <p:nvPr/>
        </p:nvSpPr>
        <p:spPr>
          <a:xfrm>
            <a:off x="6518640" y="492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Your choices are judged — the AI rates the skills you showed and explains why.</a:t>
            </a:r>
          </a:p>
        </p:txBody>
      </p:sp>
      <p:cxnSp>
        <p:nvCxnSpPr>
          <p:cNvPr id="34" name="Connector 33"/>
          <p:cNvCxnSpPr/>
          <p:nvPr/>
        </p:nvCxnSpPr>
        <p:spPr>
          <a:xfrm flipH="1">
            <a:off x="5948640" y="5080000"/>
            <a:ext cx="340000" cy="0"/>
          </a:xfrm>
          <a:prstGeom prst="line">
            <a:avLst/>
          </a:prstGeom>
          <a:ln w="15875">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418640" y="430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503640" y="436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7</a:t>
            </a:r>
          </a:p>
        </p:txBody>
      </p:sp>
      <p:sp>
        <p:nvSpPr>
          <p:cNvPr id="37" name="TextBox 36"/>
          <p:cNvSpPr txBox="1"/>
          <p:nvPr/>
        </p:nvSpPr>
        <p:spPr>
          <a:xfrm>
            <a:off x="3978640" y="443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Earn &amp; unlock</a:t>
            </a:r>
          </a:p>
        </p:txBody>
      </p:sp>
      <p:sp>
        <p:nvSpPr>
          <p:cNvPr id="38" name="TextBox 37"/>
          <p:cNvSpPr txBox="1"/>
          <p:nvPr/>
        </p:nvSpPr>
        <p:spPr>
          <a:xfrm>
            <a:off x="3648640" y="492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Skill points unlock higher levels of that job — or a cross-move into an adjacent one.</a:t>
            </a:r>
          </a:p>
        </p:txBody>
      </p:sp>
      <p:sp>
        <p:nvSpPr>
          <p:cNvPr id="39" name="TextBox 38"/>
          <p:cNvSpPr txBox="1"/>
          <p:nvPr/>
        </p:nvSpPr>
        <p:spPr>
          <a:xfrm>
            <a:off x="548640" y="6160000"/>
            <a:ext cx="11094720" cy="420000"/>
          </a:xfrm>
          <a:prstGeom prst="rect">
            <a:avLst/>
          </a:prstGeom>
          <a:noFill/>
        </p:spPr>
        <p:txBody>
          <a:bodyPr wrap="square" lIns="0" rIns="0" tIns="0" bIns="0" anchor="ctr">
            <a:spAutoFit/>
          </a:bodyPr>
          <a:lstStyle/>
          <a:p>
            <a:pPr algn="ctr">
              <a:spcBef>
                <a:spcPts val="0"/>
              </a:spcBef>
              <a:spcAft>
                <a:spcPts val="0"/>
              </a:spcAft>
            </a:pPr>
            <a:r>
              <a:rPr sz="1400" b="1" i="0">
                <a:solidFill>
                  <a:srgbClr val="D4B06A"/>
                </a:solidFill>
                <a:latin typeface="Montserrat"/>
              </a:rPr>
              <a:t>↺  </a:t>
            </a:r>
            <a:r>
              <a:rPr sz="1250" b="0" i="1">
                <a:solidFill>
                  <a:srgbClr val="F8F6EE"/>
                </a:solidFill>
                <a:latin typeface="Montserrat"/>
              </a:rPr>
              <a:t>Finish a whole job and you can rate it. The loop repeats — and roguelike life events keep changing what fits.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BUSINESS PROCESSES · 2 / 2</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700" b="1" i="0">
                <a:solidFill>
                  <a:srgbClr val="F8F6EE"/>
                </a:solidFill>
                <a:latin typeface="Playfair Display"/>
              </a:rPr>
              <a:t>Mission lifecycle &amp; supporting processes.</a:t>
            </a:r>
          </a:p>
        </p:txBody>
      </p:sp>
      <p:sp>
        <p:nvSpPr>
          <p:cNvPr id="5" name="Rounded Rectangle 4"/>
          <p:cNvSpPr/>
          <p:nvPr/>
        </p:nvSpPr>
        <p:spPr>
          <a:xfrm>
            <a:off x="548640" y="1840000"/>
            <a:ext cx="2018944" cy="1180000"/>
          </a:xfrm>
          <a:prstGeom prst="roundRect">
            <a:avLst>
              <a:gd name="adj" fmla="val 7000"/>
            </a:avLst>
          </a:prstGeom>
          <a:solidFill>
            <a:srgbClr val="142B52">
              <a:alpha val="60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8640" y="2020000"/>
            <a:ext cx="1718944" cy="460000"/>
          </a:xfrm>
          <a:prstGeom prst="rect">
            <a:avLst/>
          </a:prstGeom>
          <a:noFill/>
        </p:spPr>
        <p:txBody>
          <a:bodyPr wrap="square" lIns="0" rIns="0" tIns="0" bIns="0" anchor="ctr">
            <a:spAutoFit/>
          </a:bodyPr>
          <a:lstStyle/>
          <a:p>
            <a:pPr algn="ctr">
              <a:lnSpc>
                <a:spcPct val="100000"/>
              </a:lnSpc>
              <a:spcBef>
                <a:spcPts val="0"/>
              </a:spcBef>
              <a:spcAft>
                <a:spcPts val="0"/>
              </a:spcAft>
            </a:pPr>
            <a:r>
              <a:rPr sz="1250" b="1" i="0">
                <a:solidFill>
                  <a:srgbClr val="F0D79A"/>
                </a:solidFill>
                <a:latin typeface="Montserrat"/>
              </a:rPr>
              <a:t>Generation</a:t>
            </a:r>
          </a:p>
        </p:txBody>
      </p:sp>
      <p:sp>
        <p:nvSpPr>
          <p:cNvPr id="7" name="TextBox 6"/>
          <p:cNvSpPr txBox="1"/>
          <p:nvPr/>
        </p:nvSpPr>
        <p:spPr>
          <a:xfrm>
            <a:off x="698640" y="2480000"/>
            <a:ext cx="1718944" cy="440000"/>
          </a:xfrm>
          <a:prstGeom prst="rect">
            <a:avLst/>
          </a:prstGeom>
          <a:noFill/>
        </p:spPr>
        <p:txBody>
          <a:bodyPr wrap="square" lIns="0" rIns="0" tIns="0" bIns="0" anchor="t">
            <a:spAutoFit/>
          </a:bodyPr>
          <a:lstStyle/>
          <a:p>
            <a:pPr algn="ctr">
              <a:lnSpc>
                <a:spcPct val="105000"/>
              </a:lnSpc>
              <a:spcBef>
                <a:spcPts val="0"/>
              </a:spcBef>
              <a:spcAft>
                <a:spcPts val="0"/>
              </a:spcAft>
            </a:pPr>
            <a:r>
              <a:rPr sz="1050" b="0" i="0">
                <a:solidFill>
                  <a:srgbClr val="F8F6EE"/>
                </a:solidFill>
                <a:latin typeface="Montserrat"/>
              </a:rPr>
              <a:t>curated seed → AI expands</a:t>
            </a:r>
          </a:p>
        </p:txBody>
      </p:sp>
      <p:cxnSp>
        <p:nvCxnSpPr>
          <p:cNvPr id="8" name="Connector 7"/>
          <p:cNvCxnSpPr/>
          <p:nvPr/>
        </p:nvCxnSpPr>
        <p:spPr>
          <a:xfrm>
            <a:off x="2567584" y="2430000"/>
            <a:ext cx="250000" cy="0"/>
          </a:xfrm>
          <a:prstGeom prst="line">
            <a:avLst/>
          </a:prstGeom>
          <a:ln w="12700">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17584" y="1840000"/>
            <a:ext cx="2018944" cy="1180000"/>
          </a:xfrm>
          <a:prstGeom prst="roundRect">
            <a:avLst>
              <a:gd name="adj" fmla="val 7000"/>
            </a:avLst>
          </a:prstGeom>
          <a:solidFill>
            <a:srgbClr val="142B52">
              <a:alpha val="60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67584" y="2020000"/>
            <a:ext cx="1718944" cy="460000"/>
          </a:xfrm>
          <a:prstGeom prst="rect">
            <a:avLst/>
          </a:prstGeom>
          <a:noFill/>
        </p:spPr>
        <p:txBody>
          <a:bodyPr wrap="square" lIns="0" rIns="0" tIns="0" bIns="0" anchor="ctr">
            <a:spAutoFit/>
          </a:bodyPr>
          <a:lstStyle/>
          <a:p>
            <a:pPr algn="ctr">
              <a:lnSpc>
                <a:spcPct val="100000"/>
              </a:lnSpc>
              <a:spcBef>
                <a:spcPts val="0"/>
              </a:spcBef>
              <a:spcAft>
                <a:spcPts val="0"/>
              </a:spcAft>
            </a:pPr>
            <a:r>
              <a:rPr sz="1250" b="1" i="0">
                <a:solidFill>
                  <a:srgbClr val="F0D79A"/>
                </a:solidFill>
                <a:latin typeface="Montserrat"/>
              </a:rPr>
              <a:t>Adaptive narration</a:t>
            </a:r>
          </a:p>
        </p:txBody>
      </p:sp>
      <p:sp>
        <p:nvSpPr>
          <p:cNvPr id="11" name="TextBox 10"/>
          <p:cNvSpPr txBox="1"/>
          <p:nvPr/>
        </p:nvSpPr>
        <p:spPr>
          <a:xfrm>
            <a:off x="2967584" y="2480000"/>
            <a:ext cx="1718944" cy="440000"/>
          </a:xfrm>
          <a:prstGeom prst="rect">
            <a:avLst/>
          </a:prstGeom>
          <a:noFill/>
        </p:spPr>
        <p:txBody>
          <a:bodyPr wrap="square" lIns="0" rIns="0" tIns="0" bIns="0" anchor="t">
            <a:spAutoFit/>
          </a:bodyPr>
          <a:lstStyle/>
          <a:p>
            <a:pPr algn="ctr">
              <a:lnSpc>
                <a:spcPct val="105000"/>
              </a:lnSpc>
              <a:spcBef>
                <a:spcPts val="0"/>
              </a:spcBef>
              <a:spcAft>
                <a:spcPts val="0"/>
              </a:spcAft>
            </a:pPr>
            <a:r>
              <a:rPr sz="1050" b="0" i="0">
                <a:solidFill>
                  <a:srgbClr val="F8F6EE"/>
                </a:solidFill>
                <a:latin typeface="Montserrat"/>
              </a:rPr>
              <a:t>visual-novel scenes, branching</a:t>
            </a:r>
          </a:p>
        </p:txBody>
      </p:sp>
      <p:cxnSp>
        <p:nvCxnSpPr>
          <p:cNvPr id="12" name="Connector 11"/>
          <p:cNvCxnSpPr/>
          <p:nvPr/>
        </p:nvCxnSpPr>
        <p:spPr>
          <a:xfrm>
            <a:off x="4836528" y="2430000"/>
            <a:ext cx="250000" cy="0"/>
          </a:xfrm>
          <a:prstGeom prst="line">
            <a:avLst/>
          </a:prstGeom>
          <a:ln w="12700">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86528" y="1840000"/>
            <a:ext cx="2018944" cy="1180000"/>
          </a:xfrm>
          <a:prstGeom prst="roundRect">
            <a:avLst>
              <a:gd name="adj" fmla="val 7000"/>
            </a:avLst>
          </a:prstGeom>
          <a:solidFill>
            <a:srgbClr val="142B52">
              <a:alpha val="60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6528" y="2020000"/>
            <a:ext cx="1718944" cy="460000"/>
          </a:xfrm>
          <a:prstGeom prst="rect">
            <a:avLst/>
          </a:prstGeom>
          <a:noFill/>
        </p:spPr>
        <p:txBody>
          <a:bodyPr wrap="square" lIns="0" rIns="0" tIns="0" bIns="0" anchor="ctr">
            <a:spAutoFit/>
          </a:bodyPr>
          <a:lstStyle/>
          <a:p>
            <a:pPr algn="ctr">
              <a:lnSpc>
                <a:spcPct val="100000"/>
              </a:lnSpc>
              <a:spcBef>
                <a:spcPts val="0"/>
              </a:spcBef>
              <a:spcAft>
                <a:spcPts val="0"/>
              </a:spcAft>
            </a:pPr>
            <a:r>
              <a:rPr sz="1250" b="1" i="0">
                <a:solidFill>
                  <a:srgbClr val="F0D79A"/>
                </a:solidFill>
                <a:latin typeface="Montserrat"/>
              </a:rPr>
              <a:t>Task interactions</a:t>
            </a:r>
          </a:p>
        </p:txBody>
      </p:sp>
      <p:sp>
        <p:nvSpPr>
          <p:cNvPr id="15" name="TextBox 14"/>
          <p:cNvSpPr txBox="1"/>
          <p:nvPr/>
        </p:nvSpPr>
        <p:spPr>
          <a:xfrm>
            <a:off x="5236528" y="2480000"/>
            <a:ext cx="1718944" cy="440000"/>
          </a:xfrm>
          <a:prstGeom prst="rect">
            <a:avLst/>
          </a:prstGeom>
          <a:noFill/>
        </p:spPr>
        <p:txBody>
          <a:bodyPr wrap="square" lIns="0" rIns="0" tIns="0" bIns="0" anchor="t">
            <a:spAutoFit/>
          </a:bodyPr>
          <a:lstStyle/>
          <a:p>
            <a:pPr algn="ctr">
              <a:lnSpc>
                <a:spcPct val="105000"/>
              </a:lnSpc>
              <a:spcBef>
                <a:spcPts val="0"/>
              </a:spcBef>
              <a:spcAft>
                <a:spcPts val="0"/>
              </a:spcAft>
            </a:pPr>
            <a:r>
              <a:rPr sz="1050" b="0" i="0">
                <a:solidFill>
                  <a:srgbClr val="F8F6EE"/>
                </a:solidFill>
                <a:latin typeface="Montserrat"/>
              </a:rPr>
              <a:t>scenarios: structured + free</a:t>
            </a:r>
          </a:p>
        </p:txBody>
      </p:sp>
      <p:cxnSp>
        <p:nvCxnSpPr>
          <p:cNvPr id="16" name="Connector 15"/>
          <p:cNvCxnSpPr/>
          <p:nvPr/>
        </p:nvCxnSpPr>
        <p:spPr>
          <a:xfrm>
            <a:off x="7105472" y="2430000"/>
            <a:ext cx="250000" cy="0"/>
          </a:xfrm>
          <a:prstGeom prst="line">
            <a:avLst/>
          </a:prstGeom>
          <a:ln w="12700">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55472" y="1840000"/>
            <a:ext cx="2018944" cy="1180000"/>
          </a:xfrm>
          <a:prstGeom prst="roundRect">
            <a:avLst>
              <a:gd name="adj" fmla="val 7000"/>
            </a:avLst>
          </a:prstGeom>
          <a:solidFill>
            <a:srgbClr val="142B52">
              <a:alpha val="60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05472" y="2020000"/>
            <a:ext cx="1718944" cy="460000"/>
          </a:xfrm>
          <a:prstGeom prst="rect">
            <a:avLst/>
          </a:prstGeom>
          <a:noFill/>
        </p:spPr>
        <p:txBody>
          <a:bodyPr wrap="square" lIns="0" rIns="0" tIns="0" bIns="0" anchor="ctr">
            <a:spAutoFit/>
          </a:bodyPr>
          <a:lstStyle/>
          <a:p>
            <a:pPr algn="ctr">
              <a:lnSpc>
                <a:spcPct val="100000"/>
              </a:lnSpc>
              <a:spcBef>
                <a:spcPts val="0"/>
              </a:spcBef>
              <a:spcAft>
                <a:spcPts val="0"/>
              </a:spcAft>
            </a:pPr>
            <a:r>
              <a:rPr sz="1250" b="1" i="0">
                <a:solidFill>
                  <a:srgbClr val="F0D79A"/>
                </a:solidFill>
                <a:latin typeface="Montserrat"/>
              </a:rPr>
              <a:t>Judging</a:t>
            </a:r>
          </a:p>
        </p:txBody>
      </p:sp>
      <p:sp>
        <p:nvSpPr>
          <p:cNvPr id="19" name="TextBox 18"/>
          <p:cNvSpPr txBox="1"/>
          <p:nvPr/>
        </p:nvSpPr>
        <p:spPr>
          <a:xfrm>
            <a:off x="7505472" y="2480000"/>
            <a:ext cx="1718944" cy="440000"/>
          </a:xfrm>
          <a:prstGeom prst="rect">
            <a:avLst/>
          </a:prstGeom>
          <a:noFill/>
        </p:spPr>
        <p:txBody>
          <a:bodyPr wrap="square" lIns="0" rIns="0" tIns="0" bIns="0" anchor="t">
            <a:spAutoFit/>
          </a:bodyPr>
          <a:lstStyle/>
          <a:p>
            <a:pPr algn="ctr">
              <a:lnSpc>
                <a:spcPct val="105000"/>
              </a:lnSpc>
              <a:spcBef>
                <a:spcPts val="0"/>
              </a:spcBef>
              <a:spcAft>
                <a:spcPts val="0"/>
              </a:spcAft>
            </a:pPr>
            <a:r>
              <a:rPr sz="1050" b="0" i="0">
                <a:solidFill>
                  <a:srgbClr val="F8F6EE"/>
                </a:solidFill>
                <a:latin typeface="Montserrat"/>
              </a:rPr>
              <a:t>deterministic / rubric</a:t>
            </a:r>
          </a:p>
        </p:txBody>
      </p:sp>
      <p:cxnSp>
        <p:nvCxnSpPr>
          <p:cNvPr id="20" name="Connector 19"/>
          <p:cNvCxnSpPr/>
          <p:nvPr/>
        </p:nvCxnSpPr>
        <p:spPr>
          <a:xfrm>
            <a:off x="9374416" y="2430000"/>
            <a:ext cx="250000" cy="0"/>
          </a:xfrm>
          <a:prstGeom prst="line">
            <a:avLst/>
          </a:prstGeom>
          <a:ln w="12700">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624416" y="1840000"/>
            <a:ext cx="2018944" cy="1180000"/>
          </a:xfrm>
          <a:prstGeom prst="roundRect">
            <a:avLst>
              <a:gd name="adj" fmla="val 7000"/>
            </a:avLst>
          </a:prstGeom>
          <a:solidFill>
            <a:srgbClr val="142B52">
              <a:alpha val="60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74416" y="2020000"/>
            <a:ext cx="1718944" cy="460000"/>
          </a:xfrm>
          <a:prstGeom prst="rect">
            <a:avLst/>
          </a:prstGeom>
          <a:noFill/>
        </p:spPr>
        <p:txBody>
          <a:bodyPr wrap="square" lIns="0" rIns="0" tIns="0" bIns="0" anchor="ctr">
            <a:spAutoFit/>
          </a:bodyPr>
          <a:lstStyle/>
          <a:p>
            <a:pPr algn="ctr">
              <a:lnSpc>
                <a:spcPct val="100000"/>
              </a:lnSpc>
              <a:spcBef>
                <a:spcPts val="0"/>
              </a:spcBef>
              <a:spcAft>
                <a:spcPts val="0"/>
              </a:spcAft>
            </a:pPr>
            <a:r>
              <a:rPr sz="1250" b="1" i="0">
                <a:solidFill>
                  <a:srgbClr val="F0D79A"/>
                </a:solidFill>
                <a:latin typeface="Montserrat"/>
              </a:rPr>
              <a:t>Result &amp; feedback</a:t>
            </a:r>
          </a:p>
        </p:txBody>
      </p:sp>
      <p:sp>
        <p:nvSpPr>
          <p:cNvPr id="23" name="TextBox 22"/>
          <p:cNvSpPr txBox="1"/>
          <p:nvPr/>
        </p:nvSpPr>
        <p:spPr>
          <a:xfrm>
            <a:off x="9774416" y="2480000"/>
            <a:ext cx="1718944" cy="440000"/>
          </a:xfrm>
          <a:prstGeom prst="rect">
            <a:avLst/>
          </a:prstGeom>
          <a:noFill/>
        </p:spPr>
        <p:txBody>
          <a:bodyPr wrap="square" lIns="0" rIns="0" tIns="0" bIns="0" anchor="t">
            <a:spAutoFit/>
          </a:bodyPr>
          <a:lstStyle/>
          <a:p>
            <a:pPr algn="ctr">
              <a:lnSpc>
                <a:spcPct val="105000"/>
              </a:lnSpc>
              <a:spcBef>
                <a:spcPts val="0"/>
              </a:spcBef>
              <a:spcAft>
                <a:spcPts val="0"/>
              </a:spcAft>
            </a:pPr>
            <a:r>
              <a:rPr sz="1050" b="0" i="0">
                <a:solidFill>
                  <a:srgbClr val="F8F6EE"/>
                </a:solidFill>
                <a:latin typeface="Montserrat"/>
              </a:rPr>
              <a:t>score, guidance + skill points</a:t>
            </a:r>
          </a:p>
        </p:txBody>
      </p:sp>
      <p:sp>
        <p:nvSpPr>
          <p:cNvPr id="24" name="Rounded Rectangle 23"/>
          <p:cNvSpPr/>
          <p:nvPr/>
        </p:nvSpPr>
        <p:spPr>
          <a:xfrm>
            <a:off x="548640" y="3320000"/>
            <a:ext cx="5450000" cy="2760000"/>
          </a:xfrm>
          <a:prstGeom prst="roundRect">
            <a:avLst>
              <a:gd name="adj" fmla="val 4500"/>
            </a:avLst>
          </a:prstGeom>
          <a:solidFill>
            <a:srgbClr val="0A1026">
              <a:alpha val="70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0000" y="3520000"/>
            <a:ext cx="4900000" cy="320000"/>
          </a:xfrm>
          <a:prstGeom prst="rect">
            <a:avLst/>
          </a:prstGeom>
          <a:noFill/>
        </p:spPr>
        <p:txBody>
          <a:bodyPr wrap="square" lIns="0" rIns="0" tIns="0" bIns="0" anchor="ctr">
            <a:spAutoFit/>
          </a:bodyPr>
          <a:lstStyle/>
          <a:p>
            <a:pPr algn="l">
              <a:spcBef>
                <a:spcPts val="0"/>
              </a:spcBef>
              <a:spcAft>
                <a:spcPts val="0"/>
              </a:spcAft>
            </a:pPr>
            <a:r>
              <a:rPr sz="1200" b="1" i="0" spc="250">
                <a:solidFill>
                  <a:srgbClr val="D4B06A"/>
                </a:solidFill>
                <a:latin typeface="Cinzel"/>
              </a:rPr>
              <a:t>AI SUPERVISION</a:t>
            </a:r>
          </a:p>
        </p:txBody>
      </p:sp>
      <p:sp>
        <p:nvSpPr>
          <p:cNvPr id="26" name="4-Point Star 25"/>
          <p:cNvSpPr/>
          <p:nvPr/>
        </p:nvSpPr>
        <p:spPr>
          <a:xfrm>
            <a:off x="775000" y="3965000"/>
            <a:ext cx="250000" cy="250000"/>
          </a:xfrm>
          <a:prstGeom prst="star4">
            <a:avLst>
              <a:gd name="adj" fmla="val 16000"/>
            </a:avLst>
          </a:prstGeom>
          <a:solidFill>
            <a:srgbClr val="F0D7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50000" y="3960000"/>
            <a:ext cx="4600000" cy="6400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F0D79A"/>
                </a:solidFill>
                <a:latin typeface="Montserrat"/>
              </a:rPr>
              <a:t>Authoring  </a:t>
            </a:r>
            <a:r>
              <a:rPr sz="1150" b="0" i="0">
                <a:solidFill>
                  <a:srgbClr val="F8F6EE"/>
                </a:solidFill>
                <a:latin typeface="Montserrat"/>
              </a:rPr>
              <a:t>human-in-the-loop — we write &amp; control each role's seed.</a:t>
            </a:r>
          </a:p>
        </p:txBody>
      </p:sp>
      <p:sp>
        <p:nvSpPr>
          <p:cNvPr id="28" name="4-Point Star 27"/>
          <p:cNvSpPr/>
          <p:nvPr/>
        </p:nvSpPr>
        <p:spPr>
          <a:xfrm>
            <a:off x="775000" y="4645000"/>
            <a:ext cx="250000" cy="250000"/>
          </a:xfrm>
          <a:prstGeom prst="star4">
            <a:avLst>
              <a:gd name="adj" fmla="val 16000"/>
            </a:avLst>
          </a:prstGeom>
          <a:solidFill>
            <a:srgbClr val="F0D7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50000" y="4640000"/>
            <a:ext cx="4600000" cy="6400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F0D79A"/>
                </a:solidFill>
                <a:latin typeface="Montserrat"/>
              </a:rPr>
              <a:t>Runtime  </a:t>
            </a:r>
            <a:r>
              <a:rPr sz="1150" b="0" i="0">
                <a:solidFill>
                  <a:srgbClr val="F8F6EE"/>
                </a:solidFill>
                <a:latin typeface="Montserrat"/>
              </a:rPr>
              <a:t>human-on-the-loop — the AI runs autonomously per turn.</a:t>
            </a:r>
          </a:p>
        </p:txBody>
      </p:sp>
      <p:sp>
        <p:nvSpPr>
          <p:cNvPr id="30" name="4-Point Star 29"/>
          <p:cNvSpPr/>
          <p:nvPr/>
        </p:nvSpPr>
        <p:spPr>
          <a:xfrm>
            <a:off x="775000" y="5325000"/>
            <a:ext cx="250000" cy="250000"/>
          </a:xfrm>
          <a:prstGeom prst="star4">
            <a:avLst>
              <a:gd name="adj" fmla="val 16000"/>
            </a:avLst>
          </a:prstGeom>
          <a:solidFill>
            <a:srgbClr val="F0D7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50000" y="5320000"/>
            <a:ext cx="4600000" cy="6400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F0D79A"/>
                </a:solidFill>
                <a:latin typeface="Montserrat"/>
              </a:rPr>
              <a:t>Oversight  </a:t>
            </a:r>
            <a:r>
              <a:rPr sz="1150" b="0" i="0">
                <a:solidFill>
                  <a:srgbClr val="F8F6EE"/>
                </a:solidFill>
                <a:latin typeface="Montserrat"/>
              </a:rPr>
              <a:t>the offline expert reference set is our quality mechanism.</a:t>
            </a:r>
          </a:p>
        </p:txBody>
      </p:sp>
      <p:sp>
        <p:nvSpPr>
          <p:cNvPr id="32" name="Rounded Rectangle 31"/>
          <p:cNvSpPr/>
          <p:nvPr/>
        </p:nvSpPr>
        <p:spPr>
          <a:xfrm>
            <a:off x="6193360" y="3320000"/>
            <a:ext cx="5450000" cy="2760000"/>
          </a:xfrm>
          <a:prstGeom prst="roundRect">
            <a:avLst>
              <a:gd name="adj" fmla="val 4500"/>
            </a:avLst>
          </a:prstGeom>
          <a:solidFill>
            <a:srgbClr val="0A1026">
              <a:alpha val="70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65000" y="3520000"/>
            <a:ext cx="4900000" cy="320000"/>
          </a:xfrm>
          <a:prstGeom prst="rect">
            <a:avLst/>
          </a:prstGeom>
          <a:noFill/>
        </p:spPr>
        <p:txBody>
          <a:bodyPr wrap="square" lIns="0" rIns="0" tIns="0" bIns="0" anchor="ctr">
            <a:spAutoFit/>
          </a:bodyPr>
          <a:lstStyle/>
          <a:p>
            <a:pPr algn="l">
              <a:spcBef>
                <a:spcPts val="0"/>
              </a:spcBef>
              <a:spcAft>
                <a:spcPts val="0"/>
              </a:spcAft>
            </a:pPr>
            <a:r>
              <a:rPr sz="1200" b="1" i="0" spc="250">
                <a:solidFill>
                  <a:srgbClr val="D4B06A"/>
                </a:solidFill>
                <a:latin typeface="Cinzel"/>
              </a:rPr>
              <a:t>SUPPORTING PROCESSES</a:t>
            </a:r>
          </a:p>
        </p:txBody>
      </p:sp>
      <p:sp>
        <p:nvSpPr>
          <p:cNvPr id="34" name="4-Point Star 33"/>
          <p:cNvSpPr/>
          <p:nvPr/>
        </p:nvSpPr>
        <p:spPr>
          <a:xfrm>
            <a:off x="6420000" y="3905000"/>
            <a:ext cx="250000" cy="250000"/>
          </a:xfrm>
          <a:prstGeom prst="star4">
            <a:avLst>
              <a:gd name="adj" fmla="val 16000"/>
            </a:avLst>
          </a:prstGeom>
          <a:solidFill>
            <a:srgbClr val="F0D7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5000" y="3900000"/>
            <a:ext cx="4600000" cy="6000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F0D79A"/>
                </a:solidFill>
                <a:latin typeface="Montserrat"/>
              </a:rPr>
              <a:t>Random events (roguelike)  </a:t>
            </a:r>
            <a:r>
              <a:rPr sz="1150" b="0" i="0">
                <a:solidFill>
                  <a:srgbClr val="F8F6EE"/>
                </a:solidFill>
                <a:latin typeface="Montserrat"/>
              </a:rPr>
              <a:t>probabilistic career + life events reshuffle every run → replayability.</a:t>
            </a:r>
          </a:p>
        </p:txBody>
      </p:sp>
      <p:sp>
        <p:nvSpPr>
          <p:cNvPr id="36" name="4-Point Star 35"/>
          <p:cNvSpPr/>
          <p:nvPr/>
        </p:nvSpPr>
        <p:spPr>
          <a:xfrm>
            <a:off x="6420000" y="4565000"/>
            <a:ext cx="250000" cy="250000"/>
          </a:xfrm>
          <a:prstGeom prst="star4">
            <a:avLst>
              <a:gd name="adj" fmla="val 16000"/>
            </a:avLst>
          </a:prstGeom>
          <a:solidFill>
            <a:srgbClr val="F0D7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95000" y="4560000"/>
            <a:ext cx="4600000" cy="8600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F0D79A"/>
                </a:solidFill>
                <a:latin typeface="Montserrat"/>
              </a:rPr>
              <a:t>Job rating  </a:t>
            </a:r>
            <a:r>
              <a:rPr sz="1150" b="0" i="0">
                <a:solidFill>
                  <a:srgbClr val="F8F6EE"/>
                </a:solidFill>
                <a:latin typeface="Montserrat"/>
              </a:rPr>
              <a:t>after finishing a whole job the player rates it on five dimensions — salary, stress, difficulty, work–life balance, enjoyment — feeding an honest, aggregate-only job profile.</a:t>
            </a:r>
          </a:p>
        </p:txBody>
      </p:sp>
      <p:sp>
        <p:nvSpPr>
          <p:cNvPr id="38" name="4-Point Star 37"/>
          <p:cNvSpPr/>
          <p:nvPr/>
        </p:nvSpPr>
        <p:spPr>
          <a:xfrm>
            <a:off x="6420000" y="5465000"/>
            <a:ext cx="250000" cy="250000"/>
          </a:xfrm>
          <a:prstGeom prst="star4">
            <a:avLst>
              <a:gd name="adj" fmla="val 16000"/>
            </a:avLst>
          </a:prstGeom>
          <a:solidFill>
            <a:srgbClr val="F0D7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95000" y="5460000"/>
            <a:ext cx="4600000" cy="56000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F0D79A"/>
                </a:solidFill>
                <a:latin typeface="Montserrat"/>
              </a:rPr>
              <a:t>Logbook  </a:t>
            </a:r>
            <a:r>
              <a:rPr sz="1150" b="0" i="0">
                <a:solidFill>
                  <a:srgbClr val="F8F6EE"/>
                </a:solidFill>
                <a:latin typeface="Montserrat"/>
              </a:rPr>
              <a:t>a private record: jobs tried, skills, badges — a career character sheet.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WORKED EXAMPLE</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700" b="1" i="0">
                <a:solidFill>
                  <a:srgbClr val="F8F6EE"/>
                </a:solidFill>
                <a:latin typeface="Playfair Display"/>
              </a:rPr>
              <a:t>One full mission, end to end.</a:t>
            </a:r>
          </a:p>
        </p:txBody>
      </p:sp>
      <p:sp>
        <p:nvSpPr>
          <p:cNvPr id="5" name="Rounded Rectangle 4"/>
          <p:cNvSpPr/>
          <p:nvPr/>
        </p:nvSpPr>
        <p:spPr>
          <a:xfrm>
            <a:off x="548640" y="198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33640" y="204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1</a:t>
            </a:r>
          </a:p>
        </p:txBody>
      </p:sp>
      <p:sp>
        <p:nvSpPr>
          <p:cNvPr id="7" name="TextBox 6"/>
          <p:cNvSpPr txBox="1"/>
          <p:nvPr/>
        </p:nvSpPr>
        <p:spPr>
          <a:xfrm>
            <a:off x="1108640" y="211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Role &amp; context</a:t>
            </a:r>
          </a:p>
        </p:txBody>
      </p:sp>
      <p:sp>
        <p:nvSpPr>
          <p:cNvPr id="8" name="TextBox 7"/>
          <p:cNvSpPr txBox="1"/>
          <p:nvPr/>
        </p:nvSpPr>
        <p:spPr>
          <a:xfrm>
            <a:off x="778640" y="260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Backend Engineer · starter level — your team, your stack, and tonight you're on call.</a:t>
            </a:r>
          </a:p>
        </p:txBody>
      </p:sp>
      <p:cxnSp>
        <p:nvCxnSpPr>
          <p:cNvPr id="9" name="Connector 8"/>
          <p:cNvCxnSpPr/>
          <p:nvPr/>
        </p:nvCxnSpPr>
        <p:spPr>
          <a:xfrm>
            <a:off x="3078640" y="2760000"/>
            <a:ext cx="340000" cy="0"/>
          </a:xfrm>
          <a:prstGeom prst="line">
            <a:avLst/>
          </a:prstGeom>
          <a:ln w="15875">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18640" y="198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03640" y="204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2</a:t>
            </a:r>
          </a:p>
        </p:txBody>
      </p:sp>
      <p:sp>
        <p:nvSpPr>
          <p:cNvPr id="12" name="TextBox 11"/>
          <p:cNvSpPr txBox="1"/>
          <p:nvPr/>
        </p:nvSpPr>
        <p:spPr>
          <a:xfrm>
            <a:off x="3978640" y="211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Seed (we author)</a:t>
            </a:r>
          </a:p>
        </p:txBody>
      </p:sp>
      <p:sp>
        <p:nvSpPr>
          <p:cNvPr id="13" name="TextBox 12"/>
          <p:cNvSpPr txBox="1"/>
          <p:nvPr/>
        </p:nvSpPr>
        <p:spPr>
          <a:xfrm>
            <a:off x="3648640" y="260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The incident skeleton, the key facts, and the correct-handling rubric.</a:t>
            </a:r>
          </a:p>
        </p:txBody>
      </p:sp>
      <p:cxnSp>
        <p:nvCxnSpPr>
          <p:cNvPr id="14" name="Connector 13"/>
          <p:cNvCxnSpPr/>
          <p:nvPr/>
        </p:nvCxnSpPr>
        <p:spPr>
          <a:xfrm>
            <a:off x="5948640" y="2760000"/>
            <a:ext cx="340000" cy="0"/>
          </a:xfrm>
          <a:prstGeom prst="line">
            <a:avLst/>
          </a:prstGeom>
          <a:ln w="15875">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88640" y="198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73640" y="204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3</a:t>
            </a:r>
          </a:p>
        </p:txBody>
      </p:sp>
      <p:sp>
        <p:nvSpPr>
          <p:cNvPr id="17" name="TextBox 16"/>
          <p:cNvSpPr txBox="1"/>
          <p:nvPr/>
        </p:nvSpPr>
        <p:spPr>
          <a:xfrm>
            <a:off x="6848640" y="211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AI expands</a:t>
            </a:r>
          </a:p>
        </p:txBody>
      </p:sp>
      <p:sp>
        <p:nvSpPr>
          <p:cNvPr id="18" name="TextBox 17"/>
          <p:cNvSpPr txBox="1"/>
          <p:nvPr/>
        </p:nvSpPr>
        <p:spPr>
          <a:xfrm>
            <a:off x="6518640" y="260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Specific symptoms, narrative, and tone — varied and personalized each run.</a:t>
            </a:r>
          </a:p>
        </p:txBody>
      </p:sp>
      <p:cxnSp>
        <p:nvCxnSpPr>
          <p:cNvPr id="19" name="Connector 18"/>
          <p:cNvCxnSpPr/>
          <p:nvPr/>
        </p:nvCxnSpPr>
        <p:spPr>
          <a:xfrm>
            <a:off x="8818640" y="2760000"/>
            <a:ext cx="340000" cy="0"/>
          </a:xfrm>
          <a:prstGeom prst="line">
            <a:avLst/>
          </a:prstGeom>
          <a:ln w="15875">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158640" y="198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243640" y="204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4</a:t>
            </a:r>
          </a:p>
        </p:txBody>
      </p:sp>
      <p:sp>
        <p:nvSpPr>
          <p:cNvPr id="22" name="TextBox 21"/>
          <p:cNvSpPr txBox="1"/>
          <p:nvPr/>
        </p:nvSpPr>
        <p:spPr>
          <a:xfrm>
            <a:off x="9718640" y="211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Choice point</a:t>
            </a:r>
          </a:p>
        </p:txBody>
      </p:sp>
      <p:sp>
        <p:nvSpPr>
          <p:cNvPr id="23" name="TextBox 22"/>
          <p:cNvSpPr txBox="1"/>
          <p:nvPr/>
        </p:nvSpPr>
        <p:spPr>
          <a:xfrm>
            <a:off x="9388640" y="260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“Payments are down at 2 a.m. — where do you look first?” Your call branches the story.</a:t>
            </a:r>
          </a:p>
        </p:txBody>
      </p:sp>
      <p:cxnSp>
        <p:nvCxnSpPr>
          <p:cNvPr id="24" name="Connector 23"/>
          <p:cNvCxnSpPr/>
          <p:nvPr/>
        </p:nvCxnSpPr>
        <p:spPr>
          <a:xfrm>
            <a:off x="10423640" y="3540000"/>
            <a:ext cx="0" cy="760000"/>
          </a:xfrm>
          <a:prstGeom prst="line">
            <a:avLst/>
          </a:prstGeom>
          <a:ln w="15875">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58640" y="430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43640" y="436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5</a:t>
            </a:r>
          </a:p>
        </p:txBody>
      </p:sp>
      <p:sp>
        <p:nvSpPr>
          <p:cNvPr id="27" name="TextBox 26"/>
          <p:cNvSpPr txBox="1"/>
          <p:nvPr/>
        </p:nvSpPr>
        <p:spPr>
          <a:xfrm>
            <a:off x="9718640" y="443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Structured task</a:t>
            </a:r>
          </a:p>
        </p:txBody>
      </p:sp>
      <p:sp>
        <p:nvSpPr>
          <p:cNvPr id="28" name="TextBox 27"/>
          <p:cNvSpPr txBox="1"/>
          <p:nvPr/>
        </p:nvSpPr>
        <p:spPr>
          <a:xfrm>
            <a:off x="9388640" y="492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Put the triage steps in the right order → scored deterministically.</a:t>
            </a:r>
          </a:p>
        </p:txBody>
      </p:sp>
      <p:cxnSp>
        <p:nvCxnSpPr>
          <p:cNvPr id="29" name="Connector 28"/>
          <p:cNvCxnSpPr/>
          <p:nvPr/>
        </p:nvCxnSpPr>
        <p:spPr>
          <a:xfrm flipH="1">
            <a:off x="8818640" y="5080000"/>
            <a:ext cx="340000" cy="0"/>
          </a:xfrm>
          <a:prstGeom prst="line">
            <a:avLst/>
          </a:prstGeom>
          <a:ln w="15875">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88640" y="430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73640" y="436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6</a:t>
            </a:r>
          </a:p>
        </p:txBody>
      </p:sp>
      <p:sp>
        <p:nvSpPr>
          <p:cNvPr id="32" name="TextBox 31"/>
          <p:cNvSpPr txBox="1"/>
          <p:nvPr/>
        </p:nvSpPr>
        <p:spPr>
          <a:xfrm>
            <a:off x="6848640" y="443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Free-response task</a:t>
            </a:r>
          </a:p>
        </p:txBody>
      </p:sp>
      <p:sp>
        <p:nvSpPr>
          <p:cNvPr id="33" name="TextBox 32"/>
          <p:cNvSpPr txBox="1"/>
          <p:nvPr/>
        </p:nvSpPr>
        <p:spPr>
          <a:xfrm>
            <a:off x="6518640" y="492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“Write the incident summary for your team” → scored against the rubric.</a:t>
            </a:r>
          </a:p>
        </p:txBody>
      </p:sp>
      <p:cxnSp>
        <p:nvCxnSpPr>
          <p:cNvPr id="34" name="Connector 33"/>
          <p:cNvCxnSpPr/>
          <p:nvPr/>
        </p:nvCxnSpPr>
        <p:spPr>
          <a:xfrm flipH="1">
            <a:off x="5948640" y="5080000"/>
            <a:ext cx="340000" cy="0"/>
          </a:xfrm>
          <a:prstGeom prst="line">
            <a:avLst/>
          </a:prstGeom>
          <a:ln w="15875">
            <a:solidFill>
              <a:srgbClr val="D4B0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418640" y="4300000"/>
            <a:ext cx="2530000" cy="1560000"/>
          </a:xfrm>
          <a:prstGeom prst="roundRect">
            <a:avLst>
              <a:gd name="adj" fmla="val 60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503640" y="4365000"/>
            <a:ext cx="430000" cy="43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7</a:t>
            </a:r>
          </a:p>
        </p:txBody>
      </p:sp>
      <p:sp>
        <p:nvSpPr>
          <p:cNvPr id="37" name="TextBox 36"/>
          <p:cNvSpPr txBox="1"/>
          <p:nvPr/>
        </p:nvSpPr>
        <p:spPr>
          <a:xfrm>
            <a:off x="3978640" y="4430000"/>
            <a:ext cx="1850000" cy="430000"/>
          </a:xfrm>
          <a:prstGeom prst="rect">
            <a:avLst/>
          </a:prstGeom>
          <a:noFill/>
        </p:spPr>
        <p:txBody>
          <a:bodyPr wrap="square" lIns="0" rIns="0" tIns="0" bIns="0" anchor="ctr">
            <a:spAutoFit/>
          </a:bodyPr>
          <a:lstStyle/>
          <a:p>
            <a:pPr algn="l">
              <a:lnSpc>
                <a:spcPct val="100000"/>
              </a:lnSpc>
              <a:spcBef>
                <a:spcPts val="0"/>
              </a:spcBef>
              <a:spcAft>
                <a:spcPts val="0"/>
              </a:spcAft>
            </a:pPr>
            <a:r>
              <a:rPr sz="1300" b="1" i="0">
                <a:solidFill>
                  <a:srgbClr val="F0D79A"/>
                </a:solidFill>
                <a:latin typeface="Montserrat"/>
              </a:rPr>
              <a:t>Result</a:t>
            </a:r>
          </a:p>
        </p:txBody>
      </p:sp>
      <p:sp>
        <p:nvSpPr>
          <p:cNvPr id="38" name="TextBox 37"/>
          <p:cNvSpPr txBox="1"/>
          <p:nvPr/>
        </p:nvSpPr>
        <p:spPr>
          <a:xfrm>
            <a:off x="3648640" y="4920000"/>
            <a:ext cx="2110000" cy="840000"/>
          </a:xfrm>
          <a:prstGeom prst="rect">
            <a:avLst/>
          </a:prstGeom>
          <a:noFill/>
        </p:spPr>
        <p:txBody>
          <a:bodyPr wrap="square" lIns="0" rIns="0" tIns="0" bIns="0" anchor="t">
            <a:spAutoFit/>
          </a:bodyPr>
          <a:lstStyle/>
          <a:p>
            <a:pPr algn="l">
              <a:lnSpc>
                <a:spcPct val="108000"/>
              </a:lnSpc>
              <a:spcBef>
                <a:spcPts val="0"/>
              </a:spcBef>
              <a:spcAft>
                <a:spcPts val="0"/>
              </a:spcAft>
            </a:pPr>
            <a:r>
              <a:rPr sz="1100" b="0" i="0">
                <a:solidFill>
                  <a:srgbClr val="F8F6EE"/>
                </a:solidFill>
                <a:latin typeface="Montserrat"/>
              </a:rPr>
              <a:t>Score + feedback, the skills you showed rated — debugging and communication — and skill points toward the next level.</a:t>
            </a:r>
          </a:p>
        </p:txBody>
      </p:sp>
      <p:sp>
        <p:nvSpPr>
          <p:cNvPr id="39" name="TextBox 38"/>
          <p:cNvSpPr txBox="1"/>
          <p:nvPr/>
        </p:nvSpPr>
        <p:spPr>
          <a:xfrm>
            <a:off x="548640" y="6160000"/>
            <a:ext cx="11094720" cy="420000"/>
          </a:xfrm>
          <a:prstGeom prst="rect">
            <a:avLst/>
          </a:prstGeom>
          <a:noFill/>
        </p:spPr>
        <p:txBody>
          <a:bodyPr wrap="square" lIns="0" rIns="0" tIns="0" bIns="0" anchor="ctr">
            <a:spAutoFit/>
          </a:bodyPr>
          <a:lstStyle/>
          <a:p>
            <a:pPr algn="ctr">
              <a:spcBef>
                <a:spcPts val="0"/>
              </a:spcBef>
              <a:spcAft>
                <a:spcPts val="0"/>
              </a:spcAft>
            </a:pPr>
            <a:r>
              <a:rPr sz="1400" b="1" i="0">
                <a:solidFill>
                  <a:srgbClr val="D4B06A"/>
                </a:solidFill>
                <a:latin typeface="Montserrat"/>
              </a:rPr>
              <a:t>→  </a:t>
            </a:r>
            <a:r>
              <a:rPr sz="1250" b="0" i="1">
                <a:solidFill>
                  <a:srgbClr val="F8F6EE"/>
                </a:solidFill>
                <a:latin typeface="Montserrat"/>
              </a:rPr>
              <a:t>One authored seed, expanded and judged by AI — and once the whole job is finished, the player rates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SKILLS &amp; THE CAREER GRAPH</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700" b="1" i="0">
                <a:solidFill>
                  <a:srgbClr val="F8F6EE"/>
                </a:solidFill>
                <a:latin typeface="Playfair Display"/>
              </a:rPr>
              <a:t>Skills are the fuel between jobs.</a:t>
            </a:r>
          </a:p>
        </p:txBody>
      </p:sp>
      <p:sp>
        <p:nvSpPr>
          <p:cNvPr id="5" name="Rounded Rectangle 4"/>
          <p:cNvSpPr/>
          <p:nvPr/>
        </p:nvSpPr>
        <p:spPr>
          <a:xfrm>
            <a:off x="54864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864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1</a:t>
            </a:r>
          </a:p>
        </p:txBody>
      </p:sp>
      <p:sp>
        <p:nvSpPr>
          <p:cNvPr id="7" name="TextBox 6"/>
          <p:cNvSpPr txBox="1"/>
          <p:nvPr/>
        </p:nvSpPr>
        <p:spPr>
          <a:xfrm>
            <a:off x="84864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Skills as fuel</a:t>
            </a:r>
          </a:p>
        </p:txBody>
      </p:sp>
      <p:sp>
        <p:nvSpPr>
          <p:cNvPr id="8" name="TextBox 7"/>
          <p:cNvSpPr txBox="1"/>
          <p:nvPr/>
        </p:nvSpPr>
        <p:spPr>
          <a:xfrm>
            <a:off x="84864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Every task pays out skills — soft and hard. Skill points are what unlock the next level, and the next job.</a:t>
            </a:r>
          </a:p>
        </p:txBody>
      </p:sp>
      <p:sp>
        <p:nvSpPr>
          <p:cNvPr id="9" name="TextBox 8"/>
          <p:cNvSpPr txBox="1"/>
          <p:nvPr/>
        </p:nvSpPr>
        <p:spPr>
          <a:xfrm>
            <a:off x="84864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Earned from every mission</a:t>
            </a:r>
          </a:p>
        </p:txBody>
      </p:sp>
      <p:sp>
        <p:nvSpPr>
          <p:cNvPr id="10" name="Rounded Rectangle 9"/>
          <p:cNvSpPr/>
          <p:nvPr/>
        </p:nvSpPr>
        <p:spPr>
          <a:xfrm>
            <a:off x="434688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4688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2</a:t>
            </a:r>
          </a:p>
        </p:txBody>
      </p:sp>
      <p:sp>
        <p:nvSpPr>
          <p:cNvPr id="12" name="TextBox 11"/>
          <p:cNvSpPr txBox="1"/>
          <p:nvPr/>
        </p:nvSpPr>
        <p:spPr>
          <a:xfrm>
            <a:off x="464688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The career graph</a:t>
            </a:r>
          </a:p>
        </p:txBody>
      </p:sp>
      <p:sp>
        <p:nvSpPr>
          <p:cNvPr id="13" name="TextBox 12"/>
          <p:cNvSpPr txBox="1"/>
          <p:nvPr/>
        </p:nvSpPr>
        <p:spPr>
          <a:xfrm>
            <a:off x="464688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Jobs connect through shared skills, so once your skills qualify you can cross straight over — no starting again from zero.</a:t>
            </a:r>
          </a:p>
        </p:txBody>
      </p:sp>
      <p:sp>
        <p:nvSpPr>
          <p:cNvPr id="14" name="TextBox 13"/>
          <p:cNvSpPr txBox="1"/>
          <p:nvPr/>
        </p:nvSpPr>
        <p:spPr>
          <a:xfrm>
            <a:off x="464688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e.g. Senior Frontend → PO / UI-UX Lead</a:t>
            </a:r>
          </a:p>
        </p:txBody>
      </p:sp>
      <p:sp>
        <p:nvSpPr>
          <p:cNvPr id="15" name="Rounded Rectangle 14"/>
          <p:cNvSpPr/>
          <p:nvPr/>
        </p:nvSpPr>
        <p:spPr>
          <a:xfrm>
            <a:off x="814512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4512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3</a:t>
            </a:r>
          </a:p>
        </p:txBody>
      </p:sp>
      <p:sp>
        <p:nvSpPr>
          <p:cNvPr id="17" name="TextBox 16"/>
          <p:cNvSpPr txBox="1"/>
          <p:nvPr/>
        </p:nvSpPr>
        <p:spPr>
          <a:xfrm>
            <a:off x="844512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Chart your own route</a:t>
            </a:r>
          </a:p>
        </p:txBody>
      </p:sp>
      <p:sp>
        <p:nvSpPr>
          <p:cNvPr id="18" name="TextBox 17"/>
          <p:cNvSpPr txBox="1"/>
          <p:nvPr/>
        </p:nvSpPr>
        <p:spPr>
          <a:xfrm>
            <a:off x="844512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Every job's starter level is open, so you can always look around — and rate a job once you've finished it.</a:t>
            </a:r>
          </a:p>
        </p:txBody>
      </p:sp>
      <p:sp>
        <p:nvSpPr>
          <p:cNvPr id="19" name="TextBox 18"/>
          <p:cNvSpPr txBox="1"/>
          <p:nvPr/>
        </p:nvSpPr>
        <p:spPr>
          <a:xfrm>
            <a:off x="844512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Exploration, by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EVALUATION APPROACH</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700" b="1" i="0">
                <a:solidFill>
                  <a:srgbClr val="F8F6EE"/>
                </a:solidFill>
                <a:latin typeface="Playfair Display"/>
              </a:rPr>
              <a:t>How we’ll prove the AI works.</a:t>
            </a:r>
          </a:p>
        </p:txBody>
      </p:sp>
      <p:sp>
        <p:nvSpPr>
          <p:cNvPr id="5" name="Rounded Rectangle 4"/>
          <p:cNvSpPr/>
          <p:nvPr/>
        </p:nvSpPr>
        <p:spPr>
          <a:xfrm>
            <a:off x="54864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864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1</a:t>
            </a:r>
          </a:p>
        </p:txBody>
      </p:sp>
      <p:sp>
        <p:nvSpPr>
          <p:cNvPr id="7" name="TextBox 6"/>
          <p:cNvSpPr txBox="1"/>
          <p:nvPr/>
        </p:nvSpPr>
        <p:spPr>
          <a:xfrm>
            <a:off x="84864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Reference set</a:t>
            </a:r>
          </a:p>
        </p:txBody>
      </p:sp>
      <p:sp>
        <p:nvSpPr>
          <p:cNvPr id="8" name="TextBox 7"/>
          <p:cNvSpPr txBox="1"/>
          <p:nvPr/>
        </p:nvSpPr>
        <p:spPr>
          <a:xfrm>
            <a:off x="84864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Build an expert-reviewed IT reference set — gold scenarios paired with gold judgments and rubrics.</a:t>
            </a:r>
          </a:p>
        </p:txBody>
      </p:sp>
      <p:sp>
        <p:nvSpPr>
          <p:cNvPr id="9" name="TextBox 8"/>
          <p:cNvSpPr txBox="1"/>
          <p:nvPr/>
        </p:nvSpPr>
        <p:spPr>
          <a:xfrm>
            <a:off x="84864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Expert-authored</a:t>
            </a:r>
          </a:p>
        </p:txBody>
      </p:sp>
      <p:sp>
        <p:nvSpPr>
          <p:cNvPr id="10" name="Rounded Rectangle 9"/>
          <p:cNvSpPr/>
          <p:nvPr/>
        </p:nvSpPr>
        <p:spPr>
          <a:xfrm>
            <a:off x="434688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44688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2</a:t>
            </a:r>
          </a:p>
        </p:txBody>
      </p:sp>
      <p:sp>
        <p:nvSpPr>
          <p:cNvPr id="12" name="TextBox 11"/>
          <p:cNvSpPr txBox="1"/>
          <p:nvPr/>
        </p:nvSpPr>
        <p:spPr>
          <a:xfrm>
            <a:off x="464688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What we measure</a:t>
            </a:r>
          </a:p>
        </p:txBody>
      </p:sp>
      <p:sp>
        <p:nvSpPr>
          <p:cNvPr id="13" name="TextBox 12"/>
          <p:cNvSpPr txBox="1"/>
          <p:nvPr/>
        </p:nvSpPr>
        <p:spPr>
          <a:xfrm>
            <a:off x="464688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Generation quality — realistic and faithful to the seed; and judging accuracy — agreement with expert scoring.</a:t>
            </a:r>
          </a:p>
        </p:txBody>
      </p:sp>
      <p:sp>
        <p:nvSpPr>
          <p:cNvPr id="14" name="TextBox 13"/>
          <p:cNvSpPr txBox="1"/>
          <p:nvPr/>
        </p:nvSpPr>
        <p:spPr>
          <a:xfrm>
            <a:off x="464688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Two axes</a:t>
            </a:r>
          </a:p>
        </p:txBody>
      </p:sp>
      <p:sp>
        <p:nvSpPr>
          <p:cNvPr id="15" name="Rounded Rectangle 14"/>
          <p:cNvSpPr/>
          <p:nvPr/>
        </p:nvSpPr>
        <p:spPr>
          <a:xfrm>
            <a:off x="8145120" y="1980000"/>
            <a:ext cx="3498240" cy="34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45120" y="2150000"/>
            <a:ext cx="520000" cy="520000"/>
          </a:xfrm>
          <a:prstGeom prst="ellipse">
            <a:avLst/>
          </a:prstGeom>
          <a:solidFill>
            <a:srgbClr val="D4B06A"/>
          </a:solidFill>
          <a:ln w="12700">
            <a:solidFill>
              <a:srgbClr val="0A102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i="0">
                <a:solidFill>
                  <a:srgbClr val="0A1026"/>
                </a:solidFill>
                <a:latin typeface="Montserrat"/>
              </a:rPr>
              <a:t>3</a:t>
            </a:r>
          </a:p>
        </p:txBody>
      </p:sp>
      <p:sp>
        <p:nvSpPr>
          <p:cNvPr id="17" name="TextBox 16"/>
          <p:cNvSpPr txBox="1"/>
          <p:nvPr/>
        </p:nvSpPr>
        <p:spPr>
          <a:xfrm>
            <a:off x="8445120" y="2780000"/>
            <a:ext cx="2898240" cy="760000"/>
          </a:xfrm>
          <a:prstGeom prst="rect">
            <a:avLst/>
          </a:prstGeom>
          <a:noFill/>
        </p:spPr>
        <p:txBody>
          <a:bodyPr wrap="square" lIns="0" rIns="0" tIns="0" bIns="0" anchor="t">
            <a:spAutoFit/>
          </a:bodyPr>
          <a:lstStyle/>
          <a:p>
            <a:pPr algn="l">
              <a:lnSpc>
                <a:spcPct val="105000"/>
              </a:lnSpc>
              <a:spcBef>
                <a:spcPts val="0"/>
              </a:spcBef>
              <a:spcAft>
                <a:spcPts val="0"/>
              </a:spcAft>
            </a:pPr>
            <a:r>
              <a:rPr sz="1550" b="1" i="0">
                <a:solidFill>
                  <a:srgbClr val="F0D79A"/>
                </a:solidFill>
                <a:latin typeface="Montserrat"/>
              </a:rPr>
              <a:t>Why it’s feasible</a:t>
            </a:r>
          </a:p>
        </p:txBody>
      </p:sp>
      <p:sp>
        <p:nvSpPr>
          <p:cNvPr id="18" name="TextBox 17"/>
          <p:cNvSpPr txBox="1"/>
          <p:nvPr/>
        </p:nvSpPr>
        <p:spPr>
          <a:xfrm>
            <a:off x="8445120" y="3540000"/>
            <a:ext cx="2898240" cy="1350000"/>
          </a:xfrm>
          <a:prstGeom prst="rect">
            <a:avLst/>
          </a:prstGeom>
          <a:noFill/>
        </p:spPr>
        <p:txBody>
          <a:bodyPr wrap="square" lIns="0" rIns="0" tIns="0" bIns="0" anchor="t">
            <a:spAutoFit/>
          </a:bodyPr>
          <a:lstStyle/>
          <a:p>
            <a:pPr algn="l">
              <a:lnSpc>
                <a:spcPct val="115000"/>
              </a:lnSpc>
              <a:spcBef>
                <a:spcPts val="0"/>
              </a:spcBef>
              <a:spcAft>
                <a:spcPts val="0"/>
              </a:spcAft>
            </a:pPr>
            <a:r>
              <a:rPr sz="1250" b="0" i="0">
                <a:solidFill>
                  <a:srgbClr val="F8F6EE"/>
                </a:solidFill>
                <a:latin typeface="Montserrat"/>
              </a:rPr>
              <a:t>Offline and self-contained — no large user study — because scope is IT-only and it’s our own domain.</a:t>
            </a:r>
          </a:p>
        </p:txBody>
      </p:sp>
      <p:sp>
        <p:nvSpPr>
          <p:cNvPr id="19" name="TextBox 18"/>
          <p:cNvSpPr txBox="1"/>
          <p:nvPr/>
        </p:nvSpPr>
        <p:spPr>
          <a:xfrm>
            <a:off x="8445120" y="4870000"/>
            <a:ext cx="2898240" cy="420000"/>
          </a:xfrm>
          <a:prstGeom prst="rect">
            <a:avLst/>
          </a:prstGeom>
          <a:noFill/>
        </p:spPr>
        <p:txBody>
          <a:bodyPr wrap="square" lIns="0" rIns="0" tIns="0" bIns="0" anchor="b">
            <a:spAutoFit/>
          </a:bodyPr>
          <a:lstStyle/>
          <a:p>
            <a:pPr algn="l">
              <a:lnSpc>
                <a:spcPct val="105000"/>
              </a:lnSpc>
              <a:spcBef>
                <a:spcPts val="0"/>
              </a:spcBef>
              <a:spcAft>
                <a:spcPts val="0"/>
              </a:spcAft>
            </a:pPr>
            <a:r>
              <a:rPr sz="1050" b="0" i="1">
                <a:solidFill>
                  <a:srgbClr val="D4B06A"/>
                </a:solidFill>
                <a:latin typeface="Montserrat"/>
              </a:rPr>
              <a:t>Offline · IT-scoped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48640" y="372048"/>
            <a:ext cx="9000000" cy="340000"/>
          </a:xfrm>
          <a:prstGeom prst="rect">
            <a:avLst/>
          </a:prstGeom>
          <a:noFill/>
        </p:spPr>
        <p:txBody>
          <a:bodyPr wrap="square" lIns="0" rIns="0" tIns="0" bIns="0" anchor="ctr">
            <a:spAutoFit/>
          </a:bodyPr>
          <a:lstStyle/>
          <a:p>
            <a:pPr algn="l">
              <a:spcBef>
                <a:spcPts val="0"/>
              </a:spcBef>
              <a:spcAft>
                <a:spcPts val="0"/>
              </a:spcAft>
            </a:pPr>
            <a:r>
              <a:rPr sz="1300" b="1" i="0" spc="300">
                <a:solidFill>
                  <a:srgbClr val="D4B06A"/>
                </a:solidFill>
                <a:latin typeface="Cinzel"/>
              </a:rPr>
              <a:t>SUMMARY &amp; NEXT STEPS</a:t>
            </a:r>
          </a:p>
        </p:txBody>
      </p:sp>
      <p:sp>
        <p:nvSpPr>
          <p:cNvPr id="4" name="TextBox 3"/>
          <p:cNvSpPr txBox="1"/>
          <p:nvPr/>
        </p:nvSpPr>
        <p:spPr>
          <a:xfrm>
            <a:off x="548640" y="672000"/>
            <a:ext cx="11094720" cy="980000"/>
          </a:xfrm>
          <a:prstGeom prst="rect">
            <a:avLst/>
          </a:prstGeom>
          <a:noFill/>
        </p:spPr>
        <p:txBody>
          <a:bodyPr wrap="square" lIns="0" rIns="0" tIns="0" bIns="0" anchor="t">
            <a:spAutoFit/>
          </a:bodyPr>
          <a:lstStyle/>
          <a:p>
            <a:pPr algn="l">
              <a:lnSpc>
                <a:spcPct val="104000"/>
              </a:lnSpc>
              <a:spcBef>
                <a:spcPts val="0"/>
              </a:spcBef>
              <a:spcAft>
                <a:spcPts val="0"/>
              </a:spcAft>
            </a:pPr>
            <a:r>
              <a:rPr sz="2700" b="1" i="0">
                <a:solidFill>
                  <a:srgbClr val="F8F6EE"/>
                </a:solidFill>
                <a:latin typeface="Playfair Display"/>
              </a:rPr>
              <a:t>Where we are — and what's next.</a:t>
            </a:r>
          </a:p>
        </p:txBody>
      </p:sp>
      <p:sp>
        <p:nvSpPr>
          <p:cNvPr id="5" name="Rounded Rectangle 4"/>
          <p:cNvSpPr/>
          <p:nvPr/>
        </p:nvSpPr>
        <p:spPr>
          <a:xfrm>
            <a:off x="548640" y="1960000"/>
            <a:ext cx="5450000" cy="30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93360" y="1960000"/>
            <a:ext cx="5450000" cy="3050000"/>
          </a:xfrm>
          <a:prstGeom prst="roundRect">
            <a:avLst>
              <a:gd name="adj" fmla="val 4500"/>
            </a:avLst>
          </a:prstGeom>
          <a:solidFill>
            <a:srgbClr val="0A1026">
              <a:alpha val="72000"/>
            </a:srgbClr>
          </a:solidFill>
          <a:ln w="12700">
            <a:solidFill>
              <a:srgbClr val="D4B0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0000" y="2160000"/>
            <a:ext cx="4900000" cy="320000"/>
          </a:xfrm>
          <a:prstGeom prst="rect">
            <a:avLst/>
          </a:prstGeom>
          <a:noFill/>
        </p:spPr>
        <p:txBody>
          <a:bodyPr wrap="square" lIns="0" rIns="0" tIns="0" bIns="0" anchor="ctr">
            <a:spAutoFit/>
          </a:bodyPr>
          <a:lstStyle/>
          <a:p>
            <a:pPr algn="l">
              <a:spcBef>
                <a:spcPts val="0"/>
              </a:spcBef>
              <a:spcAft>
                <a:spcPts val="0"/>
              </a:spcAft>
            </a:pPr>
            <a:r>
              <a:rPr sz="1250" b="1" i="0" spc="250">
                <a:solidFill>
                  <a:srgbClr val="D4B06A"/>
                </a:solidFill>
                <a:latin typeface="Cinzel"/>
              </a:rPr>
              <a:t>COVERED TODAY</a:t>
            </a:r>
          </a:p>
        </p:txBody>
      </p:sp>
      <p:sp>
        <p:nvSpPr>
          <p:cNvPr id="8" name="4-Point Star 7"/>
          <p:cNvSpPr/>
          <p:nvPr/>
        </p:nvSpPr>
        <p:spPr>
          <a:xfrm>
            <a:off x="750000" y="2590000"/>
            <a:ext cx="260000" cy="26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0000" y="2600000"/>
            <a:ext cx="4600000" cy="520000"/>
          </a:xfrm>
          <a:prstGeom prst="rect">
            <a:avLst/>
          </a:prstGeom>
          <a:noFill/>
        </p:spPr>
        <p:txBody>
          <a:bodyPr wrap="square" lIns="0" rIns="0" tIns="0" bIns="0" anchor="t">
            <a:spAutoFit/>
          </a:bodyPr>
          <a:lstStyle/>
          <a:p>
            <a:pPr algn="l">
              <a:lnSpc>
                <a:spcPct val="105000"/>
              </a:lnSpc>
              <a:spcBef>
                <a:spcPts val="0"/>
              </a:spcBef>
              <a:spcAft>
                <a:spcPts val="0"/>
              </a:spcAft>
            </a:pPr>
            <a:r>
              <a:rPr sz="1300" b="0" i="0">
                <a:solidFill>
                  <a:srgbClr val="F8F6EE"/>
                </a:solidFill>
                <a:latin typeface="Montserrat"/>
              </a:rPr>
              <a:t>Topic &amp; field</a:t>
            </a:r>
          </a:p>
        </p:txBody>
      </p:sp>
      <p:sp>
        <p:nvSpPr>
          <p:cNvPr id="10" name="4-Point Star 9"/>
          <p:cNvSpPr/>
          <p:nvPr/>
        </p:nvSpPr>
        <p:spPr>
          <a:xfrm>
            <a:off x="750000" y="3150000"/>
            <a:ext cx="260000" cy="26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0000" y="3160000"/>
            <a:ext cx="4600000" cy="520000"/>
          </a:xfrm>
          <a:prstGeom prst="rect">
            <a:avLst/>
          </a:prstGeom>
          <a:noFill/>
        </p:spPr>
        <p:txBody>
          <a:bodyPr wrap="square" lIns="0" rIns="0" tIns="0" bIns="0" anchor="t">
            <a:spAutoFit/>
          </a:bodyPr>
          <a:lstStyle/>
          <a:p>
            <a:pPr algn="l">
              <a:lnSpc>
                <a:spcPct val="105000"/>
              </a:lnSpc>
              <a:spcBef>
                <a:spcPts val="0"/>
              </a:spcBef>
              <a:spcAft>
                <a:spcPts val="0"/>
              </a:spcAft>
            </a:pPr>
            <a:r>
              <a:rPr sz="1300" b="0" i="0">
                <a:solidFill>
                  <a:srgbClr val="F8F6EE"/>
                </a:solidFill>
                <a:latin typeface="Montserrat"/>
              </a:rPr>
              <a:t>Objectives &amp; scope</a:t>
            </a:r>
          </a:p>
        </p:txBody>
      </p:sp>
      <p:sp>
        <p:nvSpPr>
          <p:cNvPr id="12" name="4-Point Star 11"/>
          <p:cNvSpPr/>
          <p:nvPr/>
        </p:nvSpPr>
        <p:spPr>
          <a:xfrm>
            <a:off x="750000" y="3710000"/>
            <a:ext cx="260000" cy="26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50000" y="3720000"/>
            <a:ext cx="4600000" cy="520000"/>
          </a:xfrm>
          <a:prstGeom prst="rect">
            <a:avLst/>
          </a:prstGeom>
          <a:noFill/>
        </p:spPr>
        <p:txBody>
          <a:bodyPr wrap="square" lIns="0" rIns="0" tIns="0" bIns="0" anchor="t">
            <a:spAutoFit/>
          </a:bodyPr>
          <a:lstStyle/>
          <a:p>
            <a:pPr algn="l">
              <a:lnSpc>
                <a:spcPct val="105000"/>
              </a:lnSpc>
              <a:spcBef>
                <a:spcPts val="0"/>
              </a:spcBef>
              <a:spcAft>
                <a:spcPts val="0"/>
              </a:spcAft>
            </a:pPr>
            <a:r>
              <a:rPr sz="1300" b="0" i="0">
                <a:solidFill>
                  <a:srgbClr val="F8F6EE"/>
                </a:solidFill>
                <a:latin typeface="Montserrat"/>
              </a:rPr>
              <a:t>Theoretical foundations</a:t>
            </a:r>
          </a:p>
        </p:txBody>
      </p:sp>
      <p:sp>
        <p:nvSpPr>
          <p:cNvPr id="14" name="4-Point Star 13"/>
          <p:cNvSpPr/>
          <p:nvPr/>
        </p:nvSpPr>
        <p:spPr>
          <a:xfrm>
            <a:off x="750000" y="4270000"/>
            <a:ext cx="260000" cy="26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0000" y="4280000"/>
            <a:ext cx="4600000" cy="520000"/>
          </a:xfrm>
          <a:prstGeom prst="rect">
            <a:avLst/>
          </a:prstGeom>
          <a:noFill/>
        </p:spPr>
        <p:txBody>
          <a:bodyPr wrap="square" lIns="0" rIns="0" tIns="0" bIns="0" anchor="t">
            <a:spAutoFit/>
          </a:bodyPr>
          <a:lstStyle/>
          <a:p>
            <a:pPr algn="l">
              <a:lnSpc>
                <a:spcPct val="105000"/>
              </a:lnSpc>
              <a:spcBef>
                <a:spcPts val="0"/>
              </a:spcBef>
              <a:spcAft>
                <a:spcPts val="0"/>
              </a:spcAft>
            </a:pPr>
            <a:r>
              <a:rPr sz="1300" b="0" i="0">
                <a:solidFill>
                  <a:srgbClr val="F8F6EE"/>
                </a:solidFill>
                <a:latin typeface="Montserrat"/>
              </a:rPr>
              <a:t>Business processes — loop, lifecycle, a worked example, the skills graph, and evaluation</a:t>
            </a:r>
          </a:p>
        </p:txBody>
      </p:sp>
      <p:sp>
        <p:nvSpPr>
          <p:cNvPr id="16" name="TextBox 15"/>
          <p:cNvSpPr txBox="1"/>
          <p:nvPr/>
        </p:nvSpPr>
        <p:spPr>
          <a:xfrm>
            <a:off x="6465000" y="2160000"/>
            <a:ext cx="4900000" cy="320000"/>
          </a:xfrm>
          <a:prstGeom prst="rect">
            <a:avLst/>
          </a:prstGeom>
          <a:noFill/>
        </p:spPr>
        <p:txBody>
          <a:bodyPr wrap="square" lIns="0" rIns="0" tIns="0" bIns="0" anchor="ctr">
            <a:spAutoFit/>
          </a:bodyPr>
          <a:lstStyle/>
          <a:p>
            <a:pPr algn="l">
              <a:spcBef>
                <a:spcPts val="0"/>
              </a:spcBef>
              <a:spcAft>
                <a:spcPts val="0"/>
              </a:spcAft>
            </a:pPr>
            <a:r>
              <a:rPr sz="1250" b="1" i="0" spc="250">
                <a:solidFill>
                  <a:srgbClr val="D4B06A"/>
                </a:solidFill>
                <a:latin typeface="Cinzel"/>
              </a:rPr>
              <a:t>NEXT</a:t>
            </a:r>
          </a:p>
        </p:txBody>
      </p:sp>
      <p:sp>
        <p:nvSpPr>
          <p:cNvPr id="17" name="4-Point Star 16"/>
          <p:cNvSpPr/>
          <p:nvPr/>
        </p:nvSpPr>
        <p:spPr>
          <a:xfrm>
            <a:off x="6395000" y="2590000"/>
            <a:ext cx="260000" cy="26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95000" y="2600000"/>
            <a:ext cx="4600000" cy="640000"/>
          </a:xfrm>
          <a:prstGeom prst="rect">
            <a:avLst/>
          </a:prstGeom>
          <a:noFill/>
        </p:spPr>
        <p:txBody>
          <a:bodyPr wrap="square" lIns="0" rIns="0" tIns="0" bIns="0" anchor="t">
            <a:spAutoFit/>
          </a:bodyPr>
          <a:lstStyle/>
          <a:p>
            <a:pPr algn="l">
              <a:lnSpc>
                <a:spcPct val="110000"/>
              </a:lnSpc>
              <a:spcBef>
                <a:spcPts val="0"/>
              </a:spcBef>
              <a:spcAft>
                <a:spcPts val="0"/>
              </a:spcAft>
            </a:pPr>
            <a:r>
              <a:rPr sz="1300" b="0" i="0">
                <a:solidFill>
                  <a:srgbClr val="F8F6EE"/>
                </a:solidFill>
                <a:latin typeface="Montserrat"/>
              </a:rPr>
              <a:t>Detail the play loop into full use cases / activity diagrams</a:t>
            </a:r>
          </a:p>
        </p:txBody>
      </p:sp>
      <p:sp>
        <p:nvSpPr>
          <p:cNvPr id="19" name="4-Point Star 18"/>
          <p:cNvSpPr/>
          <p:nvPr/>
        </p:nvSpPr>
        <p:spPr>
          <a:xfrm>
            <a:off x="6395000" y="3290000"/>
            <a:ext cx="260000" cy="26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95000" y="3300000"/>
            <a:ext cx="4600000" cy="640000"/>
          </a:xfrm>
          <a:prstGeom prst="rect">
            <a:avLst/>
          </a:prstGeom>
          <a:noFill/>
        </p:spPr>
        <p:txBody>
          <a:bodyPr wrap="square" lIns="0" rIns="0" tIns="0" bIns="0" anchor="t">
            <a:spAutoFit/>
          </a:bodyPr>
          <a:lstStyle/>
          <a:p>
            <a:pPr algn="l">
              <a:lnSpc>
                <a:spcPct val="110000"/>
              </a:lnSpc>
              <a:spcBef>
                <a:spcPts val="0"/>
              </a:spcBef>
              <a:spcAft>
                <a:spcPts val="0"/>
              </a:spcAft>
            </a:pPr>
            <a:r>
              <a:rPr sz="1300" b="0" i="0">
                <a:solidFill>
                  <a:srgbClr val="F8F6EE"/>
                </a:solidFill>
                <a:latin typeface="Montserrat"/>
              </a:rPr>
              <a:t>Finalize the task-format → judging mapping</a:t>
            </a:r>
          </a:p>
        </p:txBody>
      </p:sp>
      <p:sp>
        <p:nvSpPr>
          <p:cNvPr id="21" name="4-Point Star 20"/>
          <p:cNvSpPr/>
          <p:nvPr/>
        </p:nvSpPr>
        <p:spPr>
          <a:xfrm>
            <a:off x="6395000" y="3990000"/>
            <a:ext cx="260000" cy="260000"/>
          </a:xfrm>
          <a:prstGeom prst="star4">
            <a:avLst>
              <a:gd name="adj" fmla="val 16000"/>
            </a:avLst>
          </a:prstGeom>
          <a:solidFill>
            <a:srgbClr val="D4B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95000" y="4000000"/>
            <a:ext cx="4600000" cy="640000"/>
          </a:xfrm>
          <a:prstGeom prst="rect">
            <a:avLst/>
          </a:prstGeom>
          <a:noFill/>
        </p:spPr>
        <p:txBody>
          <a:bodyPr wrap="square" lIns="0" rIns="0" tIns="0" bIns="0" anchor="t">
            <a:spAutoFit/>
          </a:bodyPr>
          <a:lstStyle/>
          <a:p>
            <a:pPr algn="l">
              <a:lnSpc>
                <a:spcPct val="110000"/>
              </a:lnSpc>
              <a:spcBef>
                <a:spcPts val="0"/>
              </a:spcBef>
              <a:spcAft>
                <a:spcPts val="0"/>
              </a:spcAft>
            </a:pPr>
            <a:r>
              <a:rPr sz="1300" b="0" i="0">
                <a:solidFill>
                  <a:srgbClr val="F8F6EE"/>
                </a:solidFill>
                <a:latin typeface="Montserrat"/>
              </a:rPr>
              <a:t>Design the offline evaluation (reference set, metrics)</a:t>
            </a:r>
          </a:p>
        </p:txBody>
      </p:sp>
      <p:sp>
        <p:nvSpPr>
          <p:cNvPr id="23" name="TextBox 22"/>
          <p:cNvSpPr txBox="1"/>
          <p:nvPr/>
        </p:nvSpPr>
        <p:spPr>
          <a:xfrm>
            <a:off x="0" y="5220000"/>
            <a:ext cx="12192000" cy="620000"/>
          </a:xfrm>
          <a:prstGeom prst="rect">
            <a:avLst/>
          </a:prstGeom>
          <a:noFill/>
        </p:spPr>
        <p:txBody>
          <a:bodyPr wrap="square" lIns="0" rIns="0" tIns="0" bIns="0" anchor="ctr">
            <a:spAutoFit/>
          </a:bodyPr>
          <a:lstStyle/>
          <a:p>
            <a:pPr algn="ctr">
              <a:spcBef>
                <a:spcPts val="0"/>
              </a:spcBef>
              <a:spcAft>
                <a:spcPts val="0"/>
              </a:spcAft>
            </a:pPr>
            <a:r>
              <a:rPr sz="1700" b="0" i="1">
                <a:solidFill>
                  <a:srgbClr val="F0D79A"/>
                </a:solidFill>
                <a:latin typeface="Playfair Display"/>
              </a:rPr>
              <a:t>“Try the job before you pick the career.”   Thank you — we're happy to take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