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Today we report the full Chapters 1 to 5 of the written report — introduction, background, related work, the proposed system, and its analysis. We have three specific decisions we would like from you, and I will name them in a moment so you know what to listen for. (Do not explain the tagline; it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five parts. The first two are compressed — you have seen them before and they have not changed. The weight is on parts three, four and five, which are new since our last meeting and which carry the three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7 September the report has gone from Chapters 1 and 2 to a complete Chapters 1 through 5. Three things are genuinely new. Chapter 3 now derives its comparison criteria from the evidence rather than from our own feature list, and assesses five classes of system against them. Chapter 4 specifies the system: nine business rules, five research problems, and forty-three requirements, each with a priority, a feasibility assessment and a verification method. Chapter 5 models the processes and the use cases, with traceability so that no requirement is left unrealised. The three decisions on the right are what would most help us. The first one is yours by request — you asked that we finalise the criteria once scope was fixed, and scope is now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of our problem has not changed, but I want to state it precisely because everything downstream depends on it. Gati's taxonomy separates three sources of career decision difficulty, and one of them — insufficient information about occupations — is distinct from indecisiveness and from poor self-knowledge. That distinction is the whole basis of our project. People are not primarily unable to decide; they are unable to decide on an adequate basis. The dominant response is psychometric, and psychometric instruments are structurally unable to address that particular difficulty, because they ask about the person rather than supply information about the work. The retest figure is a secondary point but a useful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Vietnam compresses this problem. Entry to higher education is mediated by examination results and benchmark scores, so the field is effectively chosen at seventeen or eighteen, under time pressure, and constrained by score relative to institutional thresholds rather than by any assessment of fit. This survey shows the decision is frequently not the applicant's own. And the labour market data shows the cost is not hypothetical — matched employment is declining and mismatch carries a wage penalty. I should flag that the survey is grey literature, reported in the press from a seminar; we cite it as such in the report and it is not load-bearing for any claim we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realistic job preview literature is forty years old and consistent across four meta-analyses. Two findings matter for our design. Phillips found richer audiovisual previews more effective than written ones, which bears directly on why we deliver this as an interactive scene rather than a description. And Earnest and colleagues found that the effect is mediated by perceived honesty — it depends on the preview's candour, not merely its informational content. That is why one of our business rules mandates that occupational representation include the unfavourable aspects of the work. The reason this approach has not been applied to career exploration is delivery cost, and that is the constraint generative models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and I want to be clear that the scope restriction is methodological rather than convenient. Building a reference set of gold-standard scenarios and expert judgments requires domain expertise we possess only in IT. Without that set, objectives two and five cannot be tested at all. So the restriction is what makes the research claims possible, not a retreat from them. The design is intended to be domain-agnostic even though the evaluated instance is not. The non-goals are equally deliberate: we do not study career outcomes longitudinally, because the time horizon exceeds the project; we do not broker applications or transmit user performance to employers; and we do not claim simulated experience substitutes for employment, because the evidence does not support that claim. I will come back to that last point in Chapter 2 because it constrains what we are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significance, and I want to separate them clearly because they justify different things. Practically, this is a way to get occupational information before commitment, and it rests on three findings rather than on our optimism — previews work, information deficit is the actual obstacle, and performing authentic tasks raises self-efficacy, which SCCT identifies as a determinant of choice. Scientifically, we are not claiming a new technique. Each of our three constituents already exists. The contribution is that they have not been combined, and more importantly that existing prototypes in this area are evaluated through small qualitative or within-subject studies. An evaluation built on an expert-reviewed reference set, reporting chance-corrected agreement and difficulty-stratified performance, gives a more reproducible basis for the claims systems of this kind make. That is the part I would defend as research rather than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here. Kolb gives us the mechanism — a description delivers conceptual content without the experience the model says understanding is constructed from. Chernikova gives us the evidence that this is not a clinical-education artefact: 145 studies, large effect, generalising across domains. The moderator finding is one we take into the design — scaffolding should differ by learner level, which is why novice scenarios carry more context than advanced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our assessment defensible, so I will go slowly. Evidence-centered design splits assessment into three linked models. The third is the one systems usually fail. If a task can be completed by a route that bypasses the target construct, then the evidence model is measuring something other than what it claims. Shute's results held up precisely because her tasks could not be completed without deploying the measured competency. The practical consequence for us is that authoring a task is a psychometric activity, not an editorial one — and that is why our use case UC-08 gives the expert an explicit exception path when a scenario turns out to be passable without the target competency. I will show that in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traditions inform this field, and I want to draw out the two that most systems ignore. Holland and SCCT are the familiar ones — and SCCT matters to us particularly, because mastery experience is a mechanism a performance-based system can reach and a questionnaire cannot. But Super and Krumboltz jointly support a position career systems rarely represent: that a career decision sits inside a whole life, subject to obligations, health, relationships, relocation, changing values. Where a system models fit as a fixed verdict, that dimension is lost. This is not decoration — it is the theoretical justification for two features you will see later. Our roguelike life events exist because Krumboltz says unplanned events are normal, and our five-attribute rating includes work–life balance because Super says fit changes over a life. The consideration carries extra weight in a context where career decisions are made inside strong family expectations, which our survey data indicates.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a moment here because this slide is the one I would ask about if I were you. Two findings in our own evidence base cut against the kind of claim a project like ours usually makes. First, when you disaggregate gamification by psychological need, it does a great deal for how learners feel and very little for what they can do — competence effect of 0.277 against relatedness of 1.776. So any system asserting skill development has to locate that development somewhere other than its reward structures. Ours locates it in task authenticity and in validated assessment. Second, Sitzmann found simulation beats comparison instruction only as a supplement; as a sole method it underperforms, and there is publication bias in the literature besides. So we position JobQuest as informing a choice and building initial self-efficacy, not as a replacement for doing the job. We treat both of these as constraints on our claims rather than objections to argue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our methodological contribution sits, so I will connect it forward. The literature on using language models as judges has gone through three stages, and the third is the one most systems skip. Raw agreement systematically overstates chance-corrected performance — a 41-point gap on one benchmark — and high test–retest consistency can coexist with severe position bias, so consistency is not evidence of validity. Four requirements follow, and each of them appears somewhere concrete in our specification: chance-corrected reporting is in our evaluation design; cross-family evaluation is business rule BR-09, which our system administrator configuration enforces; ordering and length control are in the assessment pipeline; and difficulty stratification is why our reference set has strata. The point is that these are not aspirations in our report — each one is traceable to a rule or 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a question the deck otherwise leaves open — when we say a user can cross into an adjacent occupation, what determines adjacency? The answer is these taxonomies. Both O*NET and ESCO express an occupation as a composition of skills and work activities, so overlap between what a user has demonstrated and what an occupation requires becomes computable rather than asserted. That is business rule BR-03 and data requirements DR-01 through DR-03. The benchmarks on the right matter less for data than for method — they establish how results of this kind are reported, which is what we are following. The practical consequence is that we do not need bespoke data collection for either grounding or evaluation, and that is a large part of why this project is feasible at our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the first to point generative models at career development, and I want to be fair to this literature: it establishes the direction and it produces findings we adopt. From CareerPooler we take the balanced event generation — they deliberately mix favourable and unfavourable outcomes so trajectories are not uniformly positive. From the future-self work we take prospective framing at the entry point. But three limitations recur. The most developed prototypes help a user think about a career rather than perform one. The second group models trajectories while abstracting away from the work. The third improves the guidance conversation and leaves assessment untouched. And across all of them the evaluation practice is the binding limitation — samples of twelve to thirty-six, qualitative or within-subject. Those designs are right for feasibility and user response; they cannot support a claim about assessment accuracy, which needs comparison against an external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international side, each system solves part of our problem and none solves the combination. Forage proves the premise — users will voluntarily attempt work tasks — and gives us a task structure worth copying, but it cannot adapt or scale and it does not assess. Anthropos comes closest to behavioural assessment, but its orientation to hiring determines both what is measured and who receives it. Hidden Door is the instructive one: it is not a career system at all, but it independently corroborates our Chapter 2 finding that authored structure rather than model capability governs narrative consistency, and its architecture is the most directly adaptable element in this whole review. The Vietnamese market is materially homogeneous, and that homogeneity is itself the finding. One caveat I would flag: that claim about no Vietnamese system offering performed simulation should be re-verified close to submission, because this market moves quickly. We say so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most like your judgment on, and the derivation is the reason. If we compared existing systems against the features of our own system, we would produce a table in which we win by construction, and it would be worthless. So each criterion is stated as a general property applicable to any system in this category, and each traces to a section of Chapter 2 rather than to a design preference of ours. C5 is the one exception in that it follows from C4 rather than from a separate literature, and I am happy to hear if you think that should be merged or separately grounded. The ninth attribute, empirical validation, we deliberately did not tabulate, because it describes the evidence for a system rather than a property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matrix by column rather than by row: authored simulation achieves authenticity and candour but cannot adapt or scale and does not assess — its C4 is a fixed model answer, not judgment. Generated simulation achieves authenticity, adaptivity and scale, and where it assesses behaviour it does so for selection and unvalidated, without pathway structure. Interview practice coaches well but the performance is talk about work, not work. Generative narrative systems achieve adaptivity, engagement and scale at high quality while making no representational commitment to any real occupation. Assessment and orientation instruments — including the entire Vietnamese market — achieve pathway navigation while omitting performance altogether and resting on self-report. So every constituent has been demonstrated and the integration has not. Our contribution beyond assembly is the assessment and evaluation layer, where the Chapter 2 requirements get applied to a class of system in which that validation has not previously been reported. You asked us to finalise these criteria and ratings once scope was fixed. Scope is now fixed to IT. Do you approve them, or would you like criteria added, removed or reweighted? [Then stop talking. Let the silence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conventions, each selected against evidence rather than by preference — that is the part I want to emphasise, because in the last meeting these read as product choices. Progression is competence-based because role-play carries the strongest genre-level evidence for skill acquisition. Scenes are branching narrative because narrative is the strongest moderator in the meta-analyses. Events are probabilistic because circumstances bearing on occupational fit genuinely do vary — but that randomisation governs narrative variety only. It is not attached to any reward schedule, and that is deliberate given the evidence linking randomised reward mechanisms to problem gambling. Four user groups. Note that the domain expert is not a supporting role here — that group is what makes our claim that the representations correspond to real work true or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example as last time, moved earlier in the deck, because everything after it is abstract and this makes it concrete. The thing to notice is the division of labour: we author the seed — the required facts, the target competencies and the rubric — and the model expands it into a specific scene. That is the Hidden Door lesson and the Chapter 2 grounding requirement, applied. And the two task types are assessed differently: the structured one deterministically against a key, the free-text one against the expert's rubric. Only the second one is a research risk, and it is what research problem two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rules, and the right-hand column is the important one. Several of these are not product decisions at all — they are Chapter 2 findings made operational. BR-07 exists because Earnest showed perceived honesty is the mediating mechanism, so a preview that hides the bad parts loses the effect. BR-09 exists because of self-preference bias in model-as-judge. BR-06 exists because our assessment's reliability does not support consequential use, so we cap the consequences to match the reliability. That is also, incidentally, what keeps us out of the regulatory territory Anthropos sits in. If any of these looks like over-constraint to you, I would rather hear it now than after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obligations arising from who our users are and what data we hold, and I want to show that each one is already a rule or a requirement rather than a paragraph of intent. Our users may be minors, so we minimise collection and publish only aggregates with suppression thresholds. Our assessment may shape how a young person sees their own capability, which makes the evaluator biases from the earlier slide a fairness problem and not only an accuracy problem — and the answer is to cap the consequences, which BR-06 does by keeping assessment formative and away from employers. And because the realistic job preview evidence has an ethical edge as well as a pedagogical one, we disclose machine generation and we assign accountability for occupational accuracy to the validating expert rather than to the model. Detailed processing policies including third-party model providers are specified in Section 5.3.10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problems, derived from the objectives and the Chapter 2 evidence. RP-1 and RP-2 are the two the project stands or falls on, and they are the two our evaluation is designed to answer. RP-3 is the one I would call genuinely open — O*NET and ESCO give us skill compositions but nothing tells us what overlap threshold constitutes readiness, and we currently expect to set that by expert review rather than derive it. RP-4 and RP-5 are design and method problems rather than empirical unknowns. This is the slide to compress if we are running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difficulties, stated plainly, with what we are doing about each. I will highlight two. Expert authoring cost is our binding constraint — it is the actual reason phase one is a single field, more than any technical limit, and it is why we treat the authoring interface as a first-class component rather than an admin screen. And localisation is the one I would most value your view on: O*NET and ESCO are authored in English for the American and European labour markets, and their occupational structures do not map cleanly onto Vietnamese practice. Our position is that this requires expert adaptation rather than translation — a Vietnamese practitioner deciding what the occupation actually looks like here — but it adds expert time on top of the seed authoring, so it compounds the constraint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forty-three carries three things: a priority, a feasibility assessment, and a verification method — so each requirement states in advance how we will know it is met. FR-06 is the example on screen because it is the one where the requirement and the research problem are the same thing: its verification method is Cohen's kappa against the reference set, which is also how we answer RP-2. The bottom row is where we think the risk concentrates. Our question for you is whether the Must set is the right size for a specialized project phase. We would rather move something to Should now than fail to deliver a Must later. In particular we would value your view on FR-10, the cross-occupation adjacency offer, which we currently have as Should — it is the most visible feature of the whole concept, and also the one depending on the least settled research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user-facing process, with three decision points. The first is the optional orientation — it exists for users who do not know where to start, and it is deliberately not a prerequisite, because making it one would turn us back into an assessment instrument. The second is response type, which determines whether scoring is deterministic or rubric-based. The third is the unlock evaluation, which is where BR-02 and BR-03 actually bite. The full diagram with every branch is in the report at Figure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process that makes our accuracy claim true, so it is worth thirty seconds. Note two things. First, the loop closes — published content returns for revalidation, because occupational practice changes and content about real jobs degrades. Second, the rejection path branches: an expert can reject a single generated scenario, or correct the seed, in which case every prior generation from that seed is invalidated and regenerated. That distinction matters because the seed is where the required facts live. This is also where our cost constraint lives — expert time is the thing that limits how many occupations we can cover, which is exactly why phase one is one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use cases; two of them carry the research. The exception flows are the parts I would point you to, because that is where the Chapter 2 constraints show up as system behaviour. In UC-03, a generation failure never results in an unvalidated scenario reaching a user — we degrade to a previously validated instance instead. In UC-08, if an expert finds the scenario can be passed without exercising the target competency, we do not accept it, because that is exactly the evidence-centered design failure from slide nine. The traceability matrix is in the report; its purpose is to show both directions — every requirement is realised somewhere, and no use case smuggles in behaviour the requirements never specified. The remaining nine use cases are specified in the same tabular form in Appendix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follows directly from the requirements on the generation-and-judging slide. The key decision is that generation quality and assessment accuracy are two constructs and get two instruments — they are never collapsed into one accuracy figure. The reason is diagnostic: there are three distinct ways this can fail, and a single number hides which one occurred. Reporting kappa rather than exact agreement is the non-negotiable part, given the forty-one-point discrepancy documented in the literature. Stratifying by difficulty is the second, because aggregate figures conceal failure on exactly the reasoning-intensive items we most need to assess. And it is offline and self-contained — no large user study — which is what makes it feasible inside this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set expectations before we have results rather than after. The closest precedent to what we are doing reports correlations in the range of 0.28 to 0.33. That is moderate, and moderate is the realistic expectation for open-ended behavioural assessment — if we came back with 0.8 I would suspect our reference set rather than celebrate. The near-zero correlation against prior attainment in that same work is as informative as the headline figure, because it shows the measure is picking up something other than general ability. On the right is what we will not be able to say. We cannot speak to retention, to career decisions, or to workplace transfer, because all three need a time horizon we do not have. We would rather state that boundary in the report than have it asked at the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Chapters 1 through 5.1 are complete and internally consistent — every business rule traces to evidence, every requirement to a use case, every research problem to an evaluation method. Next is the remainder of Chapter 5, the reference set, and the authoring tooling, which we are treating as a first-class component rather than an administrative convenience because expert time is our binding constraint. And the three things we would most value from you today are the criteria approval, your view on whether the Must set is right-sized, and your approval of the evaluation design. Thank you — we are happy to take questions. [If the three asks are still unanswered, ask them again here explicitly,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these behind the close lets you answer anything she opens without carrying the weight in the main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BA3"/>
        </a:solidFill>
      </p:bgPr>
    </p:bg>
    <p:spTree>
      <p:nvGrpSpPr>
        <p:cNvPr id="1" name=""/>
        <p:cNvGrpSpPr/>
        <p:nvPr/>
      </p:nvGrpSpPr>
      <p:grpSpPr>
        <a:xfrm>
          <a:off x="0" y="0"/>
          <a:ext cx="0" cy="0"/>
          <a:chOff x="0" y="0"/>
          <a:chExt cx="0" cy="0"/>
        </a:xfrm>
      </p:grpSpPr>
      <p:sp>
        <p:nvSpPr>
          <p:cNvPr id="2" name="Shape 0"/>
          <p:cNvSpPr/>
          <p:nvPr/>
        </p:nvSpPr>
        <p:spPr>
          <a:xfrm>
            <a:off x="9326880" y="-1371600"/>
            <a:ext cx="4754880" cy="4754880"/>
          </a:xfrm>
          <a:prstGeom prst="ellipse">
            <a:avLst/>
          </a:prstGeom>
          <a:solidFill>
            <a:srgbClr val="0A4BBE"/>
          </a:solidFill>
          <a:ln/>
        </p:spPr>
      </p:sp>
      <p:sp>
        <p:nvSpPr>
          <p:cNvPr id="3" name="Shape 1"/>
          <p:cNvSpPr/>
          <p:nvPr/>
        </p:nvSpPr>
        <p:spPr>
          <a:xfrm>
            <a:off x="10607040" y="3840480"/>
            <a:ext cx="3108960" cy="3108960"/>
          </a:xfrm>
          <a:prstGeom prst="ellipse">
            <a:avLst/>
          </a:prstGeom>
          <a:solidFill>
            <a:srgbClr val="0A4BBE"/>
          </a:solidFill>
          <a:ln/>
        </p:spPr>
      </p:sp>
      <p:sp>
        <p:nvSpPr>
          <p:cNvPr id="4" name="Text 2"/>
          <p:cNvSpPr txBox="1"/>
          <p:nvPr/>
        </p:nvSpPr>
        <p:spPr>
          <a:xfrm>
            <a:off x="566928" y="1325880"/>
            <a:ext cx="11055096" cy="274320"/>
          </a:xfrm>
          <a:prstGeom prst="rect">
            <a:avLst/>
          </a:prstGeom>
          <a:noFill/>
          <a:ln/>
        </p:spPr>
        <p:txBody>
          <a:bodyPr wrap="square" lIns="0" tIns="0" rIns="0" bIns="0" rtlCol="0" anchor="ctr"/>
          <a:lstStyle/>
          <a:p>
            <a:pPr indent="0" marL="0">
              <a:buNone/>
            </a:pPr>
            <a:r>
              <a:rPr lang="en-US" sz="1100" b="1" spc="240" kern="0" dirty="0">
                <a:solidFill>
                  <a:srgbClr val="4A8CFF"/>
                </a:solidFill>
                <a:latin typeface="Montserrat" pitchFamily="34" charset="0"/>
                <a:ea typeface="Montserrat" pitchFamily="34" charset="-122"/>
                <a:cs typeface="Montserrat" pitchFamily="34" charset="-120"/>
              </a:rPr>
              <a:t>SPECIALIZED PROJECT (ĐACN)  ·  HCMUT</a:t>
            </a:r>
            <a:endParaRPr lang="en-US" sz="1100" dirty="0"/>
          </a:p>
        </p:txBody>
      </p:sp>
      <p:sp>
        <p:nvSpPr>
          <p:cNvPr id="5" name="Text 3"/>
          <p:cNvSpPr txBox="1"/>
          <p:nvPr/>
        </p:nvSpPr>
        <p:spPr>
          <a:xfrm>
            <a:off x="566928" y="1691640"/>
            <a:ext cx="8412480" cy="1051560"/>
          </a:xfrm>
          <a:prstGeom prst="rect">
            <a:avLst/>
          </a:prstGeom>
          <a:noFill/>
          <a:ln/>
        </p:spPr>
        <p:txBody>
          <a:bodyPr wrap="square" lIns="0" tIns="0" rIns="0" bIns="0" rtlCol="0" anchor="ctr"/>
          <a:lstStyle/>
          <a:p>
            <a:pPr indent="0" marL="0">
              <a:buNone/>
            </a:pPr>
            <a:r>
              <a:rPr lang="en-US" sz="6000" b="1" dirty="0">
                <a:solidFill>
                  <a:srgbClr val="FFFFFF"/>
                </a:solidFill>
                <a:latin typeface="Montserrat" pitchFamily="34" charset="0"/>
                <a:ea typeface="Montserrat" pitchFamily="34" charset="-122"/>
                <a:cs typeface="Montserrat" pitchFamily="34" charset="-120"/>
              </a:rPr>
              <a:t>JobQuest</a:t>
            </a:r>
            <a:endParaRPr lang="en-US" sz="6000" dirty="0"/>
          </a:p>
        </p:txBody>
      </p:sp>
      <p:sp>
        <p:nvSpPr>
          <p:cNvPr id="6" name="Text 4"/>
          <p:cNvSpPr txBox="1"/>
          <p:nvPr/>
        </p:nvSpPr>
        <p:spPr>
          <a:xfrm>
            <a:off x="566928" y="2761488"/>
            <a:ext cx="8412480" cy="457200"/>
          </a:xfrm>
          <a:prstGeom prst="rect">
            <a:avLst/>
          </a:prstGeom>
          <a:noFill/>
          <a:ln/>
        </p:spPr>
        <p:txBody>
          <a:bodyPr wrap="square" lIns="0" tIns="0" rIns="0" bIns="0" rtlCol="0" anchor="ctr"/>
          <a:lstStyle/>
          <a:p>
            <a:pPr indent="0" marL="0">
              <a:buNone/>
            </a:pPr>
            <a:r>
              <a:rPr lang="en-US" sz="2000" dirty="0">
                <a:solidFill>
                  <a:srgbClr val="CFE0FF"/>
                </a:solidFill>
                <a:latin typeface="Montserrat" pitchFamily="34" charset="0"/>
                <a:ea typeface="Montserrat" pitchFamily="34" charset="-122"/>
                <a:cs typeface="Montserrat" pitchFamily="34" charset="-120"/>
              </a:rPr>
              <a:t>An AI-native experiential career-exploration platform</a:t>
            </a:r>
            <a:endParaRPr lang="en-US" sz="2000" dirty="0"/>
          </a:p>
        </p:txBody>
      </p:sp>
      <p:sp>
        <p:nvSpPr>
          <p:cNvPr id="7" name="Text 5"/>
          <p:cNvSpPr txBox="1"/>
          <p:nvPr/>
        </p:nvSpPr>
        <p:spPr>
          <a:xfrm>
            <a:off x="566928" y="3310128"/>
            <a:ext cx="8412480" cy="411480"/>
          </a:xfrm>
          <a:prstGeom prst="rect">
            <a:avLst/>
          </a:prstGeom>
          <a:noFill/>
          <a:ln/>
        </p:spPr>
        <p:txBody>
          <a:bodyPr wrap="square" lIns="0" tIns="0" rIns="0" bIns="0" rtlCol="0" anchor="ctr"/>
          <a:lstStyle/>
          <a:p>
            <a:pPr indent="0" marL="0">
              <a:buNone/>
            </a:pPr>
            <a:r>
              <a:rPr lang="en-US" sz="1600" i="1" dirty="0">
                <a:solidFill>
                  <a:srgbClr val="4A8CFF"/>
                </a:solidFill>
                <a:latin typeface="Calibri" pitchFamily="34" charset="0"/>
                <a:ea typeface="Calibri" pitchFamily="34" charset="-122"/>
                <a:cs typeface="Calibri" pitchFamily="34" charset="-120"/>
              </a:rPr>
              <a:t>“Try the job before you pick the career.”</a:t>
            </a:r>
            <a:endParaRPr lang="en-US" sz="1600" dirty="0"/>
          </a:p>
        </p:txBody>
      </p:sp>
      <p:sp>
        <p:nvSpPr>
          <p:cNvPr id="8" name="Shape 6"/>
          <p:cNvSpPr/>
          <p:nvPr/>
        </p:nvSpPr>
        <p:spPr>
          <a:xfrm>
            <a:off x="566928" y="4069080"/>
            <a:ext cx="1828800" cy="18288"/>
          </a:xfrm>
          <a:prstGeom prst="rect">
            <a:avLst/>
          </a:prstGeom>
          <a:solidFill>
            <a:srgbClr val="2E63C8"/>
          </a:solidFill>
          <a:ln/>
        </p:spPr>
      </p:sp>
      <p:sp>
        <p:nvSpPr>
          <p:cNvPr id="9" name="Text 7"/>
          <p:cNvSpPr txBox="1"/>
          <p:nvPr/>
        </p:nvSpPr>
        <p:spPr>
          <a:xfrm>
            <a:off x="566928" y="4297680"/>
            <a:ext cx="8412480" cy="822960"/>
          </a:xfrm>
          <a:prstGeom prst="rect">
            <a:avLst/>
          </a:prstGeom>
          <a:noFill/>
          <a:ln/>
        </p:spPr>
        <p:txBody>
          <a:bodyPr wrap="square" lIns="0" tIns="0" rIns="0" bIns="0" rtlCol="0" anchor="ctr"/>
          <a:lstStyle/>
          <a:p>
            <a:pPr indent="0" marL="0">
              <a:lnSpc>
                <a:spcPct val="125000"/>
              </a:lnSpc>
              <a:buNone/>
            </a:pPr>
            <a:r>
              <a:rPr lang="en-US" sz="1400" b="1" dirty="0">
                <a:solidFill>
                  <a:srgbClr val="FFFFFF"/>
                </a:solidFill>
                <a:latin typeface="Calibri" pitchFamily="34" charset="0"/>
                <a:ea typeface="Calibri" pitchFamily="34" charset="-122"/>
                <a:cs typeface="Calibri" pitchFamily="34" charset="-120"/>
              </a:rPr>
              <a:t>Report on Chapters 1–5  ·  18 September 2026
</a:t>
            </a:r>
            <a:pPr indent="0" marL="0">
              <a:lnSpc>
                <a:spcPct val="125000"/>
              </a:lnSpc>
              <a:buNone/>
            </a:pPr>
            <a:r>
              <a:rPr lang="en-US" sz="1400" dirty="0">
                <a:solidFill>
                  <a:srgbClr val="CFE0FF"/>
                </a:solidFill>
                <a:latin typeface="Calibri" pitchFamily="34" charset="0"/>
                <a:ea typeface="Calibri" pitchFamily="34" charset="-122"/>
                <a:cs typeface="Calibri" pitchFamily="34" charset="-120"/>
              </a:rPr>
              <a:t>Advisor: Assoc. Prof. Võ Thị Ngọc Châu  ·  Team: Golden Trio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AGENDA</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Twenty minutes, five parts</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Three of the five parts carry a decision we need from you today.</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66928" y="1847088"/>
            <a:ext cx="11055096" cy="731520"/>
          </a:xfrm>
          <a:prstGeom prst="roundRect">
            <a:avLst>
              <a:gd name="adj" fmla="val 7500"/>
            </a:avLst>
          </a:prstGeom>
          <a:solidFill>
            <a:srgbClr val="F2F6FD"/>
          </a:solidFill>
          <a:ln/>
        </p:spPr>
      </p:sp>
      <p:sp>
        <p:nvSpPr>
          <p:cNvPr id="7" name="Shape 5"/>
          <p:cNvSpPr/>
          <p:nvPr/>
        </p:nvSpPr>
        <p:spPr>
          <a:xfrm>
            <a:off x="749808" y="2048256"/>
            <a:ext cx="329184" cy="329184"/>
          </a:xfrm>
          <a:prstGeom prst="ellipse">
            <a:avLst/>
          </a:prstGeom>
          <a:solidFill>
            <a:srgbClr val="003BA3"/>
          </a:solidFill>
          <a:ln/>
        </p:spPr>
      </p:sp>
      <p:sp>
        <p:nvSpPr>
          <p:cNvPr id="8" name="Text 6"/>
          <p:cNvSpPr txBox="1"/>
          <p:nvPr/>
        </p:nvSpPr>
        <p:spPr>
          <a:xfrm>
            <a:off x="749808"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9" name="Text 7"/>
          <p:cNvSpPr txBox="1"/>
          <p:nvPr/>
        </p:nvSpPr>
        <p:spPr>
          <a:xfrm>
            <a:off x="1243584" y="1847088"/>
            <a:ext cx="6035040" cy="731520"/>
          </a:xfrm>
          <a:prstGeom prst="rect">
            <a:avLst/>
          </a:prstGeom>
          <a:noFill/>
          <a:ln/>
        </p:spPr>
        <p:txBody>
          <a:bodyPr wrap="square" lIns="0" tIns="0" rIns="0" bIns="0" rtlCol="0" anchor="ctr"/>
          <a:lstStyle/>
          <a:p>
            <a:pPr indent="0" marL="0">
              <a:buNone/>
            </a:pPr>
            <a:r>
              <a:rPr lang="en-US" sz="1500" b="1" dirty="0">
                <a:solidFill>
                  <a:srgbClr val="003BA3"/>
                </a:solidFill>
                <a:latin typeface="Montserrat" pitchFamily="34" charset="0"/>
                <a:ea typeface="Montserrat" pitchFamily="34" charset="-122"/>
                <a:cs typeface="Montserrat" pitchFamily="34" charset="-120"/>
              </a:rPr>
              <a:t>Problem and mandate</a:t>
            </a:r>
            <a:endParaRPr lang="en-US" sz="1500" dirty="0"/>
          </a:p>
        </p:txBody>
      </p:sp>
      <p:sp>
        <p:nvSpPr>
          <p:cNvPr id="10" name="Text 8"/>
          <p:cNvSpPr txBox="1"/>
          <p:nvPr/>
        </p:nvSpPr>
        <p:spPr>
          <a:xfrm>
            <a:off x="7333488" y="1847088"/>
            <a:ext cx="4105656" cy="731520"/>
          </a:xfrm>
          <a:prstGeom prst="rect">
            <a:avLst/>
          </a:prstGeom>
          <a:noFill/>
          <a:ln/>
        </p:spPr>
        <p:txBody>
          <a:bodyPr wrap="square" lIns="0" tIns="0" rIns="0" bIns="0" rtlCol="0" anchor="ctr"/>
          <a:lstStyle/>
          <a:p>
            <a:pPr algn="r" indent="0" marL="0">
              <a:buNone/>
            </a:pPr>
            <a:r>
              <a:rPr lang="en-US" sz="1250" dirty="0">
                <a:solidFill>
                  <a:srgbClr val="6B7585"/>
                </a:solidFill>
                <a:latin typeface="Calibri" pitchFamily="34" charset="0"/>
                <a:ea typeface="Calibri" pitchFamily="34" charset="-122"/>
                <a:cs typeface="Calibri" pitchFamily="34" charset="-120"/>
              </a:rPr>
              <a:t>Chapter 1</a:t>
            </a:r>
            <a:endParaRPr lang="en-US" sz="1250" dirty="0"/>
          </a:p>
        </p:txBody>
      </p:sp>
      <p:sp>
        <p:nvSpPr>
          <p:cNvPr id="11" name="Shape 9"/>
          <p:cNvSpPr/>
          <p:nvPr/>
        </p:nvSpPr>
        <p:spPr>
          <a:xfrm>
            <a:off x="566928" y="2688336"/>
            <a:ext cx="11055096" cy="731520"/>
          </a:xfrm>
          <a:prstGeom prst="roundRect">
            <a:avLst>
              <a:gd name="adj" fmla="val 7500"/>
            </a:avLst>
          </a:prstGeom>
          <a:solidFill>
            <a:srgbClr val="F2F6FD"/>
          </a:solidFill>
          <a:ln/>
        </p:spPr>
      </p:sp>
      <p:sp>
        <p:nvSpPr>
          <p:cNvPr id="12" name="Shape 10"/>
          <p:cNvSpPr/>
          <p:nvPr/>
        </p:nvSpPr>
        <p:spPr>
          <a:xfrm>
            <a:off x="749808" y="2889504"/>
            <a:ext cx="329184" cy="329184"/>
          </a:xfrm>
          <a:prstGeom prst="ellipse">
            <a:avLst/>
          </a:prstGeom>
          <a:solidFill>
            <a:srgbClr val="003BA3"/>
          </a:solidFill>
          <a:ln/>
        </p:spPr>
      </p:sp>
      <p:sp>
        <p:nvSpPr>
          <p:cNvPr id="13" name="Text 11"/>
          <p:cNvSpPr txBox="1"/>
          <p:nvPr/>
        </p:nvSpPr>
        <p:spPr>
          <a:xfrm>
            <a:off x="749808" y="28895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4" name="Text 12"/>
          <p:cNvSpPr txBox="1"/>
          <p:nvPr/>
        </p:nvSpPr>
        <p:spPr>
          <a:xfrm>
            <a:off x="1243584" y="2688336"/>
            <a:ext cx="6035040" cy="731520"/>
          </a:xfrm>
          <a:prstGeom prst="rect">
            <a:avLst/>
          </a:prstGeom>
          <a:noFill/>
          <a:ln/>
        </p:spPr>
        <p:txBody>
          <a:bodyPr wrap="square" lIns="0" tIns="0" rIns="0" bIns="0" rtlCol="0" anchor="ctr"/>
          <a:lstStyle/>
          <a:p>
            <a:pPr indent="0" marL="0">
              <a:buNone/>
            </a:pPr>
            <a:r>
              <a:rPr lang="en-US" sz="1500" b="1" dirty="0">
                <a:solidFill>
                  <a:srgbClr val="003BA3"/>
                </a:solidFill>
                <a:latin typeface="Montserrat" pitchFamily="34" charset="0"/>
                <a:ea typeface="Montserrat" pitchFamily="34" charset="-122"/>
                <a:cs typeface="Montserrat" pitchFamily="34" charset="-120"/>
              </a:rPr>
              <a:t>Evidence base</a:t>
            </a:r>
            <a:endParaRPr lang="en-US" sz="1500" dirty="0"/>
          </a:p>
        </p:txBody>
      </p:sp>
      <p:sp>
        <p:nvSpPr>
          <p:cNvPr id="15" name="Text 13"/>
          <p:cNvSpPr txBox="1"/>
          <p:nvPr/>
        </p:nvSpPr>
        <p:spPr>
          <a:xfrm>
            <a:off x="7333488" y="2688336"/>
            <a:ext cx="4105656" cy="731520"/>
          </a:xfrm>
          <a:prstGeom prst="rect">
            <a:avLst/>
          </a:prstGeom>
          <a:noFill/>
          <a:ln/>
        </p:spPr>
        <p:txBody>
          <a:bodyPr wrap="square" lIns="0" tIns="0" rIns="0" bIns="0" rtlCol="0" anchor="ctr"/>
          <a:lstStyle/>
          <a:p>
            <a:pPr algn="r" indent="0" marL="0">
              <a:buNone/>
            </a:pPr>
            <a:r>
              <a:rPr lang="en-US" sz="1250" dirty="0">
                <a:solidFill>
                  <a:srgbClr val="6B7585"/>
                </a:solidFill>
                <a:latin typeface="Calibri" pitchFamily="34" charset="0"/>
                <a:ea typeface="Calibri" pitchFamily="34" charset="-122"/>
                <a:cs typeface="Calibri" pitchFamily="34" charset="-120"/>
              </a:rPr>
              <a:t>Chapter 2</a:t>
            </a:r>
            <a:endParaRPr lang="en-US" sz="1250" dirty="0"/>
          </a:p>
        </p:txBody>
      </p:sp>
      <p:sp>
        <p:nvSpPr>
          <p:cNvPr id="16" name="Shape 14"/>
          <p:cNvSpPr/>
          <p:nvPr/>
        </p:nvSpPr>
        <p:spPr>
          <a:xfrm>
            <a:off x="566928" y="3529584"/>
            <a:ext cx="11055096" cy="731520"/>
          </a:xfrm>
          <a:prstGeom prst="roundRect">
            <a:avLst>
              <a:gd name="adj" fmla="val 7500"/>
            </a:avLst>
          </a:prstGeom>
          <a:solidFill>
            <a:srgbClr val="FFF4E0"/>
          </a:solidFill>
          <a:ln/>
        </p:spPr>
      </p:sp>
      <p:sp>
        <p:nvSpPr>
          <p:cNvPr id="17" name="Shape 15"/>
          <p:cNvSpPr/>
          <p:nvPr/>
        </p:nvSpPr>
        <p:spPr>
          <a:xfrm>
            <a:off x="749808" y="3730752"/>
            <a:ext cx="329184" cy="329184"/>
          </a:xfrm>
          <a:prstGeom prst="ellipse">
            <a:avLst/>
          </a:prstGeom>
          <a:solidFill>
            <a:srgbClr val="B26B00"/>
          </a:solidFill>
          <a:ln/>
        </p:spPr>
      </p:sp>
      <p:sp>
        <p:nvSpPr>
          <p:cNvPr id="18" name="Text 16"/>
          <p:cNvSpPr txBox="1"/>
          <p:nvPr/>
        </p:nvSpPr>
        <p:spPr>
          <a:xfrm>
            <a:off x="749808" y="37307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9" name="Text 17"/>
          <p:cNvSpPr txBox="1"/>
          <p:nvPr/>
        </p:nvSpPr>
        <p:spPr>
          <a:xfrm>
            <a:off x="1243584" y="3529584"/>
            <a:ext cx="6035040" cy="731520"/>
          </a:xfrm>
          <a:prstGeom prst="rect">
            <a:avLst/>
          </a:prstGeom>
          <a:noFill/>
          <a:ln/>
        </p:spPr>
        <p:txBody>
          <a:bodyPr wrap="square" lIns="0" tIns="0" rIns="0" bIns="0" rtlCol="0" anchor="ctr"/>
          <a:lstStyle/>
          <a:p>
            <a:pPr indent="0" marL="0">
              <a:buNone/>
            </a:pPr>
            <a:r>
              <a:rPr lang="en-US" sz="1500" b="1" dirty="0">
                <a:solidFill>
                  <a:srgbClr val="4A3000"/>
                </a:solidFill>
                <a:latin typeface="Montserrat" pitchFamily="34" charset="0"/>
                <a:ea typeface="Montserrat" pitchFamily="34" charset="-122"/>
                <a:cs typeface="Montserrat" pitchFamily="34" charset="-120"/>
              </a:rPr>
              <a:t>Related work and the gap</a:t>
            </a:r>
            <a:endParaRPr lang="en-US" sz="1500" dirty="0"/>
          </a:p>
        </p:txBody>
      </p:sp>
      <p:sp>
        <p:nvSpPr>
          <p:cNvPr id="20" name="Text 18"/>
          <p:cNvSpPr txBox="1"/>
          <p:nvPr/>
        </p:nvSpPr>
        <p:spPr>
          <a:xfrm>
            <a:off x="7333488" y="3529584"/>
            <a:ext cx="4105656" cy="731520"/>
          </a:xfrm>
          <a:prstGeom prst="rect">
            <a:avLst/>
          </a:prstGeom>
          <a:noFill/>
          <a:ln/>
        </p:spPr>
        <p:txBody>
          <a:bodyPr wrap="square" lIns="0" tIns="0" rIns="0" bIns="0" rtlCol="0" anchor="ctr"/>
          <a:lstStyle/>
          <a:p>
            <a:pPr algn="r" indent="0" marL="0">
              <a:buNone/>
            </a:pPr>
            <a:r>
              <a:rPr lang="en-US" sz="1250" dirty="0">
                <a:solidFill>
                  <a:srgbClr val="B26B00"/>
                </a:solidFill>
                <a:latin typeface="Calibri" pitchFamily="34" charset="0"/>
                <a:ea typeface="Calibri" pitchFamily="34" charset="-122"/>
                <a:cs typeface="Calibri" pitchFamily="34" charset="-120"/>
              </a:rPr>
              <a:t>Chapter 3   ·   ASK 1</a:t>
            </a:r>
            <a:endParaRPr lang="en-US" sz="1250" dirty="0"/>
          </a:p>
        </p:txBody>
      </p:sp>
      <p:sp>
        <p:nvSpPr>
          <p:cNvPr id="21" name="Shape 19"/>
          <p:cNvSpPr/>
          <p:nvPr/>
        </p:nvSpPr>
        <p:spPr>
          <a:xfrm>
            <a:off x="566928" y="4370832"/>
            <a:ext cx="11055096" cy="731520"/>
          </a:xfrm>
          <a:prstGeom prst="roundRect">
            <a:avLst>
              <a:gd name="adj" fmla="val 7500"/>
            </a:avLst>
          </a:prstGeom>
          <a:solidFill>
            <a:srgbClr val="FFF4E0"/>
          </a:solidFill>
          <a:ln/>
        </p:spPr>
      </p:sp>
      <p:sp>
        <p:nvSpPr>
          <p:cNvPr id="22" name="Shape 20"/>
          <p:cNvSpPr/>
          <p:nvPr/>
        </p:nvSpPr>
        <p:spPr>
          <a:xfrm>
            <a:off x="749808" y="4572000"/>
            <a:ext cx="329184" cy="329184"/>
          </a:xfrm>
          <a:prstGeom prst="ellipse">
            <a:avLst/>
          </a:prstGeom>
          <a:solidFill>
            <a:srgbClr val="B26B00"/>
          </a:solidFill>
          <a:ln/>
        </p:spPr>
      </p:sp>
      <p:sp>
        <p:nvSpPr>
          <p:cNvPr id="23" name="Text 21"/>
          <p:cNvSpPr txBox="1"/>
          <p:nvPr/>
        </p:nvSpPr>
        <p:spPr>
          <a:xfrm>
            <a:off x="749808" y="45720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24" name="Text 22"/>
          <p:cNvSpPr txBox="1"/>
          <p:nvPr/>
        </p:nvSpPr>
        <p:spPr>
          <a:xfrm>
            <a:off x="1243584" y="4370832"/>
            <a:ext cx="6035040" cy="731520"/>
          </a:xfrm>
          <a:prstGeom prst="rect">
            <a:avLst/>
          </a:prstGeom>
          <a:noFill/>
          <a:ln/>
        </p:spPr>
        <p:txBody>
          <a:bodyPr wrap="square" lIns="0" tIns="0" rIns="0" bIns="0" rtlCol="0" anchor="ctr"/>
          <a:lstStyle/>
          <a:p>
            <a:pPr indent="0" marL="0">
              <a:buNone/>
            </a:pPr>
            <a:r>
              <a:rPr lang="en-US" sz="1500" b="1" dirty="0">
                <a:solidFill>
                  <a:srgbClr val="4A3000"/>
                </a:solidFill>
                <a:latin typeface="Montserrat" pitchFamily="34" charset="0"/>
                <a:ea typeface="Montserrat" pitchFamily="34" charset="-122"/>
                <a:cs typeface="Montserrat" pitchFamily="34" charset="-120"/>
              </a:rPr>
              <a:t>The proposed system</a:t>
            </a:r>
            <a:endParaRPr lang="en-US" sz="1500" dirty="0"/>
          </a:p>
        </p:txBody>
      </p:sp>
      <p:sp>
        <p:nvSpPr>
          <p:cNvPr id="25" name="Text 23"/>
          <p:cNvSpPr txBox="1"/>
          <p:nvPr/>
        </p:nvSpPr>
        <p:spPr>
          <a:xfrm>
            <a:off x="7333488" y="4370832"/>
            <a:ext cx="4105656" cy="731520"/>
          </a:xfrm>
          <a:prstGeom prst="rect">
            <a:avLst/>
          </a:prstGeom>
          <a:noFill/>
          <a:ln/>
        </p:spPr>
        <p:txBody>
          <a:bodyPr wrap="square" lIns="0" tIns="0" rIns="0" bIns="0" rtlCol="0" anchor="ctr"/>
          <a:lstStyle/>
          <a:p>
            <a:pPr algn="r" indent="0" marL="0">
              <a:buNone/>
            </a:pPr>
            <a:r>
              <a:rPr lang="en-US" sz="1250" dirty="0">
                <a:solidFill>
                  <a:srgbClr val="B26B00"/>
                </a:solidFill>
                <a:latin typeface="Calibri" pitchFamily="34" charset="0"/>
                <a:ea typeface="Calibri" pitchFamily="34" charset="-122"/>
                <a:cs typeface="Calibri" pitchFamily="34" charset="-120"/>
              </a:rPr>
              <a:t>Chapter 4   ·   ASK 2</a:t>
            </a:r>
            <a:endParaRPr lang="en-US" sz="1250" dirty="0"/>
          </a:p>
        </p:txBody>
      </p:sp>
      <p:sp>
        <p:nvSpPr>
          <p:cNvPr id="26" name="Shape 24"/>
          <p:cNvSpPr/>
          <p:nvPr/>
        </p:nvSpPr>
        <p:spPr>
          <a:xfrm>
            <a:off x="566928" y="5212080"/>
            <a:ext cx="11055096" cy="731520"/>
          </a:xfrm>
          <a:prstGeom prst="roundRect">
            <a:avLst>
              <a:gd name="adj" fmla="val 7500"/>
            </a:avLst>
          </a:prstGeom>
          <a:solidFill>
            <a:srgbClr val="FFF4E0"/>
          </a:solidFill>
          <a:ln/>
        </p:spPr>
      </p:sp>
      <p:sp>
        <p:nvSpPr>
          <p:cNvPr id="27" name="Shape 25"/>
          <p:cNvSpPr/>
          <p:nvPr/>
        </p:nvSpPr>
        <p:spPr>
          <a:xfrm>
            <a:off x="749808" y="5413248"/>
            <a:ext cx="329184" cy="329184"/>
          </a:xfrm>
          <a:prstGeom prst="ellipse">
            <a:avLst/>
          </a:prstGeom>
          <a:solidFill>
            <a:srgbClr val="B26B00"/>
          </a:solidFill>
          <a:ln/>
        </p:spPr>
      </p:sp>
      <p:sp>
        <p:nvSpPr>
          <p:cNvPr id="28" name="Text 26"/>
          <p:cNvSpPr txBox="1"/>
          <p:nvPr/>
        </p:nvSpPr>
        <p:spPr>
          <a:xfrm>
            <a:off x="749808" y="5413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29" name="Text 27"/>
          <p:cNvSpPr txBox="1"/>
          <p:nvPr/>
        </p:nvSpPr>
        <p:spPr>
          <a:xfrm>
            <a:off x="1243584" y="5212080"/>
            <a:ext cx="6035040" cy="731520"/>
          </a:xfrm>
          <a:prstGeom prst="rect">
            <a:avLst/>
          </a:prstGeom>
          <a:noFill/>
          <a:ln/>
        </p:spPr>
        <p:txBody>
          <a:bodyPr wrap="square" lIns="0" tIns="0" rIns="0" bIns="0" rtlCol="0" anchor="ctr"/>
          <a:lstStyle/>
          <a:p>
            <a:pPr indent="0" marL="0">
              <a:buNone/>
            </a:pPr>
            <a:r>
              <a:rPr lang="en-US" sz="1500" b="1" dirty="0">
                <a:solidFill>
                  <a:srgbClr val="4A3000"/>
                </a:solidFill>
                <a:latin typeface="Montserrat" pitchFamily="34" charset="0"/>
                <a:ea typeface="Montserrat" pitchFamily="34" charset="-122"/>
                <a:cs typeface="Montserrat" pitchFamily="34" charset="-120"/>
              </a:rPr>
              <a:t>Analysis, evaluation, next steps</a:t>
            </a:r>
            <a:endParaRPr lang="en-US" sz="1500" dirty="0"/>
          </a:p>
        </p:txBody>
      </p:sp>
      <p:sp>
        <p:nvSpPr>
          <p:cNvPr id="30" name="Text 28"/>
          <p:cNvSpPr txBox="1"/>
          <p:nvPr/>
        </p:nvSpPr>
        <p:spPr>
          <a:xfrm>
            <a:off x="7333488" y="5212080"/>
            <a:ext cx="4105656" cy="731520"/>
          </a:xfrm>
          <a:prstGeom prst="rect">
            <a:avLst/>
          </a:prstGeom>
          <a:noFill/>
          <a:ln/>
        </p:spPr>
        <p:txBody>
          <a:bodyPr wrap="square" lIns="0" tIns="0" rIns="0" bIns="0" rtlCol="0" anchor="ctr"/>
          <a:lstStyle/>
          <a:p>
            <a:pPr algn="r" indent="0" marL="0">
              <a:buNone/>
            </a:pPr>
            <a:r>
              <a:rPr lang="en-US" sz="1250" dirty="0">
                <a:solidFill>
                  <a:srgbClr val="B26B00"/>
                </a:solidFill>
                <a:latin typeface="Calibri" pitchFamily="34" charset="0"/>
                <a:ea typeface="Calibri" pitchFamily="34" charset="-122"/>
                <a:cs typeface="Calibri" pitchFamily="34" charset="-120"/>
              </a:rPr>
              <a:t>Chapter 5   ·   ASK 3</a:t>
            </a:r>
            <a:endParaRPr lang="en-US" sz="1250" dirty="0"/>
          </a:p>
        </p:txBody>
      </p:sp>
      <p:sp>
        <p:nvSpPr>
          <p:cNvPr id="31" name="Text 29"/>
          <p:cNvSpPr txBox="1"/>
          <p:nvPr/>
        </p:nvSpPr>
        <p:spPr>
          <a:xfrm>
            <a:off x="566928" y="6236208"/>
            <a:ext cx="11055096" cy="320040"/>
          </a:xfrm>
          <a:prstGeom prst="rect">
            <a:avLst/>
          </a:prstGeom>
          <a:noFill/>
          <a:ln/>
        </p:spPr>
        <p:txBody>
          <a:bodyPr wrap="square" lIns="0" tIns="0" rIns="0" bIns="0" rtlCol="0" anchor="ctr"/>
          <a:lstStyle/>
          <a:p>
            <a:pPr indent="0" marL="0">
              <a:buNone/>
            </a:pPr>
            <a:r>
              <a:rPr lang="en-US" sz="1200" i="1" dirty="0">
                <a:solidFill>
                  <a:srgbClr val="6B7585"/>
                </a:solidFill>
                <a:latin typeface="Calibri" pitchFamily="34" charset="0"/>
                <a:ea typeface="Calibri" pitchFamily="34" charset="-122"/>
                <a:cs typeface="Calibri" pitchFamily="34" charset="-120"/>
              </a:rPr>
              <a:t>This deck reports Chapters 1 to 5.1. Implementation, testing, evaluation and conclusions follow in Chapters 6 to 8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PROGRESS</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Since 7 September</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From Chapters 1–2 to a complete Chapters 1–5.1.</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3</a:t>
            </a:r>
            <a:endParaRPr lang="en-US" sz="1000" dirty="0"/>
          </a:p>
        </p:txBody>
      </p:sp>
      <p:sp>
        <p:nvSpPr>
          <p:cNvPr id="6" name="Text 4"/>
          <p:cNvSpPr txBox="1"/>
          <p:nvPr/>
        </p:nvSpPr>
        <p:spPr>
          <a:xfrm>
            <a:off x="566928" y="1847088"/>
            <a:ext cx="5486400" cy="310896"/>
          </a:xfrm>
          <a:prstGeom prst="rect">
            <a:avLst/>
          </a:prstGeom>
          <a:noFill/>
          <a:ln/>
        </p:spPr>
        <p:txBody>
          <a:bodyPr wrap="square" lIns="0" tIns="0" rIns="0" bIns="0" rtlCol="0" anchor="ctr"/>
          <a:lstStyle/>
          <a:p>
            <a:pPr indent="0" marL="0">
              <a:buNone/>
            </a:pPr>
            <a:r>
              <a:rPr lang="en-US" sz="1300" b="1" dirty="0">
                <a:solidFill>
                  <a:srgbClr val="003BA3"/>
                </a:solidFill>
                <a:latin typeface="Montserrat" pitchFamily="34" charset="0"/>
                <a:ea typeface="Montserrat" pitchFamily="34" charset="-122"/>
                <a:cs typeface="Montserrat" pitchFamily="34" charset="-120"/>
              </a:rPr>
              <a:t>New in the report</a:t>
            </a:r>
            <a:endParaRPr lang="en-US" sz="1300" dirty="0"/>
          </a:p>
        </p:txBody>
      </p:sp>
      <p:sp>
        <p:nvSpPr>
          <p:cNvPr id="7" name="Shape 5"/>
          <p:cNvSpPr/>
          <p:nvPr/>
        </p:nvSpPr>
        <p:spPr>
          <a:xfrm>
            <a:off x="566928" y="2249424"/>
            <a:ext cx="5486400" cy="1225296"/>
          </a:xfrm>
          <a:prstGeom prst="roundRect">
            <a:avLst>
              <a:gd name="adj" fmla="val 4478"/>
            </a:avLst>
          </a:prstGeom>
          <a:solidFill>
            <a:srgbClr val="F2F6FD"/>
          </a:solidFill>
          <a:ln/>
        </p:spPr>
      </p:sp>
      <p:sp>
        <p:nvSpPr>
          <p:cNvPr id="8" name="Text 6"/>
          <p:cNvSpPr txBox="1"/>
          <p:nvPr/>
        </p:nvSpPr>
        <p:spPr>
          <a:xfrm>
            <a:off x="786384" y="2377440"/>
            <a:ext cx="5029200" cy="274320"/>
          </a:xfrm>
          <a:prstGeom prst="rect">
            <a:avLst/>
          </a:prstGeom>
          <a:noFill/>
          <a:ln/>
        </p:spPr>
        <p:txBody>
          <a:bodyPr wrap="square" lIns="0" tIns="0" rIns="0" bIns="0" rtlCol="0" anchor="ctr"/>
          <a:lstStyle/>
          <a:p>
            <a:pPr indent="0" marL="0">
              <a:buNone/>
            </a:pPr>
            <a:r>
              <a:rPr lang="en-US" sz="1250" b="1" dirty="0">
                <a:solidFill>
                  <a:srgbClr val="003BA3"/>
                </a:solidFill>
                <a:latin typeface="Montserrat" pitchFamily="34" charset="0"/>
                <a:ea typeface="Montserrat" pitchFamily="34" charset="-122"/>
                <a:cs typeface="Montserrat" pitchFamily="34" charset="-120"/>
              </a:rPr>
              <a:t>Chapter 3</a:t>
            </a:r>
            <a:endParaRPr lang="en-US" sz="1250" dirty="0"/>
          </a:p>
        </p:txBody>
      </p:sp>
      <p:sp>
        <p:nvSpPr>
          <p:cNvPr id="9" name="Text 7"/>
          <p:cNvSpPr txBox="1"/>
          <p:nvPr/>
        </p:nvSpPr>
        <p:spPr>
          <a:xfrm>
            <a:off x="786384" y="2688336"/>
            <a:ext cx="5029200" cy="713232"/>
          </a:xfrm>
          <a:prstGeom prst="rect">
            <a:avLst/>
          </a:prstGeom>
          <a:noFill/>
          <a:ln/>
        </p:spPr>
        <p:txBody>
          <a:bodyPr wrap="square" lIns="0" tIns="0" rIns="0" bIns="0" rtlCol="0" anchor="ctr"/>
          <a:lstStyle/>
          <a:p>
            <a:pPr indent="0" marL="0">
              <a:lnSpc>
                <a:spcPct val="103000"/>
              </a:lnSpc>
              <a:buNone/>
            </a:pPr>
            <a:r>
              <a:rPr lang="en-US" sz="1200" dirty="0">
                <a:solidFill>
                  <a:srgbClr val="1B2333"/>
                </a:solidFill>
                <a:latin typeface="Calibri" pitchFamily="34" charset="0"/>
                <a:ea typeface="Calibri" pitchFamily="34" charset="-122"/>
                <a:cs typeface="Calibri" pitchFamily="34" charset="-120"/>
              </a:rPr>
              <a:t>Comparison criteria derived from the evidence — eight criteria, five system classes assessed.</a:t>
            </a:r>
            <a:endParaRPr lang="en-US" sz="1200" dirty="0"/>
          </a:p>
        </p:txBody>
      </p:sp>
      <p:sp>
        <p:nvSpPr>
          <p:cNvPr id="10" name="Shape 8"/>
          <p:cNvSpPr/>
          <p:nvPr/>
        </p:nvSpPr>
        <p:spPr>
          <a:xfrm>
            <a:off x="566928" y="3621024"/>
            <a:ext cx="5486400" cy="1225296"/>
          </a:xfrm>
          <a:prstGeom prst="roundRect">
            <a:avLst>
              <a:gd name="adj" fmla="val 4478"/>
            </a:avLst>
          </a:prstGeom>
          <a:solidFill>
            <a:srgbClr val="F2F6FD"/>
          </a:solidFill>
          <a:ln/>
        </p:spPr>
      </p:sp>
      <p:sp>
        <p:nvSpPr>
          <p:cNvPr id="11" name="Text 9"/>
          <p:cNvSpPr txBox="1"/>
          <p:nvPr/>
        </p:nvSpPr>
        <p:spPr>
          <a:xfrm>
            <a:off x="786384" y="3749040"/>
            <a:ext cx="5029200" cy="274320"/>
          </a:xfrm>
          <a:prstGeom prst="rect">
            <a:avLst/>
          </a:prstGeom>
          <a:noFill/>
          <a:ln/>
        </p:spPr>
        <p:txBody>
          <a:bodyPr wrap="square" lIns="0" tIns="0" rIns="0" bIns="0" rtlCol="0" anchor="ctr"/>
          <a:lstStyle/>
          <a:p>
            <a:pPr indent="0" marL="0">
              <a:buNone/>
            </a:pPr>
            <a:r>
              <a:rPr lang="en-US" sz="1250" b="1" dirty="0">
                <a:solidFill>
                  <a:srgbClr val="003BA3"/>
                </a:solidFill>
                <a:latin typeface="Montserrat" pitchFamily="34" charset="0"/>
                <a:ea typeface="Montserrat" pitchFamily="34" charset="-122"/>
                <a:cs typeface="Montserrat" pitchFamily="34" charset="-120"/>
              </a:rPr>
              <a:t>Chapter 4</a:t>
            </a:r>
            <a:endParaRPr lang="en-US" sz="1250" dirty="0"/>
          </a:p>
        </p:txBody>
      </p:sp>
      <p:sp>
        <p:nvSpPr>
          <p:cNvPr id="12" name="Text 10"/>
          <p:cNvSpPr txBox="1"/>
          <p:nvPr/>
        </p:nvSpPr>
        <p:spPr>
          <a:xfrm>
            <a:off x="786384" y="4059936"/>
            <a:ext cx="5029200" cy="713232"/>
          </a:xfrm>
          <a:prstGeom prst="rect">
            <a:avLst/>
          </a:prstGeom>
          <a:noFill/>
          <a:ln/>
        </p:spPr>
        <p:txBody>
          <a:bodyPr wrap="square" lIns="0" tIns="0" rIns="0" bIns="0" rtlCol="0" anchor="ctr"/>
          <a:lstStyle/>
          <a:p>
            <a:pPr indent="0" marL="0">
              <a:lnSpc>
                <a:spcPct val="103000"/>
              </a:lnSpc>
              <a:buNone/>
            </a:pPr>
            <a:r>
              <a:rPr lang="en-US" sz="1200" dirty="0">
                <a:solidFill>
                  <a:srgbClr val="1B2333"/>
                </a:solidFill>
                <a:latin typeface="Calibri" pitchFamily="34" charset="0"/>
                <a:ea typeface="Calibri" pitchFamily="34" charset="-122"/>
                <a:cs typeface="Calibri" pitchFamily="34" charset="-120"/>
              </a:rPr>
              <a:t>9 business rules · 5 research problems · 21 functional, 12 non-functional and 10 data requirements.</a:t>
            </a:r>
            <a:endParaRPr lang="en-US" sz="1200" dirty="0"/>
          </a:p>
        </p:txBody>
      </p:sp>
      <p:sp>
        <p:nvSpPr>
          <p:cNvPr id="13" name="Shape 11"/>
          <p:cNvSpPr/>
          <p:nvPr/>
        </p:nvSpPr>
        <p:spPr>
          <a:xfrm>
            <a:off x="566928" y="4992624"/>
            <a:ext cx="5486400" cy="1225296"/>
          </a:xfrm>
          <a:prstGeom prst="roundRect">
            <a:avLst>
              <a:gd name="adj" fmla="val 4478"/>
            </a:avLst>
          </a:prstGeom>
          <a:solidFill>
            <a:srgbClr val="F2F6FD"/>
          </a:solidFill>
          <a:ln/>
        </p:spPr>
      </p:sp>
      <p:sp>
        <p:nvSpPr>
          <p:cNvPr id="14" name="Text 12"/>
          <p:cNvSpPr txBox="1"/>
          <p:nvPr/>
        </p:nvSpPr>
        <p:spPr>
          <a:xfrm>
            <a:off x="786384" y="5120640"/>
            <a:ext cx="5029200" cy="274320"/>
          </a:xfrm>
          <a:prstGeom prst="rect">
            <a:avLst/>
          </a:prstGeom>
          <a:noFill/>
          <a:ln/>
        </p:spPr>
        <p:txBody>
          <a:bodyPr wrap="square" lIns="0" tIns="0" rIns="0" bIns="0" rtlCol="0" anchor="ctr"/>
          <a:lstStyle/>
          <a:p>
            <a:pPr indent="0" marL="0">
              <a:buNone/>
            </a:pPr>
            <a:r>
              <a:rPr lang="en-US" sz="1250" b="1" dirty="0">
                <a:solidFill>
                  <a:srgbClr val="003BA3"/>
                </a:solidFill>
                <a:latin typeface="Montserrat" pitchFamily="34" charset="0"/>
                <a:ea typeface="Montserrat" pitchFamily="34" charset="-122"/>
                <a:cs typeface="Montserrat" pitchFamily="34" charset="-120"/>
              </a:rPr>
              <a:t>Chapter 5</a:t>
            </a:r>
            <a:endParaRPr lang="en-US" sz="1250" dirty="0"/>
          </a:p>
        </p:txBody>
      </p:sp>
      <p:sp>
        <p:nvSpPr>
          <p:cNvPr id="15" name="Text 13"/>
          <p:cNvSpPr txBox="1"/>
          <p:nvPr/>
        </p:nvSpPr>
        <p:spPr>
          <a:xfrm>
            <a:off x="786384" y="5431536"/>
            <a:ext cx="5029200" cy="713232"/>
          </a:xfrm>
          <a:prstGeom prst="rect">
            <a:avLst/>
          </a:prstGeom>
          <a:noFill/>
          <a:ln/>
        </p:spPr>
        <p:txBody>
          <a:bodyPr wrap="square" lIns="0" tIns="0" rIns="0" bIns="0" rtlCol="0" anchor="ctr"/>
          <a:lstStyle/>
          <a:p>
            <a:pPr indent="0" marL="0">
              <a:lnSpc>
                <a:spcPct val="103000"/>
              </a:lnSpc>
              <a:buNone/>
            </a:pPr>
            <a:r>
              <a:rPr lang="en-US" sz="1200" dirty="0">
                <a:solidFill>
                  <a:srgbClr val="1B2333"/>
                </a:solidFill>
                <a:latin typeface="Calibri" pitchFamily="34" charset="0"/>
                <a:ea typeface="Calibri" pitchFamily="34" charset="-122"/>
                <a:cs typeface="Calibri" pitchFamily="34" charset="-120"/>
              </a:rPr>
              <a:t>Three process models · 13 use cases · full traceability matrix.</a:t>
            </a:r>
            <a:endParaRPr lang="en-US" sz="1200" dirty="0"/>
          </a:p>
        </p:txBody>
      </p:sp>
      <p:sp>
        <p:nvSpPr>
          <p:cNvPr id="16" name="Text 14"/>
          <p:cNvSpPr txBox="1"/>
          <p:nvPr/>
        </p:nvSpPr>
        <p:spPr>
          <a:xfrm>
            <a:off x="6419088" y="1847088"/>
            <a:ext cx="5202936" cy="310896"/>
          </a:xfrm>
          <a:prstGeom prst="rect">
            <a:avLst/>
          </a:prstGeom>
          <a:noFill/>
          <a:ln/>
        </p:spPr>
        <p:txBody>
          <a:bodyPr wrap="square" lIns="0" tIns="0" rIns="0" bIns="0" rtlCol="0" anchor="ctr"/>
          <a:lstStyle/>
          <a:p>
            <a:pPr indent="0" marL="0">
              <a:buNone/>
            </a:pPr>
            <a:r>
              <a:rPr lang="en-US" sz="1300" b="1" dirty="0">
                <a:solidFill>
                  <a:srgbClr val="B26B00"/>
                </a:solidFill>
                <a:latin typeface="Montserrat" pitchFamily="34" charset="0"/>
                <a:ea typeface="Montserrat" pitchFamily="34" charset="-122"/>
                <a:cs typeface="Montserrat" pitchFamily="34" charset="-120"/>
              </a:rPr>
              <a:t>Decisions we need today</a:t>
            </a:r>
            <a:endParaRPr lang="en-US" sz="1300" dirty="0"/>
          </a:p>
        </p:txBody>
      </p:sp>
      <p:sp>
        <p:nvSpPr>
          <p:cNvPr id="17" name="Shape 15"/>
          <p:cNvSpPr/>
          <p:nvPr/>
        </p:nvSpPr>
        <p:spPr>
          <a:xfrm>
            <a:off x="6419088" y="2249424"/>
            <a:ext cx="5202936" cy="1225296"/>
          </a:xfrm>
          <a:prstGeom prst="roundRect">
            <a:avLst>
              <a:gd name="adj" fmla="val 4478"/>
            </a:avLst>
          </a:prstGeom>
          <a:solidFill>
            <a:srgbClr val="FFF4E0"/>
          </a:solidFill>
          <a:ln/>
        </p:spPr>
      </p:sp>
      <p:sp>
        <p:nvSpPr>
          <p:cNvPr id="18" name="Shape 16"/>
          <p:cNvSpPr/>
          <p:nvPr/>
        </p:nvSpPr>
        <p:spPr>
          <a:xfrm>
            <a:off x="6638544" y="2560320"/>
            <a:ext cx="329184" cy="329184"/>
          </a:xfrm>
          <a:prstGeom prst="ellipse">
            <a:avLst/>
          </a:prstGeom>
          <a:solidFill>
            <a:srgbClr val="B26B00"/>
          </a:solidFill>
          <a:ln/>
        </p:spPr>
      </p:sp>
      <p:sp>
        <p:nvSpPr>
          <p:cNvPr id="19" name="Text 17"/>
          <p:cNvSpPr txBox="1"/>
          <p:nvPr/>
        </p:nvSpPr>
        <p:spPr>
          <a:xfrm>
            <a:off x="6638544" y="25603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20" name="Text 18"/>
          <p:cNvSpPr txBox="1"/>
          <p:nvPr/>
        </p:nvSpPr>
        <p:spPr>
          <a:xfrm>
            <a:off x="7077456" y="2395728"/>
            <a:ext cx="4325112" cy="932688"/>
          </a:xfrm>
          <a:prstGeom prst="rect">
            <a:avLst/>
          </a:prstGeom>
          <a:noFill/>
          <a:ln/>
        </p:spPr>
        <p:txBody>
          <a:bodyPr wrap="square" lIns="0" tIns="0" rIns="0" bIns="0" rtlCol="0" anchor="ctr"/>
          <a:lstStyle/>
          <a:p>
            <a:pPr indent="0" marL="0">
              <a:lnSpc>
                <a:spcPct val="103000"/>
              </a:lnSpc>
              <a:buNone/>
            </a:pPr>
            <a:r>
              <a:rPr lang="en-US" sz="1250" b="1" dirty="0">
                <a:solidFill>
                  <a:srgbClr val="4A3000"/>
                </a:solidFill>
                <a:latin typeface="Calibri" pitchFamily="34" charset="0"/>
                <a:ea typeface="Calibri" pitchFamily="34" charset="-122"/>
                <a:cs typeface="Calibri" pitchFamily="34" charset="-120"/>
              </a:rPr>
              <a:t>Approve the Chapter 3 criteria set and ratings</a:t>
            </a:r>
            <a:endParaRPr lang="en-US" sz="1250" dirty="0"/>
          </a:p>
        </p:txBody>
      </p:sp>
      <p:sp>
        <p:nvSpPr>
          <p:cNvPr id="21" name="Shape 19"/>
          <p:cNvSpPr/>
          <p:nvPr/>
        </p:nvSpPr>
        <p:spPr>
          <a:xfrm>
            <a:off x="6419088" y="3621024"/>
            <a:ext cx="5202936" cy="1225296"/>
          </a:xfrm>
          <a:prstGeom prst="roundRect">
            <a:avLst>
              <a:gd name="adj" fmla="val 4478"/>
            </a:avLst>
          </a:prstGeom>
          <a:solidFill>
            <a:srgbClr val="FFF4E0"/>
          </a:solidFill>
          <a:ln/>
        </p:spPr>
      </p:sp>
      <p:sp>
        <p:nvSpPr>
          <p:cNvPr id="22" name="Shape 20"/>
          <p:cNvSpPr/>
          <p:nvPr/>
        </p:nvSpPr>
        <p:spPr>
          <a:xfrm>
            <a:off x="6638544" y="3931920"/>
            <a:ext cx="329184" cy="329184"/>
          </a:xfrm>
          <a:prstGeom prst="ellipse">
            <a:avLst/>
          </a:prstGeom>
          <a:solidFill>
            <a:srgbClr val="B26B00"/>
          </a:solidFill>
          <a:ln/>
        </p:spPr>
      </p:sp>
      <p:sp>
        <p:nvSpPr>
          <p:cNvPr id="23" name="Text 21"/>
          <p:cNvSpPr txBox="1"/>
          <p:nvPr/>
        </p:nvSpPr>
        <p:spPr>
          <a:xfrm>
            <a:off x="6638544" y="39319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24" name="Text 22"/>
          <p:cNvSpPr txBox="1"/>
          <p:nvPr/>
        </p:nvSpPr>
        <p:spPr>
          <a:xfrm>
            <a:off x="7077456" y="3767328"/>
            <a:ext cx="4325112" cy="932688"/>
          </a:xfrm>
          <a:prstGeom prst="rect">
            <a:avLst/>
          </a:prstGeom>
          <a:noFill/>
          <a:ln/>
        </p:spPr>
        <p:txBody>
          <a:bodyPr wrap="square" lIns="0" tIns="0" rIns="0" bIns="0" rtlCol="0" anchor="ctr"/>
          <a:lstStyle/>
          <a:p>
            <a:pPr indent="0" marL="0">
              <a:lnSpc>
                <a:spcPct val="103000"/>
              </a:lnSpc>
              <a:buNone/>
            </a:pPr>
            <a:r>
              <a:rPr lang="en-US" sz="1250" b="1" dirty="0">
                <a:solidFill>
                  <a:srgbClr val="4A3000"/>
                </a:solidFill>
                <a:latin typeface="Calibri" pitchFamily="34" charset="0"/>
                <a:ea typeface="Calibri" pitchFamily="34" charset="-122"/>
                <a:cs typeface="Calibri" pitchFamily="34" charset="-120"/>
              </a:rPr>
              <a:t>Confirm the Must-priority requirement scope is achievable this phase</a:t>
            </a:r>
            <a:endParaRPr lang="en-US" sz="1250" dirty="0"/>
          </a:p>
        </p:txBody>
      </p:sp>
      <p:sp>
        <p:nvSpPr>
          <p:cNvPr id="25" name="Shape 23"/>
          <p:cNvSpPr/>
          <p:nvPr/>
        </p:nvSpPr>
        <p:spPr>
          <a:xfrm>
            <a:off x="6419088" y="4992624"/>
            <a:ext cx="5202936" cy="1225296"/>
          </a:xfrm>
          <a:prstGeom prst="roundRect">
            <a:avLst>
              <a:gd name="adj" fmla="val 4478"/>
            </a:avLst>
          </a:prstGeom>
          <a:solidFill>
            <a:srgbClr val="FFF4E0"/>
          </a:solidFill>
          <a:ln/>
        </p:spPr>
      </p:sp>
      <p:sp>
        <p:nvSpPr>
          <p:cNvPr id="26" name="Shape 24"/>
          <p:cNvSpPr/>
          <p:nvPr/>
        </p:nvSpPr>
        <p:spPr>
          <a:xfrm>
            <a:off x="6638544" y="5303520"/>
            <a:ext cx="329184" cy="329184"/>
          </a:xfrm>
          <a:prstGeom prst="ellipse">
            <a:avLst/>
          </a:prstGeom>
          <a:solidFill>
            <a:srgbClr val="B26B00"/>
          </a:solidFill>
          <a:ln/>
        </p:spPr>
      </p:sp>
      <p:sp>
        <p:nvSpPr>
          <p:cNvPr id="27" name="Text 25"/>
          <p:cNvSpPr txBox="1"/>
          <p:nvPr/>
        </p:nvSpPr>
        <p:spPr>
          <a:xfrm>
            <a:off x="6638544" y="53035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28" name="Text 26"/>
          <p:cNvSpPr txBox="1"/>
          <p:nvPr/>
        </p:nvSpPr>
        <p:spPr>
          <a:xfrm>
            <a:off x="7077456" y="5138928"/>
            <a:ext cx="4325112" cy="932688"/>
          </a:xfrm>
          <a:prstGeom prst="rect">
            <a:avLst/>
          </a:prstGeom>
          <a:noFill/>
          <a:ln/>
        </p:spPr>
        <p:txBody>
          <a:bodyPr wrap="square" lIns="0" tIns="0" rIns="0" bIns="0" rtlCol="0" anchor="ctr"/>
          <a:lstStyle/>
          <a:p>
            <a:pPr indent="0" marL="0">
              <a:lnSpc>
                <a:spcPct val="103000"/>
              </a:lnSpc>
              <a:buNone/>
            </a:pPr>
            <a:r>
              <a:rPr lang="en-US" sz="1250" b="1" dirty="0">
                <a:solidFill>
                  <a:srgbClr val="4A3000"/>
                </a:solidFill>
                <a:latin typeface="Calibri" pitchFamily="34" charset="0"/>
                <a:ea typeface="Calibri" pitchFamily="34" charset="-122"/>
                <a:cs typeface="Calibri" pitchFamily="34" charset="-120"/>
              </a:rPr>
              <a:t>Approve the offline evaluation design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THE PROBLEM</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The decision is made blind</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People choose an occupation without knowing what the work is.</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[1] Gati, Krausz &amp; Osipow (1996), cross-validated across 13 countries.  [5] MBTI test–retest, five-week interval.</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4</a:t>
            </a:r>
            <a:endParaRPr lang="en-US" sz="1000" dirty="0"/>
          </a:p>
        </p:txBody>
      </p:sp>
      <p:sp>
        <p:nvSpPr>
          <p:cNvPr id="7" name="Shape 5"/>
          <p:cNvSpPr/>
          <p:nvPr/>
        </p:nvSpPr>
        <p:spPr>
          <a:xfrm>
            <a:off x="566928" y="1847088"/>
            <a:ext cx="3538728" cy="3108960"/>
          </a:xfrm>
          <a:prstGeom prst="roundRect">
            <a:avLst>
              <a:gd name="adj" fmla="val 2353"/>
            </a:avLst>
          </a:prstGeom>
          <a:solidFill>
            <a:srgbClr val="F2F6FD"/>
          </a:solidFill>
          <a:ln w="6350">
            <a:solidFill>
              <a:srgbClr val="F2F6FD"/>
            </a:solidFill>
            <a:prstDash val="solid"/>
          </a:ln>
        </p:spPr>
      </p:sp>
      <p:sp>
        <p:nvSpPr>
          <p:cNvPr id="8" name="Shape 6"/>
          <p:cNvSpPr/>
          <p:nvPr/>
        </p:nvSpPr>
        <p:spPr>
          <a:xfrm>
            <a:off x="786384" y="2048256"/>
            <a:ext cx="329184" cy="329184"/>
          </a:xfrm>
          <a:prstGeom prst="ellipse">
            <a:avLst/>
          </a:prstGeom>
          <a:solidFill>
            <a:srgbClr val="003BA3"/>
          </a:solidFill>
          <a:ln/>
        </p:spPr>
      </p:sp>
      <p:sp>
        <p:nvSpPr>
          <p:cNvPr id="9" name="Text 7"/>
          <p:cNvSpPr txBox="1"/>
          <p:nvPr/>
        </p:nvSpPr>
        <p:spPr>
          <a:xfrm>
            <a:off x="78638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10" name="Text 8"/>
          <p:cNvSpPr txBox="1"/>
          <p:nvPr/>
        </p:nvSpPr>
        <p:spPr>
          <a:xfrm>
            <a:off x="786384" y="2487168"/>
            <a:ext cx="3099816"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The obstacle is informational</a:t>
            </a:r>
            <a:endParaRPr lang="en-US" sz="1300" dirty="0"/>
          </a:p>
        </p:txBody>
      </p:sp>
      <p:sp>
        <p:nvSpPr>
          <p:cNvPr id="11" name="Text 9"/>
          <p:cNvSpPr txBox="1"/>
          <p:nvPr/>
        </p:nvSpPr>
        <p:spPr>
          <a:xfrm>
            <a:off x="786384" y="2980944"/>
            <a:ext cx="3099816" cy="1810512"/>
          </a:xfrm>
          <a:prstGeom prst="rect">
            <a:avLst/>
          </a:prstGeom>
          <a:noFill/>
          <a:ln/>
        </p:spPr>
        <p:txBody>
          <a:bodyPr wrap="square" lIns="0" tIns="0" rIns="0" bIns="0" rtlCol="0" anchor="t"/>
          <a:lstStyle/>
          <a:p>
            <a:pPr indent="0" marL="0">
              <a:lnSpc>
                <a:spcPct val="103000"/>
              </a:lnSpc>
              <a:buNone/>
            </a:pPr>
            <a:r>
              <a:rPr lang="en-US" sz="1200" dirty="0">
                <a:solidFill>
                  <a:srgbClr val="1B2333"/>
                </a:solidFill>
                <a:latin typeface="Calibri" pitchFamily="34" charset="0"/>
                <a:ea typeface="Calibri" pitchFamily="34" charset="-122"/>
                <a:cs typeface="Calibri" pitchFamily="34" charset="-120"/>
              </a:rPr>
              <a:t>In Gati, Krausz and Osipow's validated taxonomy, insufficient occupational information is a principal category of career decision difficulty — distinct from indecisiveness and from poor self-knowledge. [1]</a:t>
            </a:r>
            <a:endParaRPr lang="en-US" sz="1200" dirty="0"/>
          </a:p>
        </p:txBody>
      </p:sp>
      <p:sp>
        <p:nvSpPr>
          <p:cNvPr id="12" name="Shape 10"/>
          <p:cNvSpPr/>
          <p:nvPr/>
        </p:nvSpPr>
        <p:spPr>
          <a:xfrm>
            <a:off x="4343400" y="1847088"/>
            <a:ext cx="3538728" cy="3108960"/>
          </a:xfrm>
          <a:prstGeom prst="roundRect">
            <a:avLst>
              <a:gd name="adj" fmla="val 2353"/>
            </a:avLst>
          </a:prstGeom>
          <a:solidFill>
            <a:srgbClr val="F2F6FD"/>
          </a:solidFill>
          <a:ln w="6350">
            <a:solidFill>
              <a:srgbClr val="F2F6FD"/>
            </a:solidFill>
            <a:prstDash val="solid"/>
          </a:ln>
        </p:spPr>
      </p:sp>
      <p:sp>
        <p:nvSpPr>
          <p:cNvPr id="13" name="Shape 11"/>
          <p:cNvSpPr/>
          <p:nvPr/>
        </p:nvSpPr>
        <p:spPr>
          <a:xfrm>
            <a:off x="4562856" y="2048256"/>
            <a:ext cx="329184" cy="329184"/>
          </a:xfrm>
          <a:prstGeom prst="ellipse">
            <a:avLst/>
          </a:prstGeom>
          <a:solidFill>
            <a:srgbClr val="003BA3"/>
          </a:solidFill>
          <a:ln/>
        </p:spPr>
      </p:sp>
      <p:sp>
        <p:nvSpPr>
          <p:cNvPr id="14" name="Text 12"/>
          <p:cNvSpPr txBox="1"/>
          <p:nvPr/>
        </p:nvSpPr>
        <p:spPr>
          <a:xfrm>
            <a:off x="4562856"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5" name="Text 13"/>
          <p:cNvSpPr txBox="1"/>
          <p:nvPr/>
        </p:nvSpPr>
        <p:spPr>
          <a:xfrm>
            <a:off x="4562856" y="2487168"/>
            <a:ext cx="3099816"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What guidance offers instead</a:t>
            </a:r>
            <a:endParaRPr lang="en-US" sz="1300" dirty="0"/>
          </a:p>
        </p:txBody>
      </p:sp>
      <p:sp>
        <p:nvSpPr>
          <p:cNvPr id="16" name="Text 14"/>
          <p:cNvSpPr txBox="1"/>
          <p:nvPr/>
        </p:nvSpPr>
        <p:spPr>
          <a:xfrm>
            <a:off x="4562856" y="2980944"/>
            <a:ext cx="3099816" cy="1810512"/>
          </a:xfrm>
          <a:prstGeom prst="rect">
            <a:avLst/>
          </a:prstGeom>
          <a:noFill/>
          <a:ln/>
        </p:spPr>
        <p:txBody>
          <a:bodyPr wrap="square" lIns="0" tIns="0" rIns="0" bIns="0" rtlCol="0" anchor="t"/>
          <a:lstStyle/>
          <a:p>
            <a:pPr indent="0" marL="0">
              <a:lnSpc>
                <a:spcPct val="103000"/>
              </a:lnSpc>
              <a:buNone/>
            </a:pPr>
            <a:r>
              <a:rPr lang="en-US" sz="1200" dirty="0">
                <a:solidFill>
                  <a:srgbClr val="1B2333"/>
                </a:solidFill>
                <a:latin typeface="Calibri" pitchFamily="34" charset="0"/>
                <a:ea typeface="Calibri" pitchFamily="34" charset="-122"/>
                <a:cs typeface="Calibri" pitchFamily="34" charset="-120"/>
              </a:rPr>
              <a:t>Interest and personality inventories elicit what a person believes about themselves. They do not supply information about the work, so they cannot address that category of difficulty.</a:t>
            </a:r>
            <a:endParaRPr lang="en-US" sz="1200" dirty="0"/>
          </a:p>
        </p:txBody>
      </p:sp>
      <p:sp>
        <p:nvSpPr>
          <p:cNvPr id="17" name="Shape 15"/>
          <p:cNvSpPr/>
          <p:nvPr/>
        </p:nvSpPr>
        <p:spPr>
          <a:xfrm>
            <a:off x="8119872" y="1847088"/>
            <a:ext cx="3502152" cy="3108960"/>
          </a:xfrm>
          <a:prstGeom prst="roundRect">
            <a:avLst>
              <a:gd name="adj" fmla="val 2353"/>
            </a:avLst>
          </a:prstGeom>
          <a:solidFill>
            <a:srgbClr val="003BA3"/>
          </a:solidFill>
          <a:ln/>
        </p:spPr>
      </p:sp>
      <p:sp>
        <p:nvSpPr>
          <p:cNvPr id="18" name="Text 16"/>
          <p:cNvSpPr txBox="1"/>
          <p:nvPr/>
        </p:nvSpPr>
        <p:spPr>
          <a:xfrm>
            <a:off x="8339328" y="2761488"/>
            <a:ext cx="306324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Montserrat" pitchFamily="34" charset="0"/>
                <a:ea typeface="Montserrat" pitchFamily="34" charset="-122"/>
                <a:cs typeface="Montserrat" pitchFamily="34" charset="-120"/>
              </a:rPr>
              <a:t>39–76%</a:t>
            </a:r>
            <a:endParaRPr lang="en-US" sz="3800" dirty="0"/>
          </a:p>
        </p:txBody>
      </p:sp>
      <p:sp>
        <p:nvSpPr>
          <p:cNvPr id="19" name="Text 17"/>
          <p:cNvSpPr txBox="1"/>
          <p:nvPr/>
        </p:nvSpPr>
        <p:spPr>
          <a:xfrm>
            <a:off x="8339328" y="3474720"/>
            <a:ext cx="3063240" cy="822960"/>
          </a:xfrm>
          <a:prstGeom prst="rect">
            <a:avLst/>
          </a:prstGeom>
          <a:noFill/>
          <a:ln/>
        </p:spPr>
        <p:txBody>
          <a:bodyPr wrap="square" lIns="0" tIns="0" rIns="0" bIns="0" rtlCol="0" anchor="t"/>
          <a:lstStyle/>
          <a:p>
            <a:pPr algn="ctr" indent="0" marL="0">
              <a:lnSpc>
                <a:spcPct val="100000"/>
              </a:lnSpc>
              <a:buNone/>
            </a:pPr>
            <a:r>
              <a:rPr lang="en-US" sz="1150" dirty="0">
                <a:solidFill>
                  <a:srgbClr val="CFE0FF"/>
                </a:solidFill>
                <a:latin typeface="Calibri" pitchFamily="34" charset="0"/>
                <a:ea typeface="Calibri" pitchFamily="34" charset="-122"/>
                <a:cs typeface="Calibri" pitchFamily="34" charset="-120"/>
              </a:rPr>
              <a:t>of respondents are assigned a different MBTI type on retest after five weeks [5]</a:t>
            </a:r>
            <a:endParaRPr lang="en-US" sz="1150" dirty="0"/>
          </a:p>
        </p:txBody>
      </p:sp>
      <p:sp>
        <p:nvSpPr>
          <p:cNvPr id="20" name="Text 18"/>
          <p:cNvSpPr txBox="1"/>
          <p:nvPr/>
        </p:nvSpPr>
        <p:spPr>
          <a:xfrm>
            <a:off x="566928" y="5230368"/>
            <a:ext cx="11055096" cy="365760"/>
          </a:xfrm>
          <a:prstGeom prst="rect">
            <a:avLst/>
          </a:prstGeom>
          <a:noFill/>
          <a:ln/>
        </p:spPr>
        <p:txBody>
          <a:bodyPr wrap="square" lIns="0" tIns="0" rIns="0" bIns="0" rtlCol="0" anchor="ctr"/>
          <a:lstStyle/>
          <a:p>
            <a:pPr indent="0" marL="0">
              <a:buNone/>
            </a:pPr>
            <a:r>
              <a:rPr lang="en-US" sz="1300" b="1" dirty="0">
                <a:solidFill>
                  <a:srgbClr val="003BA3"/>
                </a:solidFill>
                <a:latin typeface="Calibri" pitchFamily="34" charset="0"/>
                <a:ea typeface="Calibri" pitchFamily="34" charset="-122"/>
                <a:cs typeface="Calibri" pitchFamily="34" charset="-120"/>
              </a:rPr>
              <a:t>Two implications: the deficit that most needs fixing is informational, and the dominant instruments are structurally unable to fix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WHY HERE, WHY NOW</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The Vietnamese case</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The decision is compressed to age 17 or 18 — and often is not the student's own.</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[3] 2026 survey, ~9,200 students across ten Vietnamese universities (grey literature: seminar reporting, cited as such). [4] Labour Force Survey waves.</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5</a:t>
            </a:r>
            <a:endParaRPr lang="en-US" sz="1000" dirty="0"/>
          </a:p>
        </p:txBody>
      </p:sp>
      <p:sp>
        <p:nvSpPr>
          <p:cNvPr id="7" name="Shape 5"/>
          <p:cNvSpPr/>
          <p:nvPr/>
        </p:nvSpPr>
        <p:spPr>
          <a:xfrm>
            <a:off x="566928" y="1847088"/>
            <a:ext cx="3502152" cy="2468880"/>
          </a:xfrm>
          <a:prstGeom prst="roundRect">
            <a:avLst>
              <a:gd name="adj" fmla="val 2963"/>
            </a:avLst>
          </a:prstGeom>
          <a:solidFill>
            <a:srgbClr val="003BA3"/>
          </a:solidFill>
          <a:ln/>
        </p:spPr>
      </p:sp>
      <p:sp>
        <p:nvSpPr>
          <p:cNvPr id="8" name="Text 6"/>
          <p:cNvSpPr txBox="1"/>
          <p:nvPr/>
        </p:nvSpPr>
        <p:spPr>
          <a:xfrm>
            <a:off x="749808" y="2505456"/>
            <a:ext cx="3136392"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Montserrat" pitchFamily="34" charset="0"/>
                <a:ea typeface="Montserrat" pitchFamily="34" charset="-122"/>
                <a:cs typeface="Montserrat" pitchFamily="34" charset="-120"/>
              </a:rPr>
              <a:t>&gt; 1 in 5</a:t>
            </a:r>
            <a:endParaRPr lang="en-US" sz="3400" dirty="0"/>
          </a:p>
        </p:txBody>
      </p:sp>
      <p:sp>
        <p:nvSpPr>
          <p:cNvPr id="9" name="Text 7"/>
          <p:cNvSpPr txBox="1"/>
          <p:nvPr/>
        </p:nvSpPr>
        <p:spPr>
          <a:xfrm>
            <a:off x="749808" y="3218688"/>
            <a:ext cx="3136392" cy="731520"/>
          </a:xfrm>
          <a:prstGeom prst="rect">
            <a:avLst/>
          </a:prstGeom>
          <a:noFill/>
          <a:ln/>
        </p:spPr>
        <p:txBody>
          <a:bodyPr wrap="square" lIns="0" tIns="0" rIns="0" bIns="0" rtlCol="0" anchor="t"/>
          <a:lstStyle/>
          <a:p>
            <a:pPr algn="ctr" indent="0" marL="0">
              <a:lnSpc>
                <a:spcPct val="100000"/>
              </a:lnSpc>
              <a:buNone/>
            </a:pPr>
            <a:r>
              <a:rPr lang="en-US" sz="1150" dirty="0">
                <a:solidFill>
                  <a:srgbClr val="CFE0FF"/>
                </a:solidFill>
                <a:latin typeface="Calibri" pitchFamily="34" charset="0"/>
                <a:ea typeface="Calibri" pitchFamily="34" charset="-122"/>
                <a:cs typeface="Calibri" pitchFamily="34" charset="-120"/>
              </a:rPr>
              <a:t>chose their field on parental direction</a:t>
            </a:r>
            <a:endParaRPr lang="en-US" sz="1150" dirty="0"/>
          </a:p>
        </p:txBody>
      </p:sp>
      <p:sp>
        <p:nvSpPr>
          <p:cNvPr id="10" name="Shape 8"/>
          <p:cNvSpPr/>
          <p:nvPr/>
        </p:nvSpPr>
        <p:spPr>
          <a:xfrm>
            <a:off x="4343400" y="1847088"/>
            <a:ext cx="3502152" cy="2468880"/>
          </a:xfrm>
          <a:prstGeom prst="roundRect">
            <a:avLst>
              <a:gd name="adj" fmla="val 2963"/>
            </a:avLst>
          </a:prstGeom>
          <a:solidFill>
            <a:srgbClr val="F2F6FD"/>
          </a:solidFill>
          <a:ln/>
        </p:spPr>
      </p:sp>
      <p:sp>
        <p:nvSpPr>
          <p:cNvPr id="11" name="Text 9"/>
          <p:cNvSpPr txBox="1"/>
          <p:nvPr/>
        </p:nvSpPr>
        <p:spPr>
          <a:xfrm>
            <a:off x="4526280" y="2505456"/>
            <a:ext cx="3136392" cy="731520"/>
          </a:xfrm>
          <a:prstGeom prst="rect">
            <a:avLst/>
          </a:prstGeom>
          <a:noFill/>
          <a:ln/>
        </p:spPr>
        <p:txBody>
          <a:bodyPr wrap="square" lIns="0" tIns="0" rIns="0" bIns="0" rtlCol="0" anchor="ctr"/>
          <a:lstStyle/>
          <a:p>
            <a:pPr algn="ctr" indent="0" marL="0">
              <a:buNone/>
            </a:pPr>
            <a:r>
              <a:rPr lang="en-US" sz="3400" b="1" dirty="0">
                <a:solidFill>
                  <a:srgbClr val="003BA3"/>
                </a:solidFill>
                <a:latin typeface="Montserrat" pitchFamily="34" charset="0"/>
                <a:ea typeface="Montserrat" pitchFamily="34" charset="-122"/>
                <a:cs typeface="Montserrat" pitchFamily="34" charset="-120"/>
              </a:rPr>
              <a:t>~ 1 in 5</a:t>
            </a:r>
            <a:endParaRPr lang="en-US" sz="3400" dirty="0"/>
          </a:p>
        </p:txBody>
      </p:sp>
      <p:sp>
        <p:nvSpPr>
          <p:cNvPr id="12" name="Text 10"/>
          <p:cNvSpPr txBox="1"/>
          <p:nvPr/>
        </p:nvSpPr>
        <p:spPr>
          <a:xfrm>
            <a:off x="4526280" y="3218688"/>
            <a:ext cx="3136392" cy="731520"/>
          </a:xfrm>
          <a:prstGeom prst="rect">
            <a:avLst/>
          </a:prstGeom>
          <a:noFill/>
          <a:ln/>
        </p:spPr>
        <p:txBody>
          <a:bodyPr wrap="square" lIns="0" tIns="0" rIns="0" bIns="0" rtlCol="0" anchor="t"/>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entered with no defined occupational goal</a:t>
            </a:r>
            <a:endParaRPr lang="en-US" sz="1150" dirty="0"/>
          </a:p>
        </p:txBody>
      </p:sp>
      <p:sp>
        <p:nvSpPr>
          <p:cNvPr id="13" name="Shape 11"/>
          <p:cNvSpPr/>
          <p:nvPr/>
        </p:nvSpPr>
        <p:spPr>
          <a:xfrm>
            <a:off x="8119872" y="1847088"/>
            <a:ext cx="3502152" cy="2468880"/>
          </a:xfrm>
          <a:prstGeom prst="roundRect">
            <a:avLst>
              <a:gd name="adj" fmla="val 2963"/>
            </a:avLst>
          </a:prstGeom>
          <a:solidFill>
            <a:srgbClr val="F2F6FD"/>
          </a:solidFill>
          <a:ln/>
        </p:spPr>
      </p:sp>
      <p:sp>
        <p:nvSpPr>
          <p:cNvPr id="14" name="Text 12"/>
          <p:cNvSpPr txBox="1"/>
          <p:nvPr/>
        </p:nvSpPr>
        <p:spPr>
          <a:xfrm>
            <a:off x="8302752" y="2505456"/>
            <a:ext cx="3136392" cy="731520"/>
          </a:xfrm>
          <a:prstGeom prst="rect">
            <a:avLst/>
          </a:prstGeom>
          <a:noFill/>
          <a:ln/>
        </p:spPr>
        <p:txBody>
          <a:bodyPr wrap="square" lIns="0" tIns="0" rIns="0" bIns="0" rtlCol="0" anchor="ctr"/>
          <a:lstStyle/>
          <a:p>
            <a:pPr algn="ctr" indent="0" marL="0">
              <a:buNone/>
            </a:pPr>
            <a:r>
              <a:rPr lang="en-US" sz="3400" b="1" dirty="0">
                <a:solidFill>
                  <a:srgbClr val="003BA3"/>
                </a:solidFill>
                <a:latin typeface="Montserrat" pitchFamily="34" charset="0"/>
                <a:ea typeface="Montserrat" pitchFamily="34" charset="-122"/>
                <a:cs typeface="Montserrat" pitchFamily="34" charset="-120"/>
              </a:rPr>
              <a:t>~ 1 in 3</a:t>
            </a:r>
            <a:endParaRPr lang="en-US" sz="3400" dirty="0"/>
          </a:p>
        </p:txBody>
      </p:sp>
      <p:sp>
        <p:nvSpPr>
          <p:cNvPr id="15" name="Text 13"/>
          <p:cNvSpPr txBox="1"/>
          <p:nvPr/>
        </p:nvSpPr>
        <p:spPr>
          <a:xfrm>
            <a:off x="8302752" y="3218688"/>
            <a:ext cx="3136392" cy="731520"/>
          </a:xfrm>
          <a:prstGeom prst="rect">
            <a:avLst/>
          </a:prstGeom>
          <a:noFill/>
          <a:ln/>
        </p:spPr>
        <p:txBody>
          <a:bodyPr wrap="square" lIns="0" tIns="0" rIns="0" bIns="0" rtlCol="0" anchor="t"/>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were later unsure they would choose the same field again</a:t>
            </a:r>
            <a:endParaRPr lang="en-US" sz="1150" dirty="0"/>
          </a:p>
        </p:txBody>
      </p:sp>
      <p:sp>
        <p:nvSpPr>
          <p:cNvPr id="16" name="Shape 14"/>
          <p:cNvSpPr/>
          <p:nvPr/>
        </p:nvSpPr>
        <p:spPr>
          <a:xfrm>
            <a:off x="566928" y="4590288"/>
            <a:ext cx="11055096" cy="1188720"/>
          </a:xfrm>
          <a:prstGeom prst="roundRect">
            <a:avLst>
              <a:gd name="adj" fmla="val 4615"/>
            </a:avLst>
          </a:prstGeom>
          <a:solidFill>
            <a:srgbClr val="F7F8FA"/>
          </a:solidFill>
          <a:ln/>
        </p:spPr>
      </p:sp>
      <p:sp>
        <p:nvSpPr>
          <p:cNvPr id="17" name="Text 15"/>
          <p:cNvSpPr txBox="1"/>
          <p:nvPr/>
        </p:nvSpPr>
        <p:spPr>
          <a:xfrm>
            <a:off x="804672" y="4590288"/>
            <a:ext cx="10579608" cy="1188720"/>
          </a:xfrm>
          <a:prstGeom prst="rect">
            <a:avLst/>
          </a:prstGeom>
          <a:noFill/>
          <a:ln/>
        </p:spPr>
        <p:txBody>
          <a:bodyPr wrap="square" lIns="0" tIns="0" rIns="0" bIns="0" rtlCol="0" anchor="ctr"/>
          <a:lstStyle/>
          <a:p>
            <a:pPr indent="0" marL="0">
              <a:lnSpc>
                <a:spcPct val="105000"/>
              </a:lnSpc>
              <a:buNone/>
            </a:pPr>
            <a:r>
              <a:rPr lang="en-US" sz="1250" b="1" dirty="0">
                <a:solidFill>
                  <a:srgbClr val="003BA3"/>
                </a:solidFill>
                <a:latin typeface="Montserrat" pitchFamily="34" charset="0"/>
                <a:ea typeface="Montserrat" pitchFamily="34" charset="-122"/>
                <a:cs typeface="Montserrat" pitchFamily="34" charset="-120"/>
              </a:rPr>
              <a:t>The downstream cost.  </a:t>
            </a:r>
            <a:pPr indent="0" marL="0">
              <a:lnSpc>
                <a:spcPct val="105000"/>
              </a:lnSpc>
              <a:buNone/>
            </a:pPr>
            <a:r>
              <a:rPr lang="en-US" sz="1300" dirty="0">
                <a:solidFill>
                  <a:srgbClr val="1B2333"/>
                </a:solidFill>
                <a:latin typeface="Calibri" pitchFamily="34" charset="0"/>
                <a:ea typeface="Calibri" pitchFamily="34" charset="-122"/>
                <a:cs typeface="Calibri" pitchFamily="34" charset="-120"/>
              </a:rPr>
              <a:t>Analysis of successive Labour Force Survey waves finds the share of graduates in fully matched employment declining, with vertical and combined mismatch carrying measurable wage penalties. [4]</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THE ALTERNATIVE</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Honest previews of a job improve fit</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This is established, not speculative — four decades of consistent meta-analytic evidence.</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[6] Phillips (1998), 40 studies.  [7] Earnest, Allen &amp; Landis (2011), 52 studies, ~17,000 participants.</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6</a:t>
            </a:r>
            <a:endParaRPr lang="en-US" sz="1000" dirty="0"/>
          </a:p>
        </p:txBody>
      </p:sp>
      <p:sp>
        <p:nvSpPr>
          <p:cNvPr id="7" name="Shape 5"/>
          <p:cNvSpPr/>
          <p:nvPr/>
        </p:nvSpPr>
        <p:spPr>
          <a:xfrm>
            <a:off x="566928" y="1847088"/>
            <a:ext cx="5408676" cy="2743200"/>
          </a:xfrm>
          <a:prstGeom prst="roundRect">
            <a:avLst>
              <a:gd name="adj" fmla="val 2667"/>
            </a:avLst>
          </a:prstGeom>
          <a:solidFill>
            <a:srgbClr val="F2F6FD"/>
          </a:solidFill>
          <a:ln w="6350">
            <a:solidFill>
              <a:srgbClr val="F2F6FD"/>
            </a:solidFill>
            <a:prstDash val="solid"/>
          </a:ln>
        </p:spPr>
      </p:sp>
      <p:sp>
        <p:nvSpPr>
          <p:cNvPr id="8" name="Shape 6"/>
          <p:cNvSpPr/>
          <p:nvPr/>
        </p:nvSpPr>
        <p:spPr>
          <a:xfrm>
            <a:off x="786384" y="2048256"/>
            <a:ext cx="329184" cy="329184"/>
          </a:xfrm>
          <a:prstGeom prst="ellipse">
            <a:avLst/>
          </a:prstGeom>
          <a:solidFill>
            <a:srgbClr val="003BA3"/>
          </a:solidFill>
          <a:ln/>
        </p:spPr>
      </p:sp>
      <p:sp>
        <p:nvSpPr>
          <p:cNvPr id="9" name="Text 7"/>
          <p:cNvSpPr txBox="1"/>
          <p:nvPr/>
        </p:nvSpPr>
        <p:spPr>
          <a:xfrm>
            <a:off x="78638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10" name="Text 8"/>
          <p:cNvSpPr txBox="1"/>
          <p:nvPr/>
        </p:nvSpPr>
        <p:spPr>
          <a:xfrm>
            <a:off x="786384" y="2487168"/>
            <a:ext cx="496976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Phillips, 1998 — the effect</a:t>
            </a:r>
            <a:endParaRPr lang="en-US" sz="1300" dirty="0"/>
          </a:p>
        </p:txBody>
      </p:sp>
      <p:sp>
        <p:nvSpPr>
          <p:cNvPr id="11" name="Text 9"/>
          <p:cNvSpPr txBox="1"/>
          <p:nvPr/>
        </p:nvSpPr>
        <p:spPr>
          <a:xfrm>
            <a:off x="786384" y="2980944"/>
            <a:ext cx="4969764" cy="1444752"/>
          </a:xfrm>
          <a:prstGeom prst="rect">
            <a:avLst/>
          </a:prstGeom>
          <a:noFill/>
          <a:ln/>
        </p:spPr>
        <p:txBody>
          <a:bodyPr wrap="square" lIns="0" tIns="0" rIns="0" bIns="0" rtlCol="0" anchor="t"/>
          <a:lstStyle/>
          <a:p>
            <a:pPr indent="0" marL="0">
              <a:lnSpc>
                <a:spcPct val="103000"/>
              </a:lnSpc>
              <a:buNone/>
            </a:pPr>
            <a:r>
              <a:rPr lang="en-US" sz="1200" dirty="0">
                <a:solidFill>
                  <a:srgbClr val="1B2333"/>
                </a:solidFill>
                <a:latin typeface="Calibri" pitchFamily="34" charset="0"/>
                <a:ea typeface="Calibri" pitchFamily="34" charset="-122"/>
                <a:cs typeface="Calibri" pitchFamily="34" charset="-120"/>
              </a:rPr>
              <a:t>Meta-analysis of 40 studies. Realistic job previews reduce inflated expectations, increase self-selection, improve performance and lower voluntary turnover. Richer audiovisual previews outperform written ones. [6]</a:t>
            </a:r>
            <a:endParaRPr lang="en-US" sz="1200" dirty="0"/>
          </a:p>
        </p:txBody>
      </p:sp>
      <p:sp>
        <p:nvSpPr>
          <p:cNvPr id="12" name="Shape 10"/>
          <p:cNvSpPr/>
          <p:nvPr/>
        </p:nvSpPr>
        <p:spPr>
          <a:xfrm>
            <a:off x="6213348" y="1847088"/>
            <a:ext cx="5408676" cy="2743200"/>
          </a:xfrm>
          <a:prstGeom prst="roundRect">
            <a:avLst>
              <a:gd name="adj" fmla="val 2667"/>
            </a:avLst>
          </a:prstGeom>
          <a:solidFill>
            <a:srgbClr val="F2F6FD"/>
          </a:solidFill>
          <a:ln w="6350">
            <a:solidFill>
              <a:srgbClr val="F2F6FD"/>
            </a:solidFill>
            <a:prstDash val="solid"/>
          </a:ln>
        </p:spPr>
      </p:sp>
      <p:sp>
        <p:nvSpPr>
          <p:cNvPr id="13" name="Shape 11"/>
          <p:cNvSpPr/>
          <p:nvPr/>
        </p:nvSpPr>
        <p:spPr>
          <a:xfrm>
            <a:off x="6432804" y="2048256"/>
            <a:ext cx="329184" cy="329184"/>
          </a:xfrm>
          <a:prstGeom prst="ellipse">
            <a:avLst/>
          </a:prstGeom>
          <a:solidFill>
            <a:srgbClr val="003BA3"/>
          </a:solidFill>
          <a:ln/>
        </p:spPr>
      </p:sp>
      <p:sp>
        <p:nvSpPr>
          <p:cNvPr id="14" name="Text 12"/>
          <p:cNvSpPr txBox="1"/>
          <p:nvPr/>
        </p:nvSpPr>
        <p:spPr>
          <a:xfrm>
            <a:off x="643280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5" name="Text 13"/>
          <p:cNvSpPr txBox="1"/>
          <p:nvPr/>
        </p:nvSpPr>
        <p:spPr>
          <a:xfrm>
            <a:off x="6432804" y="2487168"/>
            <a:ext cx="496976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Earnest, Allen &amp; Landis, 2011 — the mechanism</a:t>
            </a:r>
            <a:endParaRPr lang="en-US" sz="1300" dirty="0"/>
          </a:p>
        </p:txBody>
      </p:sp>
      <p:sp>
        <p:nvSpPr>
          <p:cNvPr id="16" name="Text 14"/>
          <p:cNvSpPr txBox="1"/>
          <p:nvPr/>
        </p:nvSpPr>
        <p:spPr>
          <a:xfrm>
            <a:off x="6432804" y="2980944"/>
            <a:ext cx="4969764" cy="1444752"/>
          </a:xfrm>
          <a:prstGeom prst="rect">
            <a:avLst/>
          </a:prstGeom>
          <a:noFill/>
          <a:ln/>
        </p:spPr>
        <p:txBody>
          <a:bodyPr wrap="square" lIns="0" tIns="0" rIns="0" bIns="0" rtlCol="0" anchor="t"/>
          <a:lstStyle/>
          <a:p>
            <a:pPr indent="0" marL="0">
              <a:lnSpc>
                <a:spcPct val="103000"/>
              </a:lnSpc>
              <a:buNone/>
            </a:pPr>
            <a:r>
              <a:rPr lang="en-US" sz="1200" dirty="0">
                <a:solidFill>
                  <a:srgbClr val="1B2333"/>
                </a:solidFill>
                <a:latin typeface="Calibri" pitchFamily="34" charset="0"/>
                <a:ea typeface="Calibri" pitchFamily="34" charset="-122"/>
                <a:cs typeface="Calibri" pitchFamily="34" charset="-120"/>
              </a:rPr>
              <a:t>Meta-analytic path analysis over 52 studies and approximately 17,000 participants identifies perceived honesty as the mediating mechanism. The effect depends on candour, not on information volume. [7]</a:t>
            </a:r>
            <a:endParaRPr lang="en-US" sz="1200" dirty="0"/>
          </a:p>
        </p:txBody>
      </p:sp>
      <p:sp>
        <p:nvSpPr>
          <p:cNvPr id="17" name="Shape 15"/>
          <p:cNvSpPr/>
          <p:nvPr/>
        </p:nvSpPr>
        <p:spPr>
          <a:xfrm>
            <a:off x="566928" y="4828032"/>
            <a:ext cx="11055096" cy="822960"/>
          </a:xfrm>
          <a:prstGeom prst="roundRect">
            <a:avLst>
              <a:gd name="adj" fmla="val 6667"/>
            </a:avLst>
          </a:prstGeom>
          <a:solidFill>
            <a:srgbClr val="003BA3"/>
          </a:solidFill>
          <a:ln/>
        </p:spPr>
      </p:sp>
      <p:sp>
        <p:nvSpPr>
          <p:cNvPr id="18" name="Text 16"/>
          <p:cNvSpPr txBox="1"/>
          <p:nvPr/>
        </p:nvSpPr>
        <p:spPr>
          <a:xfrm>
            <a:off x="841248" y="4828032"/>
            <a:ext cx="10506456" cy="822960"/>
          </a:xfrm>
          <a:prstGeom prst="rect">
            <a:avLst/>
          </a:prstGeom>
          <a:noFill/>
          <a:ln/>
        </p:spPr>
        <p:txBody>
          <a:bodyPr wrap="square" lIns="0" tIns="0" rIns="0" bIns="0" rtlCol="0" anchor="ctr"/>
          <a:lstStyle/>
          <a:p>
            <a:pPr indent="0" marL="0">
              <a:buNone/>
            </a:pPr>
            <a:r>
              <a:rPr lang="en-US" sz="1450" b="1" dirty="0">
                <a:solidFill>
                  <a:srgbClr val="FFFFFF"/>
                </a:solidFill>
                <a:latin typeface="Montserrat" pitchFamily="34" charset="0"/>
                <a:ea typeface="Montserrat" pitchFamily="34" charset="-122"/>
                <a:cs typeface="Montserrat" pitchFamily="34" charset="-120"/>
              </a:rPr>
              <a:t>The constraint was never evidence — it was delivery. Previews required workplace exposure, or content authored one occupation at a time.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MANDATE</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Objectives, scope and non-goals</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The scope restriction is methodological, not convenient — it is what makes the research claims testable.</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7</a:t>
            </a:r>
            <a:endParaRPr lang="en-US" sz="1000" dirty="0"/>
          </a:p>
        </p:txBody>
      </p:sp>
      <p:sp>
        <p:nvSpPr>
          <p:cNvPr id="6" name="Text 4"/>
          <p:cNvSpPr txBox="1"/>
          <p:nvPr/>
        </p:nvSpPr>
        <p:spPr>
          <a:xfrm>
            <a:off x="566928" y="1847088"/>
            <a:ext cx="6309360" cy="292608"/>
          </a:xfrm>
          <a:prstGeom prst="rect">
            <a:avLst/>
          </a:prstGeom>
          <a:noFill/>
          <a:ln/>
        </p:spPr>
        <p:txBody>
          <a:bodyPr wrap="square" lIns="0" tIns="0" rIns="0" bIns="0" rtlCol="0" anchor="ctr"/>
          <a:lstStyle/>
          <a:p>
            <a:pPr indent="0" marL="0">
              <a:buNone/>
            </a:pPr>
            <a:r>
              <a:rPr lang="en-US" sz="1300" b="1" dirty="0">
                <a:solidFill>
                  <a:srgbClr val="003BA3"/>
                </a:solidFill>
                <a:latin typeface="Montserrat" pitchFamily="34" charset="0"/>
                <a:ea typeface="Montserrat" pitchFamily="34" charset="-122"/>
                <a:cs typeface="Montserrat" pitchFamily="34" charset="-120"/>
              </a:rPr>
              <a:t>Five objectives</a:t>
            </a:r>
            <a:endParaRPr lang="en-US" sz="1300" dirty="0"/>
          </a:p>
        </p:txBody>
      </p:sp>
      <p:sp>
        <p:nvSpPr>
          <p:cNvPr id="7" name="Shape 5"/>
          <p:cNvSpPr/>
          <p:nvPr/>
        </p:nvSpPr>
        <p:spPr>
          <a:xfrm>
            <a:off x="566928" y="2304288"/>
            <a:ext cx="292608" cy="292608"/>
          </a:xfrm>
          <a:prstGeom prst="ellipse">
            <a:avLst/>
          </a:prstGeom>
          <a:solidFill>
            <a:srgbClr val="003BA3"/>
          </a:solidFill>
          <a:ln/>
        </p:spPr>
      </p:sp>
      <p:sp>
        <p:nvSpPr>
          <p:cNvPr id="8" name="Text 6"/>
          <p:cNvSpPr txBox="1"/>
          <p:nvPr/>
        </p:nvSpPr>
        <p:spPr>
          <a:xfrm>
            <a:off x="566928" y="23042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1</a:t>
            </a:r>
            <a:endParaRPr lang="en-US" sz="1100" dirty="0"/>
          </a:p>
        </p:txBody>
      </p:sp>
      <p:sp>
        <p:nvSpPr>
          <p:cNvPr id="9" name="Text 7"/>
          <p:cNvSpPr txBox="1"/>
          <p:nvPr/>
        </p:nvSpPr>
        <p:spPr>
          <a:xfrm>
            <a:off x="969264" y="2249424"/>
            <a:ext cx="5852160" cy="548640"/>
          </a:xfrm>
          <a:prstGeom prst="rect">
            <a:avLst/>
          </a:prstGeom>
          <a:noFill/>
          <a:ln/>
        </p:spPr>
        <p:txBody>
          <a:bodyPr wrap="square" lIns="0" tIns="0" rIns="0" bIns="0" rtlCol="0" anchor="ctr"/>
          <a:lstStyle/>
          <a:p>
            <a:pPr indent="0" marL="0">
              <a:lnSpc>
                <a:spcPct val="103000"/>
              </a:lnSpc>
              <a:buNone/>
            </a:pPr>
            <a:r>
              <a:rPr lang="en-US" sz="1250" dirty="0">
                <a:solidFill>
                  <a:srgbClr val="1B2333"/>
                </a:solidFill>
                <a:latin typeface="Calibri" pitchFamily="34" charset="0"/>
                <a:ea typeface="Calibri" pitchFamily="34" charset="-122"/>
                <a:cs typeface="Calibri" pitchFamily="34" charset="-120"/>
              </a:rPr>
              <a:t>Constrain generation so scenarios stay occupationally faithful.</a:t>
            </a:r>
            <a:endParaRPr lang="en-US" sz="1250" dirty="0"/>
          </a:p>
        </p:txBody>
      </p:sp>
      <p:sp>
        <p:nvSpPr>
          <p:cNvPr id="10" name="Shape 8"/>
          <p:cNvSpPr/>
          <p:nvPr/>
        </p:nvSpPr>
        <p:spPr>
          <a:xfrm>
            <a:off x="566928" y="3035808"/>
            <a:ext cx="292608" cy="292608"/>
          </a:xfrm>
          <a:prstGeom prst="ellipse">
            <a:avLst/>
          </a:prstGeom>
          <a:solidFill>
            <a:srgbClr val="003BA3"/>
          </a:solidFill>
          <a:ln/>
        </p:spPr>
      </p:sp>
      <p:sp>
        <p:nvSpPr>
          <p:cNvPr id="11" name="Text 9"/>
          <p:cNvSpPr txBox="1"/>
          <p:nvPr/>
        </p:nvSpPr>
        <p:spPr>
          <a:xfrm>
            <a:off x="566928" y="30358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2</a:t>
            </a:r>
            <a:endParaRPr lang="en-US" sz="1100" dirty="0"/>
          </a:p>
        </p:txBody>
      </p:sp>
      <p:sp>
        <p:nvSpPr>
          <p:cNvPr id="12" name="Text 10"/>
          <p:cNvSpPr txBox="1"/>
          <p:nvPr/>
        </p:nvSpPr>
        <p:spPr>
          <a:xfrm>
            <a:off x="969264" y="2980944"/>
            <a:ext cx="5852160" cy="548640"/>
          </a:xfrm>
          <a:prstGeom prst="rect">
            <a:avLst/>
          </a:prstGeom>
          <a:noFill/>
          <a:ln/>
        </p:spPr>
        <p:txBody>
          <a:bodyPr wrap="square" lIns="0" tIns="0" rIns="0" bIns="0" rtlCol="0" anchor="ctr"/>
          <a:lstStyle/>
          <a:p>
            <a:pPr indent="0" marL="0">
              <a:lnSpc>
                <a:spcPct val="103000"/>
              </a:lnSpc>
              <a:buNone/>
            </a:pPr>
            <a:r>
              <a:rPr lang="en-US" sz="1250" dirty="0">
                <a:solidFill>
                  <a:srgbClr val="1B2333"/>
                </a:solidFill>
                <a:latin typeface="Calibri" pitchFamily="34" charset="0"/>
                <a:ea typeface="Calibri" pitchFamily="34" charset="-122"/>
                <a:cs typeface="Calibri" pitchFamily="34" charset="-120"/>
              </a:rPr>
              <a:t>Establish whether automated assessment agrees with experts sufficiently for formative use.</a:t>
            </a:r>
            <a:endParaRPr lang="en-US" sz="1250" dirty="0"/>
          </a:p>
        </p:txBody>
      </p:sp>
      <p:sp>
        <p:nvSpPr>
          <p:cNvPr id="13" name="Shape 11"/>
          <p:cNvSpPr/>
          <p:nvPr/>
        </p:nvSpPr>
        <p:spPr>
          <a:xfrm>
            <a:off x="566928" y="3767328"/>
            <a:ext cx="292608" cy="292608"/>
          </a:xfrm>
          <a:prstGeom prst="ellipse">
            <a:avLst/>
          </a:prstGeom>
          <a:solidFill>
            <a:srgbClr val="003BA3"/>
          </a:solidFill>
          <a:ln/>
        </p:spPr>
      </p:sp>
      <p:sp>
        <p:nvSpPr>
          <p:cNvPr id="14" name="Text 12"/>
          <p:cNvSpPr txBox="1"/>
          <p:nvPr/>
        </p:nvSpPr>
        <p:spPr>
          <a:xfrm>
            <a:off x="566928" y="37673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3</a:t>
            </a:r>
            <a:endParaRPr lang="en-US" sz="1100" dirty="0"/>
          </a:p>
        </p:txBody>
      </p:sp>
      <p:sp>
        <p:nvSpPr>
          <p:cNvPr id="15" name="Text 13"/>
          <p:cNvSpPr txBox="1"/>
          <p:nvPr/>
        </p:nvSpPr>
        <p:spPr>
          <a:xfrm>
            <a:off x="969264" y="3712464"/>
            <a:ext cx="5852160" cy="548640"/>
          </a:xfrm>
          <a:prstGeom prst="rect">
            <a:avLst/>
          </a:prstGeom>
          <a:noFill/>
          <a:ln/>
        </p:spPr>
        <p:txBody>
          <a:bodyPr wrap="square" lIns="0" tIns="0" rIns="0" bIns="0" rtlCol="0" anchor="ctr"/>
          <a:lstStyle/>
          <a:p>
            <a:pPr indent="0" marL="0">
              <a:lnSpc>
                <a:spcPct val="103000"/>
              </a:lnSpc>
              <a:buNone/>
            </a:pPr>
            <a:r>
              <a:rPr lang="en-US" sz="1250" dirty="0">
                <a:solidFill>
                  <a:srgbClr val="1B2333"/>
                </a:solidFill>
                <a:latin typeface="Calibri" pitchFamily="34" charset="0"/>
                <a:ea typeface="Calibri" pitchFamily="34" charset="-122"/>
                <a:cs typeface="Calibri" pitchFamily="34" charset="-120"/>
              </a:rPr>
              <a:t>Design competence-based progression across occupations.</a:t>
            </a:r>
            <a:endParaRPr lang="en-US" sz="1250" dirty="0"/>
          </a:p>
        </p:txBody>
      </p:sp>
      <p:sp>
        <p:nvSpPr>
          <p:cNvPr id="16" name="Shape 14"/>
          <p:cNvSpPr/>
          <p:nvPr/>
        </p:nvSpPr>
        <p:spPr>
          <a:xfrm>
            <a:off x="566928" y="4498848"/>
            <a:ext cx="292608" cy="292608"/>
          </a:xfrm>
          <a:prstGeom prst="ellipse">
            <a:avLst/>
          </a:prstGeom>
          <a:solidFill>
            <a:srgbClr val="003BA3"/>
          </a:solidFill>
          <a:ln/>
        </p:spPr>
      </p:sp>
      <p:sp>
        <p:nvSpPr>
          <p:cNvPr id="17" name="Text 15"/>
          <p:cNvSpPr txBox="1"/>
          <p:nvPr/>
        </p:nvSpPr>
        <p:spPr>
          <a:xfrm>
            <a:off x="566928" y="44988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4</a:t>
            </a:r>
            <a:endParaRPr lang="en-US" sz="1100" dirty="0"/>
          </a:p>
        </p:txBody>
      </p:sp>
      <p:sp>
        <p:nvSpPr>
          <p:cNvPr id="18" name="Text 16"/>
          <p:cNvSpPr txBox="1"/>
          <p:nvPr/>
        </p:nvSpPr>
        <p:spPr>
          <a:xfrm>
            <a:off x="969264" y="4443984"/>
            <a:ext cx="5852160" cy="548640"/>
          </a:xfrm>
          <a:prstGeom prst="rect">
            <a:avLst/>
          </a:prstGeom>
          <a:noFill/>
          <a:ln/>
        </p:spPr>
        <p:txBody>
          <a:bodyPr wrap="square" lIns="0" tIns="0" rIns="0" bIns="0" rtlCol="0" anchor="ctr"/>
          <a:lstStyle/>
          <a:p>
            <a:pPr indent="0" marL="0">
              <a:lnSpc>
                <a:spcPct val="103000"/>
              </a:lnSpc>
              <a:buNone/>
            </a:pPr>
            <a:r>
              <a:rPr lang="en-US" sz="1250" dirty="0">
                <a:solidFill>
                  <a:srgbClr val="1B2333"/>
                </a:solidFill>
                <a:latin typeface="Calibri" pitchFamily="34" charset="0"/>
                <a:ea typeface="Calibri" pitchFamily="34" charset="-122"/>
                <a:cs typeface="Calibri" pitchFamily="34" charset="-120"/>
              </a:rPr>
              <a:t>Determine which game mechanisms sustain engagement without displacing learning.</a:t>
            </a:r>
            <a:endParaRPr lang="en-US" sz="1250" dirty="0"/>
          </a:p>
        </p:txBody>
      </p:sp>
      <p:sp>
        <p:nvSpPr>
          <p:cNvPr id="19" name="Shape 17"/>
          <p:cNvSpPr/>
          <p:nvPr/>
        </p:nvSpPr>
        <p:spPr>
          <a:xfrm>
            <a:off x="566928" y="5230368"/>
            <a:ext cx="292608" cy="292608"/>
          </a:xfrm>
          <a:prstGeom prst="ellipse">
            <a:avLst/>
          </a:prstGeom>
          <a:solidFill>
            <a:srgbClr val="003BA3"/>
          </a:solidFill>
          <a:ln/>
        </p:spPr>
      </p:sp>
      <p:sp>
        <p:nvSpPr>
          <p:cNvPr id="20" name="Text 18"/>
          <p:cNvSpPr txBox="1"/>
          <p:nvPr/>
        </p:nvSpPr>
        <p:spPr>
          <a:xfrm>
            <a:off x="566928" y="52303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5</a:t>
            </a:r>
            <a:endParaRPr lang="en-US" sz="1100" dirty="0"/>
          </a:p>
        </p:txBody>
      </p:sp>
      <p:sp>
        <p:nvSpPr>
          <p:cNvPr id="21" name="Text 19"/>
          <p:cNvSpPr txBox="1"/>
          <p:nvPr/>
        </p:nvSpPr>
        <p:spPr>
          <a:xfrm>
            <a:off x="969264" y="5175504"/>
            <a:ext cx="5852160" cy="548640"/>
          </a:xfrm>
          <a:prstGeom prst="rect">
            <a:avLst/>
          </a:prstGeom>
          <a:noFill/>
          <a:ln/>
        </p:spPr>
        <p:txBody>
          <a:bodyPr wrap="square" lIns="0" tIns="0" rIns="0" bIns="0" rtlCol="0" anchor="ctr"/>
          <a:lstStyle/>
          <a:p>
            <a:pPr indent="0" marL="0">
              <a:lnSpc>
                <a:spcPct val="103000"/>
              </a:lnSpc>
              <a:buNone/>
            </a:pPr>
            <a:r>
              <a:rPr lang="en-US" sz="1250" dirty="0">
                <a:solidFill>
                  <a:srgbClr val="1B2333"/>
                </a:solidFill>
                <a:latin typeface="Calibri" pitchFamily="34" charset="0"/>
                <a:ea typeface="Calibri" pitchFamily="34" charset="-122"/>
                <a:cs typeface="Calibri" pitchFamily="34" charset="-120"/>
              </a:rPr>
              <a:t>Construct an offline evaluation methodology capable of substantiating or refuting the above.</a:t>
            </a:r>
            <a:endParaRPr lang="en-US" sz="1250" dirty="0"/>
          </a:p>
        </p:txBody>
      </p:sp>
      <p:sp>
        <p:nvSpPr>
          <p:cNvPr id="22" name="Shape 20"/>
          <p:cNvSpPr/>
          <p:nvPr/>
        </p:nvSpPr>
        <p:spPr>
          <a:xfrm>
            <a:off x="7242048" y="1847088"/>
            <a:ext cx="4379976" cy="1691640"/>
          </a:xfrm>
          <a:prstGeom prst="roundRect">
            <a:avLst>
              <a:gd name="adj" fmla="val 3243"/>
            </a:avLst>
          </a:prstGeom>
          <a:solidFill>
            <a:srgbClr val="E4EBFA"/>
          </a:solidFill>
          <a:ln/>
        </p:spPr>
      </p:sp>
      <p:sp>
        <p:nvSpPr>
          <p:cNvPr id="23" name="Text 21"/>
          <p:cNvSpPr txBox="1"/>
          <p:nvPr/>
        </p:nvSpPr>
        <p:spPr>
          <a:xfrm>
            <a:off x="7461504" y="1993392"/>
            <a:ext cx="3941064" cy="274320"/>
          </a:xfrm>
          <a:prstGeom prst="rect">
            <a:avLst/>
          </a:prstGeom>
          <a:noFill/>
          <a:ln/>
        </p:spPr>
        <p:txBody>
          <a:bodyPr wrap="square" lIns="0" tIns="0" rIns="0" bIns="0" rtlCol="0" anchor="ctr"/>
          <a:lstStyle/>
          <a:p>
            <a:pPr indent="0" marL="0">
              <a:buNone/>
            </a:pPr>
            <a:r>
              <a:rPr lang="en-US" sz="1250" b="1" dirty="0">
                <a:solidFill>
                  <a:srgbClr val="003BA3"/>
                </a:solidFill>
                <a:latin typeface="Montserrat" pitchFamily="34" charset="0"/>
                <a:ea typeface="Montserrat" pitchFamily="34" charset="-122"/>
                <a:cs typeface="Montserrat" pitchFamily="34" charset="-120"/>
              </a:rPr>
              <a:t>Scope</a:t>
            </a:r>
            <a:endParaRPr lang="en-US" sz="1250" dirty="0"/>
          </a:p>
        </p:txBody>
      </p:sp>
      <p:sp>
        <p:nvSpPr>
          <p:cNvPr id="24" name="Text 22"/>
          <p:cNvSpPr txBox="1"/>
          <p:nvPr/>
        </p:nvSpPr>
        <p:spPr>
          <a:xfrm>
            <a:off x="7461504" y="2286000"/>
            <a:ext cx="3941064" cy="804672"/>
          </a:xfrm>
          <a:prstGeom prst="rect">
            <a:avLst/>
          </a:prstGeom>
          <a:noFill/>
          <a:ln/>
        </p:spPr>
        <p:txBody>
          <a:bodyPr wrap="square" lIns="0" tIns="0" rIns="0" bIns="0" rtlCol="0" anchor="ctr"/>
          <a:lstStyle/>
          <a:p>
            <a:pPr indent="0" marL="0">
              <a:lnSpc>
                <a:spcPct val="103000"/>
              </a:lnSpc>
              <a:buNone/>
            </a:pPr>
            <a:r>
              <a:rPr lang="en-US" sz="1200" dirty="0">
                <a:solidFill>
                  <a:srgbClr val="1B2333"/>
                </a:solidFill>
                <a:latin typeface="Calibri" pitchFamily="34" charset="0"/>
                <a:ea typeface="Calibri" pitchFamily="34" charset="-122"/>
                <a:cs typeface="Calibri" pitchFamily="34" charset="-120"/>
              </a:rPr>
              <a:t>Phase 1 covers the information technology field — complete in function, bounded in coverage. The design is domain-agnostic even though the evaluated instance is not.</a:t>
            </a:r>
            <a:endParaRPr lang="en-US" sz="1200" dirty="0"/>
          </a:p>
        </p:txBody>
      </p:sp>
      <p:sp>
        <p:nvSpPr>
          <p:cNvPr id="25" name="Shape 23"/>
          <p:cNvSpPr/>
          <p:nvPr/>
        </p:nvSpPr>
        <p:spPr>
          <a:xfrm>
            <a:off x="7242048" y="3767328"/>
            <a:ext cx="4379976" cy="2148840"/>
          </a:xfrm>
          <a:prstGeom prst="roundRect">
            <a:avLst>
              <a:gd name="adj" fmla="val 2553"/>
            </a:avLst>
          </a:prstGeom>
          <a:solidFill>
            <a:srgbClr val="F7F8FA"/>
          </a:solidFill>
          <a:ln/>
        </p:spPr>
      </p:sp>
      <p:sp>
        <p:nvSpPr>
          <p:cNvPr id="26" name="Text 24"/>
          <p:cNvSpPr txBox="1"/>
          <p:nvPr/>
        </p:nvSpPr>
        <p:spPr>
          <a:xfrm>
            <a:off x="7461504" y="3950208"/>
            <a:ext cx="3941064" cy="274320"/>
          </a:xfrm>
          <a:prstGeom prst="rect">
            <a:avLst/>
          </a:prstGeom>
          <a:noFill/>
          <a:ln/>
        </p:spPr>
        <p:txBody>
          <a:bodyPr wrap="square" lIns="0" tIns="0" rIns="0" bIns="0" rtlCol="0" anchor="ctr"/>
          <a:lstStyle/>
          <a:p>
            <a:pPr indent="0" marL="0">
              <a:buNone/>
            </a:pPr>
            <a:r>
              <a:rPr lang="en-US" sz="1250" b="1" dirty="0">
                <a:solidFill>
                  <a:srgbClr val="8A3A3A"/>
                </a:solidFill>
                <a:latin typeface="Montserrat" pitchFamily="34" charset="0"/>
                <a:ea typeface="Montserrat" pitchFamily="34" charset="-122"/>
                <a:cs typeface="Montserrat" pitchFamily="34" charset="-120"/>
              </a:rPr>
              <a:t>Explicitly not</a:t>
            </a:r>
            <a:endParaRPr lang="en-US" sz="1250" dirty="0"/>
          </a:p>
        </p:txBody>
      </p:sp>
      <p:sp>
        <p:nvSpPr>
          <p:cNvPr id="27" name="Text 25"/>
          <p:cNvSpPr txBox="1"/>
          <p:nvPr/>
        </p:nvSpPr>
        <p:spPr>
          <a:xfrm>
            <a:off x="7516368" y="4279392"/>
            <a:ext cx="3886200" cy="146304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B2333"/>
                </a:solidFill>
                <a:latin typeface="Calibri" pitchFamily="34" charset="0"/>
                <a:ea typeface="Calibri" pitchFamily="34" charset="-122"/>
                <a:cs typeface="Calibri" pitchFamily="34" charset="-120"/>
              </a:rPr>
              <a:t>Longitudinal career outcomes</a:t>
            </a:r>
            <a:endParaRPr lang="en-US" sz="1200" dirty="0"/>
          </a:p>
          <a:p>
            <a:pPr marL="342900" indent="-342900">
              <a:spcAft>
                <a:spcPts val="500"/>
              </a:spcAft>
              <a:buSzPct val="100000"/>
              <a:buChar char="•"/>
            </a:pPr>
            <a:r>
              <a:rPr lang="en-US" sz="1200" dirty="0">
                <a:solidFill>
                  <a:srgbClr val="1B2333"/>
                </a:solidFill>
                <a:latin typeface="Calibri" pitchFamily="34" charset="0"/>
                <a:ea typeface="Calibri" pitchFamily="34" charset="-122"/>
                <a:cs typeface="Calibri" pitchFamily="34" charset="-120"/>
              </a:rPr>
              <a:t>Recruitment or application brokering</a:t>
            </a:r>
            <a:endParaRPr lang="en-US" sz="1200" dirty="0"/>
          </a:p>
          <a:p>
            <a:pPr marL="342900" indent="-342900">
              <a:spcAft>
                <a:spcPts val="500"/>
              </a:spcAft>
              <a:buSzPct val="100000"/>
              <a:buChar char="•"/>
            </a:pPr>
            <a:r>
              <a:rPr lang="en-US" sz="1200" dirty="0">
                <a:solidFill>
                  <a:srgbClr val="1B2333"/>
                </a:solidFill>
                <a:latin typeface="Calibri" pitchFamily="34" charset="0"/>
                <a:ea typeface="Calibri" pitchFamily="34" charset="-122"/>
                <a:cs typeface="Calibri" pitchFamily="34" charset="-120"/>
              </a:rPr>
              <a:t>Any claim that simulation substitutes for employment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SIGNIFICANCE</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Why this is worth doing — practically and scientifically</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Two kinds of significance, justifying two different things.</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[1] Gati et al.  [6][7] RJP meta-analyses.  [8][9] Social cognitive career theory.</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8</a:t>
            </a:r>
            <a:endParaRPr lang="en-US" sz="1000" dirty="0"/>
          </a:p>
        </p:txBody>
      </p:sp>
      <p:sp>
        <p:nvSpPr>
          <p:cNvPr id="7" name="Shape 5"/>
          <p:cNvSpPr/>
          <p:nvPr/>
        </p:nvSpPr>
        <p:spPr>
          <a:xfrm>
            <a:off x="566928" y="1847088"/>
            <a:ext cx="5440680" cy="3931920"/>
          </a:xfrm>
          <a:prstGeom prst="roundRect">
            <a:avLst>
              <a:gd name="adj" fmla="val 1860"/>
            </a:avLst>
          </a:prstGeom>
          <a:solidFill>
            <a:srgbClr val="F2F6FD"/>
          </a:solidFill>
          <a:ln/>
        </p:spPr>
      </p:sp>
      <p:sp>
        <p:nvSpPr>
          <p:cNvPr id="8" name="Text 6"/>
          <p:cNvSpPr txBox="1"/>
          <p:nvPr/>
        </p:nvSpPr>
        <p:spPr>
          <a:xfrm>
            <a:off x="804672" y="2011680"/>
            <a:ext cx="4937760" cy="292608"/>
          </a:xfrm>
          <a:prstGeom prst="rect">
            <a:avLst/>
          </a:prstGeom>
          <a:noFill/>
          <a:ln/>
        </p:spPr>
        <p:txBody>
          <a:bodyPr wrap="square" lIns="0" tIns="0" rIns="0" bIns="0" rtlCol="0" anchor="ctr"/>
          <a:lstStyle/>
          <a:p>
            <a:pPr indent="0" marL="0">
              <a:buNone/>
            </a:pPr>
            <a:r>
              <a:rPr lang="en-US" sz="1400" b="1" dirty="0">
                <a:solidFill>
                  <a:srgbClr val="003BA3"/>
                </a:solidFill>
                <a:latin typeface="Montserrat" pitchFamily="34" charset="0"/>
                <a:ea typeface="Montserrat" pitchFamily="34" charset="-122"/>
                <a:cs typeface="Montserrat" pitchFamily="34" charset="-120"/>
              </a:rPr>
              <a:t>Practical</a:t>
            </a:r>
            <a:endParaRPr lang="en-US" sz="1400" dirty="0"/>
          </a:p>
        </p:txBody>
      </p:sp>
      <p:sp>
        <p:nvSpPr>
          <p:cNvPr id="9" name="Text 7"/>
          <p:cNvSpPr txBox="1"/>
          <p:nvPr/>
        </p:nvSpPr>
        <p:spPr>
          <a:xfrm>
            <a:off x="804672" y="2340864"/>
            <a:ext cx="4937760" cy="804672"/>
          </a:xfrm>
          <a:prstGeom prst="rect">
            <a:avLst/>
          </a:prstGeom>
          <a:noFill/>
          <a:ln/>
        </p:spPr>
        <p:txBody>
          <a:bodyPr wrap="square" lIns="0" tIns="0" rIns="0" bIns="0" rtlCol="0" anchor="ctr"/>
          <a:lstStyle/>
          <a:p>
            <a:pPr indent="0" marL="0">
              <a:lnSpc>
                <a:spcPct val="103000"/>
              </a:lnSpc>
              <a:buNone/>
            </a:pPr>
            <a:r>
              <a:rPr lang="en-US" sz="1200" dirty="0">
                <a:solidFill>
                  <a:srgbClr val="1B2333"/>
                </a:solidFill>
                <a:latin typeface="Calibri" pitchFamily="34" charset="0"/>
                <a:ea typeface="Calibri" pitchFamily="34" charset="-122"/>
                <a:cs typeface="Calibri" pitchFamily="34" charset="-120"/>
              </a:rPr>
              <a:t>A means of acquiring occupational information experientially, before commitment — for students choosing a field, workers considering transition, and guidance provision generally. It rests on three established findings:</a:t>
            </a:r>
            <a:endParaRPr lang="en-US" sz="1200" dirty="0"/>
          </a:p>
        </p:txBody>
      </p:sp>
      <p:sp>
        <p:nvSpPr>
          <p:cNvPr id="10" name="Text 8"/>
          <p:cNvSpPr txBox="1"/>
          <p:nvPr/>
        </p:nvSpPr>
        <p:spPr>
          <a:xfrm>
            <a:off x="859536" y="3182112"/>
            <a:ext cx="4846320" cy="201168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1B2333"/>
                </a:solidFill>
                <a:latin typeface="Calibri" pitchFamily="34" charset="0"/>
                <a:ea typeface="Calibri" pitchFamily="34" charset="-122"/>
                <a:cs typeface="Calibri" pitchFamily="34" charset="-120"/>
              </a:rPr>
              <a:t>Balanced, honest previews improve fit and reduce later regret [6][7]</a:t>
            </a:r>
            <a:endParaRPr lang="en-US" sz="1150" dirty="0"/>
          </a:p>
          <a:p>
            <a:pPr marL="342900" indent="-342900">
              <a:spcAft>
                <a:spcPts val="500"/>
              </a:spcAft>
              <a:buSzPct val="100000"/>
              <a:buChar char="•"/>
            </a:pPr>
            <a:r>
              <a:rPr lang="en-US" sz="1150" dirty="0">
                <a:solidFill>
                  <a:srgbClr val="1B2333"/>
                </a:solidFill>
                <a:latin typeface="Calibri" pitchFamily="34" charset="0"/>
                <a:ea typeface="Calibri" pitchFamily="34" charset="-122"/>
                <a:cs typeface="Calibri" pitchFamily="34" charset="-120"/>
              </a:rPr>
              <a:t>The obstacle they address is a principal source of decision difficulty [1]</a:t>
            </a:r>
            <a:endParaRPr lang="en-US" sz="1150" dirty="0"/>
          </a:p>
          <a:p>
            <a:pPr marL="342900" indent="-342900">
              <a:spcAft>
                <a:spcPts val="500"/>
              </a:spcAft>
              <a:buSzPct val="100000"/>
              <a:buChar char="•"/>
            </a:pPr>
            <a:r>
              <a:rPr lang="en-US" sz="1150" dirty="0">
                <a:solidFill>
                  <a:srgbClr val="1B2333"/>
                </a:solidFill>
                <a:latin typeface="Calibri" pitchFamily="34" charset="0"/>
                <a:ea typeface="Calibri" pitchFamily="34" charset="-122"/>
                <a:cs typeface="Calibri" pitchFamily="34" charset="-120"/>
              </a:rPr>
              <a:t>Successful performance of authentic tasks raises task-specific self-efficacy, which social cognitive career theory identifies as a determinant of choice and persistence [8][9]</a:t>
            </a:r>
            <a:endParaRPr lang="en-US" sz="1150" dirty="0"/>
          </a:p>
        </p:txBody>
      </p:sp>
      <p:sp>
        <p:nvSpPr>
          <p:cNvPr id="11" name="Text 9"/>
          <p:cNvSpPr txBox="1"/>
          <p:nvPr/>
        </p:nvSpPr>
        <p:spPr>
          <a:xfrm>
            <a:off x="804672" y="5248656"/>
            <a:ext cx="4937760" cy="402336"/>
          </a:xfrm>
          <a:prstGeom prst="rect">
            <a:avLst/>
          </a:prstGeom>
          <a:noFill/>
          <a:ln/>
        </p:spPr>
        <p:txBody>
          <a:bodyPr wrap="square" lIns="0" tIns="0" rIns="0" bIns="0" rtlCol="0" anchor="ctr"/>
          <a:lstStyle/>
          <a:p>
            <a:pPr indent="0" marL="0">
              <a:buNone/>
            </a:pPr>
            <a:r>
              <a:rPr lang="en-US" sz="1150" i="1" dirty="0">
                <a:solidFill>
                  <a:srgbClr val="003BA3"/>
                </a:solidFill>
                <a:latin typeface="Calibri" pitchFamily="34" charset="0"/>
                <a:ea typeface="Calibri" pitchFamily="34" charset="-122"/>
                <a:cs typeface="Calibri" pitchFamily="34" charset="-120"/>
              </a:rPr>
              <a:t>For Vietnam specifically: an alternative to a guidance market composed almost entirely of self-report instruments.</a:t>
            </a:r>
            <a:endParaRPr lang="en-US" sz="1150" dirty="0"/>
          </a:p>
        </p:txBody>
      </p:sp>
      <p:sp>
        <p:nvSpPr>
          <p:cNvPr id="12" name="Shape 10"/>
          <p:cNvSpPr/>
          <p:nvPr/>
        </p:nvSpPr>
        <p:spPr>
          <a:xfrm>
            <a:off x="6236208" y="1847088"/>
            <a:ext cx="5385816" cy="3931920"/>
          </a:xfrm>
          <a:prstGeom prst="roundRect">
            <a:avLst>
              <a:gd name="adj" fmla="val 1860"/>
            </a:avLst>
          </a:prstGeom>
          <a:solidFill>
            <a:srgbClr val="003BA3"/>
          </a:solidFill>
          <a:ln/>
        </p:spPr>
      </p:sp>
      <p:sp>
        <p:nvSpPr>
          <p:cNvPr id="13" name="Text 11"/>
          <p:cNvSpPr txBox="1"/>
          <p:nvPr/>
        </p:nvSpPr>
        <p:spPr>
          <a:xfrm>
            <a:off x="6473952" y="2011680"/>
            <a:ext cx="4892040" cy="292608"/>
          </a:xfrm>
          <a:prstGeom prst="rect">
            <a:avLst/>
          </a:prstGeom>
          <a:noFill/>
          <a:ln/>
        </p:spPr>
        <p:txBody>
          <a:bodyPr wrap="square" lIns="0" tIns="0" rIns="0" bIns="0"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Scientific</a:t>
            </a:r>
            <a:endParaRPr lang="en-US" sz="1400" dirty="0"/>
          </a:p>
        </p:txBody>
      </p:sp>
      <p:sp>
        <p:nvSpPr>
          <p:cNvPr id="14" name="Text 12"/>
          <p:cNvSpPr txBox="1"/>
          <p:nvPr/>
        </p:nvSpPr>
        <p:spPr>
          <a:xfrm>
            <a:off x="6473952" y="2340864"/>
            <a:ext cx="4892040" cy="457200"/>
          </a:xfrm>
          <a:prstGeom prst="rect">
            <a:avLst/>
          </a:prstGeom>
          <a:noFill/>
          <a:ln/>
        </p:spPr>
        <p:txBody>
          <a:bodyPr wrap="square" lIns="0" tIns="0" rIns="0" bIns="0" rtlCol="0" anchor="ctr"/>
          <a:lstStyle/>
          <a:p>
            <a:pPr indent="0" marL="0">
              <a:lnSpc>
                <a:spcPct val="103000"/>
              </a:lnSpc>
              <a:buNone/>
            </a:pPr>
            <a:r>
              <a:rPr lang="en-US" sz="1200" dirty="0">
                <a:solidFill>
                  <a:srgbClr val="CFE0FF"/>
                </a:solidFill>
                <a:latin typeface="Calibri" pitchFamily="34" charset="0"/>
                <a:ea typeface="Calibri" pitchFamily="34" charset="-122"/>
                <a:cs typeface="Calibri" pitchFamily="34" charset="-120"/>
              </a:rPr>
              <a:t>The contribution is combining and validating techniques demonstrated separately but not together:</a:t>
            </a:r>
            <a:endParaRPr lang="en-US" sz="1200" dirty="0"/>
          </a:p>
        </p:txBody>
      </p:sp>
      <p:sp>
        <p:nvSpPr>
          <p:cNvPr id="15" name="Text 13"/>
          <p:cNvSpPr txBox="1"/>
          <p:nvPr/>
        </p:nvSpPr>
        <p:spPr>
          <a:xfrm>
            <a:off x="6528816" y="2852928"/>
            <a:ext cx="4800600" cy="96012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Constrained generation of domain-accurate scenarios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Unobtrusive assessment of competence from behaviour</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Automated judgment of open responses</a:t>
            </a:r>
            <a:endParaRPr lang="en-US" sz="1200" dirty="0"/>
          </a:p>
        </p:txBody>
      </p:sp>
      <p:sp>
        <p:nvSpPr>
          <p:cNvPr id="16" name="Text 14"/>
          <p:cNvSpPr txBox="1"/>
          <p:nvPr/>
        </p:nvSpPr>
        <p:spPr>
          <a:xfrm>
            <a:off x="6473952" y="4224528"/>
            <a:ext cx="4892040" cy="1371600"/>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Each carries a documented weakness. The methodological contribution is an evaluation design that measures those weaknesses directly rather than assuming them resolved.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FOUNDATION 1</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Doing beats reading</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Performing a task conveys what description cannot — and the effect is not confined to clinical training.</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[10] Kolb.  [16] Chernikova et al. (2020), 145 studies in higher education.  Earlier simulation evidence [14][15] originates in health professions education.</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9</a:t>
            </a:r>
            <a:endParaRPr lang="en-US" sz="1000" dirty="0"/>
          </a:p>
        </p:txBody>
      </p:sp>
      <p:sp>
        <p:nvSpPr>
          <p:cNvPr id="7" name="Shape 5"/>
          <p:cNvSpPr/>
          <p:nvPr/>
        </p:nvSpPr>
        <p:spPr>
          <a:xfrm>
            <a:off x="566928" y="1847088"/>
            <a:ext cx="5408676" cy="3154680"/>
          </a:xfrm>
          <a:prstGeom prst="roundRect">
            <a:avLst>
              <a:gd name="adj" fmla="val 2319"/>
            </a:avLst>
          </a:prstGeom>
          <a:solidFill>
            <a:srgbClr val="F2F6FD"/>
          </a:solidFill>
          <a:ln w="6350">
            <a:solidFill>
              <a:srgbClr val="F2F6FD"/>
            </a:solidFill>
            <a:prstDash val="solid"/>
          </a:ln>
        </p:spPr>
      </p:sp>
      <p:sp>
        <p:nvSpPr>
          <p:cNvPr id="8" name="Shape 6"/>
          <p:cNvSpPr/>
          <p:nvPr/>
        </p:nvSpPr>
        <p:spPr>
          <a:xfrm>
            <a:off x="786384" y="2048256"/>
            <a:ext cx="329184" cy="329184"/>
          </a:xfrm>
          <a:prstGeom prst="ellipse">
            <a:avLst/>
          </a:prstGeom>
          <a:solidFill>
            <a:srgbClr val="003BA3"/>
          </a:solidFill>
          <a:ln/>
        </p:spPr>
      </p:sp>
      <p:sp>
        <p:nvSpPr>
          <p:cNvPr id="9" name="Text 7"/>
          <p:cNvSpPr txBox="1"/>
          <p:nvPr/>
        </p:nvSpPr>
        <p:spPr>
          <a:xfrm>
            <a:off x="78638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10" name="Text 8"/>
          <p:cNvSpPr txBox="1"/>
          <p:nvPr/>
        </p:nvSpPr>
        <p:spPr>
          <a:xfrm>
            <a:off x="786384" y="2487168"/>
            <a:ext cx="496976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Kolb — the mechanism</a:t>
            </a:r>
            <a:endParaRPr lang="en-US" sz="1300" dirty="0"/>
          </a:p>
        </p:txBody>
      </p:sp>
      <p:sp>
        <p:nvSpPr>
          <p:cNvPr id="11" name="Text 9"/>
          <p:cNvSpPr txBox="1"/>
          <p:nvPr/>
        </p:nvSpPr>
        <p:spPr>
          <a:xfrm>
            <a:off x="786384" y="2980944"/>
            <a:ext cx="4969764" cy="1856232"/>
          </a:xfrm>
          <a:prstGeom prst="rect">
            <a:avLst/>
          </a:prstGeom>
          <a:noFill/>
          <a:ln/>
        </p:spPr>
        <p:txBody>
          <a:bodyPr wrap="square" lIns="0" tIns="0" rIns="0" bIns="0" rtlCol="0" anchor="t"/>
          <a:lstStyle/>
          <a:p>
            <a:pPr indent="0" marL="0">
              <a:lnSpc>
                <a:spcPct val="103000"/>
              </a:lnSpc>
              <a:buNone/>
            </a:pPr>
            <a:r>
              <a:rPr lang="en-US" sz="1200" dirty="0">
                <a:solidFill>
                  <a:srgbClr val="1B2333"/>
                </a:solidFill>
                <a:latin typeface="Calibri" pitchFamily="34" charset="0"/>
                <a:ea typeface="Calibri" pitchFamily="34" charset="-122"/>
                <a:cs typeface="Calibri" pitchFamily="34" charset="-120"/>
              </a:rPr>
              <a:t>Learning transforms concrete experience, through reflection, into conceptualisation. An occupational description supplies the concept without the experience the model says understanding is constructed from. [10]</a:t>
            </a:r>
            <a:endParaRPr lang="en-US" sz="1200" dirty="0"/>
          </a:p>
        </p:txBody>
      </p:sp>
      <p:sp>
        <p:nvSpPr>
          <p:cNvPr id="12" name="Shape 10"/>
          <p:cNvSpPr/>
          <p:nvPr/>
        </p:nvSpPr>
        <p:spPr>
          <a:xfrm>
            <a:off x="6213348" y="1847088"/>
            <a:ext cx="5408676" cy="3154680"/>
          </a:xfrm>
          <a:prstGeom prst="roundRect">
            <a:avLst>
              <a:gd name="adj" fmla="val 2319"/>
            </a:avLst>
          </a:prstGeom>
          <a:solidFill>
            <a:srgbClr val="F2F6FD"/>
          </a:solidFill>
          <a:ln w="6350">
            <a:solidFill>
              <a:srgbClr val="F2F6FD"/>
            </a:solidFill>
            <a:prstDash val="solid"/>
          </a:ln>
        </p:spPr>
      </p:sp>
      <p:sp>
        <p:nvSpPr>
          <p:cNvPr id="13" name="Shape 11"/>
          <p:cNvSpPr/>
          <p:nvPr/>
        </p:nvSpPr>
        <p:spPr>
          <a:xfrm>
            <a:off x="6432804" y="2048256"/>
            <a:ext cx="329184" cy="329184"/>
          </a:xfrm>
          <a:prstGeom prst="ellipse">
            <a:avLst/>
          </a:prstGeom>
          <a:solidFill>
            <a:srgbClr val="003BA3"/>
          </a:solidFill>
          <a:ln/>
        </p:spPr>
      </p:sp>
      <p:sp>
        <p:nvSpPr>
          <p:cNvPr id="14" name="Text 12"/>
          <p:cNvSpPr txBox="1"/>
          <p:nvPr/>
        </p:nvSpPr>
        <p:spPr>
          <a:xfrm>
            <a:off x="643280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5" name="Text 13"/>
          <p:cNvSpPr txBox="1"/>
          <p:nvPr/>
        </p:nvSpPr>
        <p:spPr>
          <a:xfrm>
            <a:off x="6432804" y="2487168"/>
            <a:ext cx="496976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Chernikova et al., 2020 — the evidence</a:t>
            </a:r>
            <a:endParaRPr lang="en-US" sz="1300" dirty="0"/>
          </a:p>
        </p:txBody>
      </p:sp>
      <p:sp>
        <p:nvSpPr>
          <p:cNvPr id="16" name="Text 14"/>
          <p:cNvSpPr txBox="1"/>
          <p:nvPr/>
        </p:nvSpPr>
        <p:spPr>
          <a:xfrm>
            <a:off x="6432804" y="2980944"/>
            <a:ext cx="4969764" cy="1856232"/>
          </a:xfrm>
          <a:prstGeom prst="rect">
            <a:avLst/>
          </a:prstGeom>
          <a:noFill/>
          <a:ln/>
        </p:spPr>
        <p:txBody>
          <a:bodyPr wrap="square" lIns="0" tIns="0" rIns="0" bIns="0" rtlCol="0" anchor="t"/>
          <a:lstStyle/>
          <a:p>
            <a:pPr indent="0" marL="0">
              <a:lnSpc>
                <a:spcPct val="103000"/>
              </a:lnSpc>
              <a:buNone/>
            </a:pPr>
            <a:r>
              <a:rPr lang="en-US" sz="1200" dirty="0">
                <a:solidFill>
                  <a:srgbClr val="1B2333"/>
                </a:solidFill>
                <a:latin typeface="Calibri" pitchFamily="34" charset="0"/>
                <a:ea typeface="Calibri" pitchFamily="34" charset="-122"/>
                <a:cs typeface="Calibri" pitchFamily="34" charset="-120"/>
              </a:rPr>
              <a:t>Meta-analysis of 145 studies in higher education. Large overall effect that generalises across academic domains, with scaffolding as a moderator: worked examples for novices, reflective prompts for advanced learners. [16]</a:t>
            </a:r>
            <a:endParaRPr lang="en-US" sz="1200" dirty="0"/>
          </a:p>
        </p:txBody>
      </p:sp>
      <p:sp>
        <p:nvSpPr>
          <p:cNvPr id="17" name="Shape 15"/>
          <p:cNvSpPr/>
          <p:nvPr/>
        </p:nvSpPr>
        <p:spPr>
          <a:xfrm>
            <a:off x="566928" y="5230368"/>
            <a:ext cx="11055096" cy="868680"/>
          </a:xfrm>
          <a:prstGeom prst="roundRect">
            <a:avLst>
              <a:gd name="adj" fmla="val 6316"/>
            </a:avLst>
          </a:prstGeom>
          <a:solidFill>
            <a:srgbClr val="E4EBFA"/>
          </a:solidFill>
          <a:ln/>
        </p:spPr>
      </p:sp>
      <p:sp>
        <p:nvSpPr>
          <p:cNvPr id="18" name="Text 16"/>
          <p:cNvSpPr txBox="1"/>
          <p:nvPr/>
        </p:nvSpPr>
        <p:spPr>
          <a:xfrm>
            <a:off x="841248" y="5230368"/>
            <a:ext cx="10506456" cy="868680"/>
          </a:xfrm>
          <a:prstGeom prst="rect">
            <a:avLst/>
          </a:prstGeom>
          <a:noFill/>
          <a:ln/>
        </p:spPr>
        <p:txBody>
          <a:bodyPr wrap="square" lIns="0" tIns="0" rIns="0" bIns="0" rtlCol="0" anchor="ctr"/>
          <a:lstStyle/>
          <a:p>
            <a:pPr indent="0" marL="0">
              <a:buNone/>
            </a:pPr>
            <a:r>
              <a:rPr lang="en-US" sz="1250" b="1" dirty="0">
                <a:solidFill>
                  <a:srgbClr val="003BA3"/>
                </a:solidFill>
                <a:latin typeface="Montserrat" pitchFamily="34" charset="0"/>
                <a:ea typeface="Montserrat" pitchFamily="34" charset="-122"/>
                <a:cs typeface="Montserrat" pitchFamily="34" charset="-120"/>
              </a:rPr>
              <a:t>Design consequence.  </a:t>
            </a:r>
            <a:pPr indent="0" marL="0">
              <a:buNone/>
            </a:pPr>
            <a:r>
              <a:rPr lang="en-US" sz="1300" dirty="0">
                <a:solidFill>
                  <a:srgbClr val="1B2333"/>
                </a:solidFill>
                <a:latin typeface="Calibri" pitchFamily="34" charset="0"/>
                <a:ea typeface="Calibri" pitchFamily="34" charset="-122"/>
                <a:cs typeface="Calibri" pitchFamily="34" charset="-120"/>
              </a:rPr>
              <a:t>Scaffolding differs by learner level — which is why novice scenarios in JobQuest carry more context than advanced ones.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FOUNDATION 2</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Measuring competence from behaviour</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If users perform instead of self-reporting, the assessment problem changes — evidence-centered design specifies how.</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[17][18] Mislevy et al., evidence-centered design.</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847088"/>
          <a:ext cx="11055096" cy="914400"/>
        </p:xfrm>
        <a:graphic>
          <a:graphicData uri="http://schemas.openxmlformats.org/drawingml/2006/table">
            <a:tbl>
              <a:tblPr/>
              <a:tblGrid>
                <a:gridCol w="2377440"/>
                <a:gridCol w="3108960"/>
                <a:gridCol w="5568696"/>
              </a:tblGrid>
              <a:tr h="640080">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Model</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What it does</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The requirement it imposes</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64008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Competency model</a:t>
                      </a:r>
                      <a:endParaRPr lang="en-US" sz="110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Defines what is claimed to be measured</a:t>
                      </a:r>
                      <a:endParaRPr lang="en-US" sz="110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Constructs must be specified independently of any one task if inferences are to transfer</a:t>
                      </a:r>
                      <a:endParaRPr lang="en-US" sz="110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640080">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Evidence model</a:t>
                      </a:r>
                      <a:endParaRPr lang="en-US" sz="110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Maps behaviour to inferences</a:t>
                      </a:r>
                      <a:endParaRPr lang="en-US" sz="110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Every observable must be attributable to a named construct</a:t>
                      </a:r>
                      <a:endParaRPr lang="en-US" sz="110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640080">
                <a:tc>
                  <a:txBody>
                    <a:bodyPr/>
                    <a:lstStyle/>
                    <a:p>
                      <a:pPr indent="0" marL="0">
                        <a:buNone/>
                      </a:pPr>
                      <a:r>
                        <a:rPr lang="en-US" sz="1100" b="1" dirty="0">
                          <a:solidFill>
                            <a:srgbClr val="003BA3"/>
                          </a:solidFill>
                          <a:latin typeface="Calibri" pitchFamily="34" charset="0"/>
                          <a:ea typeface="Calibri" pitchFamily="34" charset="-122"/>
                          <a:cs typeface="Calibri" pitchFamily="34" charset="-120"/>
                        </a:rPr>
                        <a:t>Task model</a:t>
                      </a:r>
                      <a:endParaRPr lang="en-US" sz="110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b="1" dirty="0">
                          <a:solidFill>
                            <a:srgbClr val="003BA3"/>
                          </a:solidFill>
                          <a:latin typeface="Calibri" pitchFamily="34" charset="0"/>
                          <a:ea typeface="Calibri" pitchFamily="34" charset="-122"/>
                          <a:cs typeface="Calibri" pitchFamily="34" charset="-120"/>
                        </a:rPr>
                        <a:t>Specifies situations eliciting the behaviour</a:t>
                      </a:r>
                      <a:endParaRPr lang="en-US" sz="110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b="1" dirty="0">
                          <a:solidFill>
                            <a:srgbClr val="003BA3"/>
                          </a:solidFill>
                          <a:latin typeface="Calibri" pitchFamily="34" charset="0"/>
                          <a:ea typeface="Calibri" pitchFamily="34" charset="-122"/>
                          <a:cs typeface="Calibri" pitchFamily="34" charset="-120"/>
                        </a:rPr>
                        <a:t>The construct must be NECESSARY to completing the task, not merely permitted by it</a:t>
                      </a:r>
                      <a:endParaRPr lang="en-US" sz="110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4590288"/>
            <a:ext cx="11055096" cy="1371600"/>
          </a:xfrm>
          <a:prstGeom prst="roundRect">
            <a:avLst>
              <a:gd name="adj" fmla="val 4000"/>
            </a:avLst>
          </a:prstGeom>
          <a:solidFill>
            <a:srgbClr val="003BA3"/>
          </a:solidFill>
          <a:ln/>
        </p:spPr>
      </p:sp>
      <p:sp>
        <p:nvSpPr>
          <p:cNvPr id="9" name="Text 6"/>
          <p:cNvSpPr txBox="1"/>
          <p:nvPr/>
        </p:nvSpPr>
        <p:spPr>
          <a:xfrm>
            <a:off x="841248" y="4754880"/>
            <a:ext cx="10506456" cy="329184"/>
          </a:xfrm>
          <a:prstGeom prst="rect">
            <a:avLst/>
          </a:prstGeom>
          <a:noFill/>
          <a:ln/>
        </p:spPr>
        <p:txBody>
          <a:bodyPr wrap="square" lIns="0" tIns="0" rIns="0" bIns="0"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The third requirement is the most demanding and the most frequently unmet.</a:t>
            </a:r>
            <a:endParaRPr lang="en-US" sz="1400" dirty="0"/>
          </a:p>
        </p:txBody>
      </p:sp>
      <p:sp>
        <p:nvSpPr>
          <p:cNvPr id="10" name="Text 7"/>
          <p:cNvSpPr txBox="1"/>
          <p:nvPr/>
        </p:nvSpPr>
        <p:spPr>
          <a:xfrm>
            <a:off x="841248" y="5102352"/>
            <a:ext cx="10506456" cy="749808"/>
          </a:xfrm>
          <a:prstGeom prst="rect">
            <a:avLst/>
          </a:prstGeom>
          <a:noFill/>
          <a:ln/>
        </p:spPr>
        <p:txBody>
          <a:bodyPr wrap="square" lIns="0" tIns="0" rIns="0" bIns="0" rtlCol="0" anchor="ctr"/>
          <a:lstStyle/>
          <a:p>
            <a:pPr indent="0" marL="0">
              <a:lnSpc>
                <a:spcPct val="105000"/>
              </a:lnSpc>
              <a:buNone/>
            </a:pPr>
            <a:r>
              <a:rPr lang="en-US" sz="1250" dirty="0">
                <a:solidFill>
                  <a:srgbClr val="CFE0FF"/>
                </a:solidFill>
                <a:latin typeface="Calibri" pitchFamily="34" charset="0"/>
                <a:ea typeface="Calibri" pitchFamily="34" charset="-122"/>
                <a:cs typeface="Calibri" pitchFamily="34" charset="-120"/>
              </a:rPr>
              <a:t>If a task can be completed by a route that bypasses the target construct, the evidence model is measuring something other than what it claims. Authoring a task is therefore a psychometric activity, not an editorial one — which is why UC-08 gives the domain expert an explicit exception path when a scenario turns out to be passable without the target competency.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FOUNDATION 2B</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Career theory: fit is not a fixed verdict</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Four traditions — and two of them say something most career systems ignore.</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[32] Holland.  [8][9] Social cognitive career theory.  [33] Super.  [34] Krumboltz.</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11</a:t>
            </a:r>
            <a:endParaRPr lang="en-US" sz="1000" dirty="0"/>
          </a:p>
        </p:txBody>
      </p:sp>
      <p:sp>
        <p:nvSpPr>
          <p:cNvPr id="7" name="Shape 5"/>
          <p:cNvSpPr/>
          <p:nvPr/>
        </p:nvSpPr>
        <p:spPr>
          <a:xfrm>
            <a:off x="566928" y="1847088"/>
            <a:ext cx="2585466" cy="3200400"/>
          </a:xfrm>
          <a:prstGeom prst="roundRect">
            <a:avLst>
              <a:gd name="adj" fmla="val 2829"/>
            </a:avLst>
          </a:prstGeom>
          <a:solidFill>
            <a:srgbClr val="F2F6FD"/>
          </a:solidFill>
          <a:ln w="6350">
            <a:solidFill>
              <a:srgbClr val="F2F6FD"/>
            </a:solidFill>
            <a:prstDash val="solid"/>
          </a:ln>
        </p:spPr>
      </p:sp>
      <p:sp>
        <p:nvSpPr>
          <p:cNvPr id="8" name="Shape 6"/>
          <p:cNvSpPr/>
          <p:nvPr/>
        </p:nvSpPr>
        <p:spPr>
          <a:xfrm>
            <a:off x="786384" y="2048256"/>
            <a:ext cx="329184" cy="329184"/>
          </a:xfrm>
          <a:prstGeom prst="ellipse">
            <a:avLst/>
          </a:prstGeom>
          <a:solidFill>
            <a:srgbClr val="003BA3"/>
          </a:solidFill>
          <a:ln/>
        </p:spPr>
      </p:sp>
      <p:sp>
        <p:nvSpPr>
          <p:cNvPr id="9" name="Text 7"/>
          <p:cNvSpPr txBox="1"/>
          <p:nvPr/>
        </p:nvSpPr>
        <p:spPr>
          <a:xfrm>
            <a:off x="78638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10" name="Text 8"/>
          <p:cNvSpPr txBox="1"/>
          <p:nvPr/>
        </p:nvSpPr>
        <p:spPr>
          <a:xfrm>
            <a:off x="786384" y="2487168"/>
            <a:ext cx="214655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Holland</a:t>
            </a:r>
            <a:endParaRPr lang="en-US" sz="1300" dirty="0"/>
          </a:p>
        </p:txBody>
      </p:sp>
      <p:sp>
        <p:nvSpPr>
          <p:cNvPr id="11" name="Text 9"/>
          <p:cNvSpPr txBox="1"/>
          <p:nvPr/>
        </p:nvSpPr>
        <p:spPr>
          <a:xfrm>
            <a:off x="786384" y="2980944"/>
            <a:ext cx="2146554" cy="1901952"/>
          </a:xfrm>
          <a:prstGeom prst="rect">
            <a:avLst/>
          </a:prstGeom>
          <a:noFill/>
          <a:ln/>
        </p:spPr>
        <p:txBody>
          <a:bodyPr wrap="square" lIns="0" tIns="0" rIns="0" bIns="0" rtlCol="0" anchor="t"/>
          <a:lstStyle/>
          <a:p>
            <a:pPr indent="0" marL="0">
              <a:lnSpc>
                <a:spcPct val="103000"/>
              </a:lnSpc>
              <a:buNone/>
            </a:pPr>
            <a:r>
              <a:rPr lang="en-US" sz="1150" dirty="0">
                <a:solidFill>
                  <a:srgbClr val="1B2333"/>
                </a:solidFill>
                <a:latin typeface="Calibri" pitchFamily="34" charset="0"/>
                <a:ea typeface="Calibri" pitchFamily="34" charset="-122"/>
                <a:cs typeface="Calibri" pitchFamily="34" charset="-120"/>
              </a:rPr>
              <a:t>Occupational choice as person–environment congruence. Underlies the interest inventories in widespread use, including the public-domain instrument distributed with O*NET. [32]</a:t>
            </a:r>
            <a:endParaRPr lang="en-US" sz="1150" dirty="0"/>
          </a:p>
        </p:txBody>
      </p:sp>
      <p:sp>
        <p:nvSpPr>
          <p:cNvPr id="12" name="Shape 10"/>
          <p:cNvSpPr/>
          <p:nvPr/>
        </p:nvSpPr>
        <p:spPr>
          <a:xfrm>
            <a:off x="3390138" y="1847088"/>
            <a:ext cx="2585466" cy="3200400"/>
          </a:xfrm>
          <a:prstGeom prst="roundRect">
            <a:avLst>
              <a:gd name="adj" fmla="val 2829"/>
            </a:avLst>
          </a:prstGeom>
          <a:solidFill>
            <a:srgbClr val="F2F6FD"/>
          </a:solidFill>
          <a:ln w="6350">
            <a:solidFill>
              <a:srgbClr val="F2F6FD"/>
            </a:solidFill>
            <a:prstDash val="solid"/>
          </a:ln>
        </p:spPr>
      </p:sp>
      <p:sp>
        <p:nvSpPr>
          <p:cNvPr id="13" name="Shape 11"/>
          <p:cNvSpPr/>
          <p:nvPr/>
        </p:nvSpPr>
        <p:spPr>
          <a:xfrm>
            <a:off x="3609594" y="2048256"/>
            <a:ext cx="329184" cy="329184"/>
          </a:xfrm>
          <a:prstGeom prst="ellipse">
            <a:avLst/>
          </a:prstGeom>
          <a:solidFill>
            <a:srgbClr val="003BA3"/>
          </a:solidFill>
          <a:ln/>
        </p:spPr>
      </p:sp>
      <p:sp>
        <p:nvSpPr>
          <p:cNvPr id="14" name="Text 12"/>
          <p:cNvSpPr txBox="1"/>
          <p:nvPr/>
        </p:nvSpPr>
        <p:spPr>
          <a:xfrm>
            <a:off x="360959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5" name="Text 13"/>
          <p:cNvSpPr txBox="1"/>
          <p:nvPr/>
        </p:nvSpPr>
        <p:spPr>
          <a:xfrm>
            <a:off x="3609594" y="2487168"/>
            <a:ext cx="214655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Social cognitive career theory</a:t>
            </a:r>
            <a:endParaRPr lang="en-US" sz="1300" dirty="0"/>
          </a:p>
        </p:txBody>
      </p:sp>
      <p:sp>
        <p:nvSpPr>
          <p:cNvPr id="16" name="Text 14"/>
          <p:cNvSpPr txBox="1"/>
          <p:nvPr/>
        </p:nvSpPr>
        <p:spPr>
          <a:xfrm>
            <a:off x="3609594" y="2980944"/>
            <a:ext cx="2146554" cy="1901952"/>
          </a:xfrm>
          <a:prstGeom prst="rect">
            <a:avLst/>
          </a:prstGeom>
          <a:noFill/>
          <a:ln/>
        </p:spPr>
        <p:txBody>
          <a:bodyPr wrap="square" lIns="0" tIns="0" rIns="0" bIns="0" rtlCol="0" anchor="t"/>
          <a:lstStyle/>
          <a:p>
            <a:pPr indent="0" marL="0">
              <a:lnSpc>
                <a:spcPct val="103000"/>
              </a:lnSpc>
              <a:buNone/>
            </a:pPr>
            <a:r>
              <a:rPr lang="en-US" sz="1150" dirty="0">
                <a:solidFill>
                  <a:srgbClr val="1B2333"/>
                </a:solidFill>
                <a:latin typeface="Calibri" pitchFamily="34" charset="0"/>
                <a:ea typeface="Calibri" pitchFamily="34" charset="-122"/>
                <a:cs typeface="Calibri" pitchFamily="34" charset="-120"/>
              </a:rPr>
              <a:t>Self-efficacy, built principally through mastery experience, determines interest formation and choice — accessible to a system where users perform tasks, inaccessible to one that only elicits self-description. [8][9]</a:t>
            </a:r>
            <a:endParaRPr lang="en-US" sz="1150" dirty="0"/>
          </a:p>
        </p:txBody>
      </p:sp>
      <p:sp>
        <p:nvSpPr>
          <p:cNvPr id="17" name="Shape 15"/>
          <p:cNvSpPr/>
          <p:nvPr/>
        </p:nvSpPr>
        <p:spPr>
          <a:xfrm>
            <a:off x="6213348" y="1847088"/>
            <a:ext cx="2585466" cy="3200400"/>
          </a:xfrm>
          <a:prstGeom prst="roundRect">
            <a:avLst>
              <a:gd name="adj" fmla="val 2829"/>
            </a:avLst>
          </a:prstGeom>
          <a:solidFill>
            <a:srgbClr val="F2F6FD"/>
          </a:solidFill>
          <a:ln w="6350">
            <a:solidFill>
              <a:srgbClr val="F2F6FD"/>
            </a:solidFill>
            <a:prstDash val="solid"/>
          </a:ln>
        </p:spPr>
      </p:sp>
      <p:sp>
        <p:nvSpPr>
          <p:cNvPr id="18" name="Shape 16"/>
          <p:cNvSpPr/>
          <p:nvPr/>
        </p:nvSpPr>
        <p:spPr>
          <a:xfrm>
            <a:off x="6432804" y="2048256"/>
            <a:ext cx="329184" cy="329184"/>
          </a:xfrm>
          <a:prstGeom prst="ellipse">
            <a:avLst/>
          </a:prstGeom>
          <a:solidFill>
            <a:srgbClr val="003BA3"/>
          </a:solidFill>
          <a:ln/>
        </p:spPr>
      </p:sp>
      <p:sp>
        <p:nvSpPr>
          <p:cNvPr id="19" name="Text 17"/>
          <p:cNvSpPr txBox="1"/>
          <p:nvPr/>
        </p:nvSpPr>
        <p:spPr>
          <a:xfrm>
            <a:off x="643280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20" name="Text 18"/>
          <p:cNvSpPr txBox="1"/>
          <p:nvPr/>
        </p:nvSpPr>
        <p:spPr>
          <a:xfrm>
            <a:off x="6432804" y="2487168"/>
            <a:ext cx="214655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Super</a:t>
            </a:r>
            <a:endParaRPr lang="en-US" sz="1300" dirty="0"/>
          </a:p>
        </p:txBody>
      </p:sp>
      <p:sp>
        <p:nvSpPr>
          <p:cNvPr id="21" name="Text 19"/>
          <p:cNvSpPr txBox="1"/>
          <p:nvPr/>
        </p:nvSpPr>
        <p:spPr>
          <a:xfrm>
            <a:off x="6432804" y="2980944"/>
            <a:ext cx="2146554" cy="1901952"/>
          </a:xfrm>
          <a:prstGeom prst="rect">
            <a:avLst/>
          </a:prstGeom>
          <a:noFill/>
          <a:ln/>
        </p:spPr>
        <p:txBody>
          <a:bodyPr wrap="square" lIns="0" tIns="0" rIns="0" bIns="0" rtlCol="0" anchor="t"/>
          <a:lstStyle/>
          <a:p>
            <a:pPr indent="0" marL="0">
              <a:lnSpc>
                <a:spcPct val="103000"/>
              </a:lnSpc>
              <a:buNone/>
            </a:pPr>
            <a:r>
              <a:rPr lang="en-US" sz="1150" dirty="0">
                <a:solidFill>
                  <a:srgbClr val="1B2333"/>
                </a:solidFill>
                <a:latin typeface="Calibri" pitchFamily="34" charset="0"/>
                <a:ea typeface="Calibri" pitchFamily="34" charset="-122"/>
                <a:cs typeface="Calibri" pitchFamily="34" charset="-120"/>
              </a:rPr>
              <a:t>Vocational self-concept develops over time, so fit is changing rather than fixed. [33]</a:t>
            </a:r>
            <a:endParaRPr lang="en-US" sz="1150" dirty="0"/>
          </a:p>
        </p:txBody>
      </p:sp>
      <p:sp>
        <p:nvSpPr>
          <p:cNvPr id="22" name="Shape 20"/>
          <p:cNvSpPr/>
          <p:nvPr/>
        </p:nvSpPr>
        <p:spPr>
          <a:xfrm>
            <a:off x="9036558" y="1847088"/>
            <a:ext cx="2585466" cy="3200400"/>
          </a:xfrm>
          <a:prstGeom prst="roundRect">
            <a:avLst>
              <a:gd name="adj" fmla="val 2829"/>
            </a:avLst>
          </a:prstGeom>
          <a:solidFill>
            <a:srgbClr val="F2F6FD"/>
          </a:solidFill>
          <a:ln w="6350">
            <a:solidFill>
              <a:srgbClr val="F2F6FD"/>
            </a:solidFill>
            <a:prstDash val="solid"/>
          </a:ln>
        </p:spPr>
      </p:sp>
      <p:sp>
        <p:nvSpPr>
          <p:cNvPr id="23" name="Shape 21"/>
          <p:cNvSpPr/>
          <p:nvPr/>
        </p:nvSpPr>
        <p:spPr>
          <a:xfrm>
            <a:off x="9256014" y="2048256"/>
            <a:ext cx="329184" cy="329184"/>
          </a:xfrm>
          <a:prstGeom prst="ellipse">
            <a:avLst/>
          </a:prstGeom>
          <a:solidFill>
            <a:srgbClr val="003BA3"/>
          </a:solidFill>
          <a:ln/>
        </p:spPr>
      </p:sp>
      <p:sp>
        <p:nvSpPr>
          <p:cNvPr id="24" name="Text 22"/>
          <p:cNvSpPr txBox="1"/>
          <p:nvPr/>
        </p:nvSpPr>
        <p:spPr>
          <a:xfrm>
            <a:off x="925601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25" name="Text 23"/>
          <p:cNvSpPr txBox="1"/>
          <p:nvPr/>
        </p:nvSpPr>
        <p:spPr>
          <a:xfrm>
            <a:off x="9256014" y="2487168"/>
            <a:ext cx="214655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Krumboltz</a:t>
            </a:r>
            <a:endParaRPr lang="en-US" sz="1300" dirty="0"/>
          </a:p>
        </p:txBody>
      </p:sp>
      <p:sp>
        <p:nvSpPr>
          <p:cNvPr id="26" name="Text 24"/>
          <p:cNvSpPr txBox="1"/>
          <p:nvPr/>
        </p:nvSpPr>
        <p:spPr>
          <a:xfrm>
            <a:off x="9256014" y="2980944"/>
            <a:ext cx="2146554" cy="1901952"/>
          </a:xfrm>
          <a:prstGeom prst="rect">
            <a:avLst/>
          </a:prstGeom>
          <a:noFill/>
          <a:ln/>
        </p:spPr>
        <p:txBody>
          <a:bodyPr wrap="square" lIns="0" tIns="0" rIns="0" bIns="0" rtlCol="0" anchor="t"/>
          <a:lstStyle/>
          <a:p>
            <a:pPr indent="0" marL="0">
              <a:lnSpc>
                <a:spcPct val="103000"/>
              </a:lnSpc>
              <a:buNone/>
            </a:pPr>
            <a:r>
              <a:rPr lang="en-US" sz="1150" dirty="0">
                <a:solidFill>
                  <a:srgbClr val="1B2333"/>
                </a:solidFill>
                <a:latin typeface="Calibri" pitchFamily="34" charset="0"/>
                <a:ea typeface="Calibri" pitchFamily="34" charset="-122"/>
                <a:cs typeface="Calibri" pitchFamily="34" charset="-120"/>
              </a:rPr>
              <a:t>Unplanned events are a normal and potentially productive part of career development, not disruption. [34]</a:t>
            </a:r>
            <a:endParaRPr lang="en-US" sz="1150" dirty="0"/>
          </a:p>
        </p:txBody>
      </p:sp>
      <p:sp>
        <p:nvSpPr>
          <p:cNvPr id="27" name="Shape 25"/>
          <p:cNvSpPr/>
          <p:nvPr/>
        </p:nvSpPr>
        <p:spPr>
          <a:xfrm>
            <a:off x="566928" y="5276088"/>
            <a:ext cx="11055096" cy="868680"/>
          </a:xfrm>
          <a:prstGeom prst="roundRect">
            <a:avLst>
              <a:gd name="adj" fmla="val 6316"/>
            </a:avLst>
          </a:prstGeom>
          <a:solidFill>
            <a:srgbClr val="E4EBFA"/>
          </a:solidFill>
          <a:ln/>
        </p:spPr>
      </p:sp>
      <p:sp>
        <p:nvSpPr>
          <p:cNvPr id="28" name="Text 26"/>
          <p:cNvSpPr txBox="1"/>
          <p:nvPr/>
        </p:nvSpPr>
        <p:spPr>
          <a:xfrm>
            <a:off x="841248" y="5276088"/>
            <a:ext cx="10506456" cy="868680"/>
          </a:xfrm>
          <a:prstGeom prst="rect">
            <a:avLst/>
          </a:prstGeom>
          <a:noFill/>
          <a:ln/>
        </p:spPr>
        <p:txBody>
          <a:bodyPr wrap="square" lIns="0" tIns="0" rIns="0" bIns="0" rtlCol="0" anchor="ctr"/>
          <a:lstStyle/>
          <a:p>
            <a:pPr indent="0" marL="0">
              <a:lnSpc>
                <a:spcPct val="105000"/>
              </a:lnSpc>
              <a:buNone/>
            </a:pPr>
            <a:r>
              <a:rPr lang="en-US" sz="1250" b="1" dirty="0">
                <a:solidFill>
                  <a:srgbClr val="003BA3"/>
                </a:solidFill>
                <a:latin typeface="Montserrat" pitchFamily="34" charset="0"/>
                <a:ea typeface="Montserrat" pitchFamily="34" charset="-122"/>
                <a:cs typeface="Montserrat" pitchFamily="34" charset="-120"/>
              </a:rPr>
              <a:t>Consequence.  </a:t>
            </a:r>
            <a:pPr indent="0" marL="0">
              <a:lnSpc>
                <a:spcPct val="105000"/>
              </a:lnSpc>
              <a:buNone/>
            </a:pPr>
            <a:r>
              <a:rPr lang="en-US" sz="1300" dirty="0">
                <a:solidFill>
                  <a:srgbClr val="1B2333"/>
                </a:solidFill>
                <a:latin typeface="Calibri" pitchFamily="34" charset="0"/>
                <a:ea typeface="Calibri" pitchFamily="34" charset="-122"/>
                <a:cs typeface="Calibri" pitchFamily="34" charset="-120"/>
              </a:rPr>
              <a:t>Super and Krumboltz jointly justify two features: probabilistic life events (FR-14), and treating work–life balance as an attribute of an occupation rather than an externality (the five-attribute rating, FR-12).</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3BA3"/>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HONEST LIMITS</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FFFFFF"/>
                </a:solidFill>
                <a:latin typeface="Montserrat" pitchFamily="34" charset="0"/>
                <a:ea typeface="Montserrat" pitchFamily="34" charset="-122"/>
                <a:cs typeface="Montserrat" pitchFamily="34" charset="-120"/>
              </a:rPr>
              <a:t>Two findings that bound what we may claim</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EFEFEF"/>
                </a:solidFill>
                <a:latin typeface="Calibri" pitchFamily="34" charset="0"/>
                <a:ea typeface="Calibri" pitchFamily="34" charset="-122"/>
                <a:cs typeface="Calibri" pitchFamily="34" charset="-120"/>
              </a:rPr>
              <a:t>Both cut against the claim a project like ours usually makes. We treat them as constraints, not objections to argue past.</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AFC4EA"/>
                </a:solidFill>
                <a:latin typeface="Calibri" pitchFamily="34" charset="0"/>
                <a:ea typeface="Calibri" pitchFamily="34" charset="-122"/>
                <a:cs typeface="Calibri" pitchFamily="34" charset="-120"/>
              </a:rPr>
              <a:t>[24] Li, Hew &amp; Du — gamification disaggregated by psychological need.  [27] Sitzmann, 65 studies.</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AFC4EA"/>
                </a:solidFill>
                <a:latin typeface="Calibri" pitchFamily="34" charset="0"/>
                <a:ea typeface="Calibri" pitchFamily="34" charset="-122"/>
                <a:cs typeface="Calibri" pitchFamily="34" charset="-120"/>
              </a:rPr>
              <a:t>12</a:t>
            </a:r>
            <a:endParaRPr lang="en-US" sz="1000" dirty="0"/>
          </a:p>
        </p:txBody>
      </p:sp>
      <p:sp>
        <p:nvSpPr>
          <p:cNvPr id="7" name="Shape 5"/>
          <p:cNvSpPr/>
          <p:nvPr/>
        </p:nvSpPr>
        <p:spPr>
          <a:xfrm>
            <a:off x="566928" y="1847088"/>
            <a:ext cx="5440680" cy="3794760"/>
          </a:xfrm>
          <a:prstGeom prst="roundRect">
            <a:avLst>
              <a:gd name="adj" fmla="val 1928"/>
            </a:avLst>
          </a:prstGeom>
          <a:solidFill>
            <a:srgbClr val="0A4BBE"/>
          </a:solidFill>
          <a:ln/>
        </p:spPr>
      </p:sp>
      <p:sp>
        <p:nvSpPr>
          <p:cNvPr id="8" name="Text 6"/>
          <p:cNvSpPr txBox="1"/>
          <p:nvPr/>
        </p:nvSpPr>
        <p:spPr>
          <a:xfrm>
            <a:off x="804672" y="2011680"/>
            <a:ext cx="4937760" cy="566928"/>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Gamification does little for competence</a:t>
            </a:r>
            <a:endParaRPr lang="en-US" sz="1500" dirty="0"/>
          </a:p>
        </p:txBody>
      </p:sp>
      <p:sp>
        <p:nvSpPr>
          <p:cNvPr id="9" name="Text 7"/>
          <p:cNvSpPr txBox="1"/>
          <p:nvPr/>
        </p:nvSpPr>
        <p:spPr>
          <a:xfrm>
            <a:off x="804672" y="2688336"/>
            <a:ext cx="1463040" cy="457200"/>
          </a:xfrm>
          <a:prstGeom prst="rect">
            <a:avLst/>
          </a:prstGeom>
          <a:noFill/>
          <a:ln/>
        </p:spPr>
        <p:txBody>
          <a:bodyPr wrap="square" lIns="0" tIns="0" rIns="0" bIns="0" rtlCol="0" anchor="ctr"/>
          <a:lstStyle/>
          <a:p>
            <a:pPr algn="ctr" indent="0" marL="0">
              <a:buNone/>
            </a:pPr>
            <a:r>
              <a:rPr lang="en-US" sz="2400" b="1" dirty="0">
                <a:solidFill>
                  <a:srgbClr val="CFE0FF"/>
                </a:solidFill>
                <a:latin typeface="Montserrat" pitchFamily="34" charset="0"/>
                <a:ea typeface="Montserrat" pitchFamily="34" charset="-122"/>
                <a:cs typeface="Montserrat" pitchFamily="34" charset="-120"/>
              </a:rPr>
              <a:t>0.638</a:t>
            </a:r>
            <a:endParaRPr lang="en-US" sz="2400" dirty="0"/>
          </a:p>
        </p:txBody>
      </p:sp>
      <p:sp>
        <p:nvSpPr>
          <p:cNvPr id="10" name="Text 8"/>
          <p:cNvSpPr txBox="1"/>
          <p:nvPr/>
        </p:nvSpPr>
        <p:spPr>
          <a:xfrm>
            <a:off x="804672" y="3145536"/>
            <a:ext cx="1463040" cy="256032"/>
          </a:xfrm>
          <a:prstGeom prst="rect">
            <a:avLst/>
          </a:prstGeom>
          <a:noFill/>
          <a:ln/>
        </p:spPr>
        <p:txBody>
          <a:bodyPr wrap="square" lIns="0" tIns="0" rIns="0" bIns="0" rtlCol="0" anchor="ctr"/>
          <a:lstStyle/>
          <a:p>
            <a:pPr algn="ctr" indent="0" marL="0">
              <a:buNone/>
            </a:pPr>
            <a:r>
              <a:rPr lang="en-US" sz="1100" dirty="0">
                <a:solidFill>
                  <a:srgbClr val="CFE0FF"/>
                </a:solidFill>
                <a:latin typeface="Calibri" pitchFamily="34" charset="0"/>
                <a:ea typeface="Calibri" pitchFamily="34" charset="-122"/>
                <a:cs typeface="Calibri" pitchFamily="34" charset="-120"/>
              </a:rPr>
              <a:t>g = autonomy</a:t>
            </a:r>
            <a:endParaRPr lang="en-US" sz="1100" dirty="0"/>
          </a:p>
        </p:txBody>
      </p:sp>
      <p:sp>
        <p:nvSpPr>
          <p:cNvPr id="11" name="Text 9"/>
          <p:cNvSpPr txBox="1"/>
          <p:nvPr/>
        </p:nvSpPr>
        <p:spPr>
          <a:xfrm>
            <a:off x="2432304" y="2688336"/>
            <a:ext cx="1463040" cy="457200"/>
          </a:xfrm>
          <a:prstGeom prst="rect">
            <a:avLst/>
          </a:prstGeom>
          <a:noFill/>
          <a:ln/>
        </p:spPr>
        <p:txBody>
          <a:bodyPr wrap="square" lIns="0" tIns="0" rIns="0" bIns="0" rtlCol="0" anchor="ctr"/>
          <a:lstStyle/>
          <a:p>
            <a:pPr algn="ctr" indent="0" marL="0">
              <a:buNone/>
            </a:pPr>
            <a:r>
              <a:rPr lang="en-US" sz="2400" b="1" dirty="0">
                <a:solidFill>
                  <a:srgbClr val="CFE0FF"/>
                </a:solidFill>
                <a:latin typeface="Montserrat" pitchFamily="34" charset="0"/>
                <a:ea typeface="Montserrat" pitchFamily="34" charset="-122"/>
                <a:cs typeface="Montserrat" pitchFamily="34" charset="-120"/>
              </a:rPr>
              <a:t>1.776</a:t>
            </a:r>
            <a:endParaRPr lang="en-US" sz="2400" dirty="0"/>
          </a:p>
        </p:txBody>
      </p:sp>
      <p:sp>
        <p:nvSpPr>
          <p:cNvPr id="12" name="Text 10"/>
          <p:cNvSpPr txBox="1"/>
          <p:nvPr/>
        </p:nvSpPr>
        <p:spPr>
          <a:xfrm>
            <a:off x="2432304" y="3145536"/>
            <a:ext cx="1463040" cy="256032"/>
          </a:xfrm>
          <a:prstGeom prst="rect">
            <a:avLst/>
          </a:prstGeom>
          <a:noFill/>
          <a:ln/>
        </p:spPr>
        <p:txBody>
          <a:bodyPr wrap="square" lIns="0" tIns="0" rIns="0" bIns="0" rtlCol="0" anchor="ctr"/>
          <a:lstStyle/>
          <a:p>
            <a:pPr algn="ctr" indent="0" marL="0">
              <a:buNone/>
            </a:pPr>
            <a:r>
              <a:rPr lang="en-US" sz="1100" dirty="0">
                <a:solidFill>
                  <a:srgbClr val="CFE0FF"/>
                </a:solidFill>
                <a:latin typeface="Calibri" pitchFamily="34" charset="0"/>
                <a:ea typeface="Calibri" pitchFamily="34" charset="-122"/>
                <a:cs typeface="Calibri" pitchFamily="34" charset="-120"/>
              </a:rPr>
              <a:t>g = relatedness</a:t>
            </a:r>
            <a:endParaRPr lang="en-US" sz="1100" dirty="0"/>
          </a:p>
        </p:txBody>
      </p:sp>
      <p:sp>
        <p:nvSpPr>
          <p:cNvPr id="13" name="Text 11"/>
          <p:cNvSpPr txBox="1"/>
          <p:nvPr/>
        </p:nvSpPr>
        <p:spPr>
          <a:xfrm>
            <a:off x="4059936" y="2688336"/>
            <a:ext cx="1463040" cy="457200"/>
          </a:xfrm>
          <a:prstGeom prst="rect">
            <a:avLst/>
          </a:prstGeom>
          <a:noFill/>
          <a:ln/>
        </p:spPr>
        <p:txBody>
          <a:bodyPr wrap="square" lIns="0" tIns="0" rIns="0" bIns="0" rtlCol="0" anchor="ctr"/>
          <a:lstStyle/>
          <a:p>
            <a:pPr algn="ctr" indent="0" marL="0">
              <a:buNone/>
            </a:pPr>
            <a:r>
              <a:rPr lang="en-US" sz="2400" b="1" dirty="0">
                <a:solidFill>
                  <a:srgbClr val="FFD27A"/>
                </a:solidFill>
                <a:latin typeface="Montserrat" pitchFamily="34" charset="0"/>
                <a:ea typeface="Montserrat" pitchFamily="34" charset="-122"/>
                <a:cs typeface="Montserrat" pitchFamily="34" charset="-120"/>
              </a:rPr>
              <a:t>0.277</a:t>
            </a:r>
            <a:endParaRPr lang="en-US" sz="2400" dirty="0"/>
          </a:p>
        </p:txBody>
      </p:sp>
      <p:sp>
        <p:nvSpPr>
          <p:cNvPr id="14" name="Text 12"/>
          <p:cNvSpPr txBox="1"/>
          <p:nvPr/>
        </p:nvSpPr>
        <p:spPr>
          <a:xfrm>
            <a:off x="4059936" y="3145536"/>
            <a:ext cx="1463040" cy="256032"/>
          </a:xfrm>
          <a:prstGeom prst="rect">
            <a:avLst/>
          </a:prstGeom>
          <a:noFill/>
          <a:ln/>
        </p:spPr>
        <p:txBody>
          <a:bodyPr wrap="square" lIns="0" tIns="0" rIns="0" bIns="0" rtlCol="0" anchor="ctr"/>
          <a:lstStyle/>
          <a:p>
            <a:pPr algn="ctr" indent="0" marL="0">
              <a:buNone/>
            </a:pPr>
            <a:r>
              <a:rPr lang="en-US" sz="1100" dirty="0">
                <a:solidFill>
                  <a:srgbClr val="CFE0FF"/>
                </a:solidFill>
                <a:latin typeface="Calibri" pitchFamily="34" charset="0"/>
                <a:ea typeface="Calibri" pitchFamily="34" charset="-122"/>
                <a:cs typeface="Calibri" pitchFamily="34" charset="-120"/>
              </a:rPr>
              <a:t>g = competence</a:t>
            </a:r>
            <a:endParaRPr lang="en-US" sz="1100" dirty="0"/>
          </a:p>
        </p:txBody>
      </p:sp>
      <p:sp>
        <p:nvSpPr>
          <p:cNvPr id="15" name="Text 13"/>
          <p:cNvSpPr txBox="1"/>
          <p:nvPr/>
        </p:nvSpPr>
        <p:spPr>
          <a:xfrm>
            <a:off x="804672" y="3474720"/>
            <a:ext cx="4937760" cy="274320"/>
          </a:xfrm>
          <a:prstGeom prst="rect">
            <a:avLst/>
          </a:prstGeom>
          <a:noFill/>
          <a:ln/>
        </p:spPr>
        <p:txBody>
          <a:bodyPr wrap="square" lIns="0" tIns="0" rIns="0" bIns="0" rtlCol="0" anchor="ctr"/>
          <a:lstStyle/>
          <a:p>
            <a:pPr indent="0" marL="0">
              <a:buNone/>
            </a:pPr>
            <a:r>
              <a:rPr lang="en-US" sz="1100" i="1" dirty="0">
                <a:solidFill>
                  <a:srgbClr val="9FBDEE"/>
                </a:solidFill>
                <a:latin typeface="Calibri" pitchFamily="34" charset="0"/>
                <a:ea typeface="Calibri" pitchFamily="34" charset="-122"/>
                <a:cs typeface="Calibri" pitchFamily="34" charset="-120"/>
              </a:rPr>
              <a:t>Hedges' g by psychological need [24]. Competence is the outlier.</a:t>
            </a:r>
            <a:endParaRPr lang="en-US" sz="1100" dirty="0"/>
          </a:p>
        </p:txBody>
      </p:sp>
      <p:sp>
        <p:nvSpPr>
          <p:cNvPr id="16" name="Text 14"/>
          <p:cNvSpPr txBox="1"/>
          <p:nvPr/>
        </p:nvSpPr>
        <p:spPr>
          <a:xfrm>
            <a:off x="804672" y="4453128"/>
            <a:ext cx="4937760" cy="1005840"/>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Consequence: skill development must rest on task authenticity and validated assessment — never on reward structures.</a:t>
            </a:r>
            <a:endParaRPr lang="en-US" sz="1300" dirty="0"/>
          </a:p>
        </p:txBody>
      </p:sp>
      <p:sp>
        <p:nvSpPr>
          <p:cNvPr id="17" name="Shape 15"/>
          <p:cNvSpPr/>
          <p:nvPr/>
        </p:nvSpPr>
        <p:spPr>
          <a:xfrm>
            <a:off x="6236208" y="1847088"/>
            <a:ext cx="5385816" cy="3794760"/>
          </a:xfrm>
          <a:prstGeom prst="roundRect">
            <a:avLst>
              <a:gd name="adj" fmla="val 1928"/>
            </a:avLst>
          </a:prstGeom>
          <a:solidFill>
            <a:srgbClr val="0A4BBE"/>
          </a:solidFill>
          <a:ln/>
        </p:spPr>
      </p:sp>
      <p:sp>
        <p:nvSpPr>
          <p:cNvPr id="18" name="Text 16"/>
          <p:cNvSpPr txBox="1"/>
          <p:nvPr/>
        </p:nvSpPr>
        <p:spPr>
          <a:xfrm>
            <a:off x="6473952" y="2011680"/>
            <a:ext cx="4892040" cy="566928"/>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Simulation works as a supplement, not a substitute</a:t>
            </a:r>
            <a:endParaRPr lang="en-US" sz="1500" dirty="0"/>
          </a:p>
        </p:txBody>
      </p:sp>
      <p:sp>
        <p:nvSpPr>
          <p:cNvPr id="19" name="Text 17"/>
          <p:cNvSpPr txBox="1"/>
          <p:nvPr/>
        </p:nvSpPr>
        <p:spPr>
          <a:xfrm>
            <a:off x="6473952" y="2651760"/>
            <a:ext cx="4892040" cy="1371600"/>
          </a:xfrm>
          <a:prstGeom prst="rect">
            <a:avLst/>
          </a:prstGeom>
          <a:noFill/>
          <a:ln/>
        </p:spPr>
        <p:txBody>
          <a:bodyPr wrap="square" lIns="0" tIns="0" rIns="0" bIns="0" rtlCol="0" anchor="ctr"/>
          <a:lstStyle/>
          <a:p>
            <a:pPr indent="0" marL="0">
              <a:lnSpc>
                <a:spcPct val="105000"/>
              </a:lnSpc>
              <a:buNone/>
            </a:pPr>
            <a:r>
              <a:rPr lang="en-US" sz="1200" dirty="0">
                <a:solidFill>
                  <a:srgbClr val="CFE0FF"/>
                </a:solidFill>
                <a:latin typeface="Calibri" pitchFamily="34" charset="0"/>
                <a:ea typeface="Calibri" pitchFamily="34" charset="-122"/>
                <a:cs typeface="Calibri" pitchFamily="34" charset="-120"/>
              </a:rPr>
              <a:t>Across 65 studies, simulation-taught trainees exceeded comparison groups on self-efficacy, declarative and procedural knowledge and retention — but only where the game actively conveyed material, permitted learner control, and supplemented other instruction. As a sole method, comparison groups did better. The analysis also reported evidence of publication bias. [27]</a:t>
            </a:r>
            <a:endParaRPr lang="en-US" sz="1200" dirty="0"/>
          </a:p>
        </p:txBody>
      </p:sp>
      <p:sp>
        <p:nvSpPr>
          <p:cNvPr id="20" name="Text 18"/>
          <p:cNvSpPr txBox="1"/>
          <p:nvPr/>
        </p:nvSpPr>
        <p:spPr>
          <a:xfrm>
            <a:off x="6473952" y="4636008"/>
            <a:ext cx="4892040" cy="822960"/>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Consequence: JobQuest informs occupational choice and builds initial self-efficacy. It does not substitute for employment or for formal instruction.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FOUNDATION 3</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Generation and judging</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LLMs can generate scenarios and judge open responses. Judging must be validated in four specific ways.</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[44] Zheng et al.  [45] Structured CoT against an explicit rubric.  [46] 21 evaluators, ~541,000 judgments.  [47] JudgeBench.</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13</a:t>
            </a:r>
            <a:endParaRPr lang="en-US" sz="1000" dirty="0"/>
          </a:p>
        </p:txBody>
      </p:sp>
      <p:sp>
        <p:nvSpPr>
          <p:cNvPr id="7" name="Shape 5"/>
          <p:cNvSpPr/>
          <p:nvPr/>
        </p:nvSpPr>
        <p:spPr>
          <a:xfrm>
            <a:off x="566928" y="1847088"/>
            <a:ext cx="5852160" cy="1207008"/>
          </a:xfrm>
          <a:prstGeom prst="roundRect">
            <a:avLst>
              <a:gd name="adj" fmla="val 6061"/>
            </a:avLst>
          </a:prstGeom>
          <a:solidFill>
            <a:srgbClr val="F2F6FD"/>
          </a:solidFill>
          <a:ln w="6350">
            <a:solidFill>
              <a:srgbClr val="F2F6FD"/>
            </a:solidFill>
            <a:prstDash val="solid"/>
          </a:ln>
        </p:spPr>
      </p:sp>
      <p:sp>
        <p:nvSpPr>
          <p:cNvPr id="8" name="Shape 6"/>
          <p:cNvSpPr/>
          <p:nvPr/>
        </p:nvSpPr>
        <p:spPr>
          <a:xfrm>
            <a:off x="786384" y="2048256"/>
            <a:ext cx="329184" cy="329184"/>
          </a:xfrm>
          <a:prstGeom prst="ellipse">
            <a:avLst/>
          </a:prstGeom>
          <a:solidFill>
            <a:srgbClr val="003BA3"/>
          </a:solidFill>
          <a:ln/>
        </p:spPr>
      </p:sp>
      <p:sp>
        <p:nvSpPr>
          <p:cNvPr id="9" name="Text 7"/>
          <p:cNvSpPr txBox="1"/>
          <p:nvPr/>
        </p:nvSpPr>
        <p:spPr>
          <a:xfrm>
            <a:off x="78638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10" name="Text 8"/>
          <p:cNvSpPr txBox="1"/>
          <p:nvPr/>
        </p:nvSpPr>
        <p:spPr>
          <a:xfrm>
            <a:off x="786384" y="2487168"/>
            <a:ext cx="5413248" cy="457200"/>
          </a:xfrm>
          <a:prstGeom prst="rect">
            <a:avLst/>
          </a:prstGeom>
          <a:noFill/>
          <a:ln/>
        </p:spPr>
        <p:txBody>
          <a:bodyPr wrap="square" lIns="0" tIns="0" rIns="0" bIns="0" rtlCol="0" anchor="t"/>
          <a:lstStyle/>
          <a:p>
            <a:pPr indent="0" marL="0">
              <a:lnSpc>
                <a:spcPct val="100000"/>
              </a:lnSpc>
              <a:buNone/>
            </a:pPr>
            <a:r>
              <a:rPr lang="en-US" sz="1250" b="1" dirty="0">
                <a:solidFill>
                  <a:srgbClr val="003BA3"/>
                </a:solidFill>
                <a:latin typeface="Montserrat" pitchFamily="34" charset="0"/>
                <a:ea typeface="Montserrat" pitchFamily="34" charset="-122"/>
                <a:cs typeface="Montserrat" pitchFamily="34" charset="-120"/>
              </a:rPr>
              <a:t>Feasibility</a:t>
            </a:r>
            <a:endParaRPr lang="en-US" sz="1250" dirty="0"/>
          </a:p>
        </p:txBody>
      </p:sp>
      <p:sp>
        <p:nvSpPr>
          <p:cNvPr id="11" name="Text 9"/>
          <p:cNvSpPr txBox="1"/>
          <p:nvPr/>
        </p:nvSpPr>
        <p:spPr>
          <a:xfrm>
            <a:off x="786384" y="2980944"/>
            <a:ext cx="5413248" cy="-91440"/>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Agreement with human preferences above 80%, comparable to inter-human agreement — while the same work documents position, verbosity and self-preference bias. [44]</a:t>
            </a:r>
            <a:endParaRPr lang="en-US" sz="1100" dirty="0"/>
          </a:p>
        </p:txBody>
      </p:sp>
      <p:sp>
        <p:nvSpPr>
          <p:cNvPr id="12" name="Shape 10"/>
          <p:cNvSpPr/>
          <p:nvPr/>
        </p:nvSpPr>
        <p:spPr>
          <a:xfrm>
            <a:off x="566928" y="3218688"/>
            <a:ext cx="5852160" cy="1207008"/>
          </a:xfrm>
          <a:prstGeom prst="roundRect">
            <a:avLst>
              <a:gd name="adj" fmla="val 6061"/>
            </a:avLst>
          </a:prstGeom>
          <a:solidFill>
            <a:srgbClr val="F2F6FD"/>
          </a:solidFill>
          <a:ln w="6350">
            <a:solidFill>
              <a:srgbClr val="F2F6FD"/>
            </a:solidFill>
            <a:prstDash val="solid"/>
          </a:ln>
        </p:spPr>
      </p:sp>
      <p:sp>
        <p:nvSpPr>
          <p:cNvPr id="13" name="Shape 11"/>
          <p:cNvSpPr/>
          <p:nvPr/>
        </p:nvSpPr>
        <p:spPr>
          <a:xfrm>
            <a:off x="786384" y="3419856"/>
            <a:ext cx="329184" cy="329184"/>
          </a:xfrm>
          <a:prstGeom prst="ellipse">
            <a:avLst/>
          </a:prstGeom>
          <a:solidFill>
            <a:srgbClr val="003BA3"/>
          </a:solidFill>
          <a:ln/>
        </p:spPr>
      </p:sp>
      <p:sp>
        <p:nvSpPr>
          <p:cNvPr id="14" name="Text 12"/>
          <p:cNvSpPr txBox="1"/>
          <p:nvPr/>
        </p:nvSpPr>
        <p:spPr>
          <a:xfrm>
            <a:off x="786384" y="34198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5" name="Text 13"/>
          <p:cNvSpPr txBox="1"/>
          <p:nvPr/>
        </p:nvSpPr>
        <p:spPr>
          <a:xfrm>
            <a:off x="786384" y="3858768"/>
            <a:ext cx="5413248" cy="457200"/>
          </a:xfrm>
          <a:prstGeom prst="rect">
            <a:avLst/>
          </a:prstGeom>
          <a:noFill/>
          <a:ln/>
        </p:spPr>
        <p:txBody>
          <a:bodyPr wrap="square" lIns="0" tIns="0" rIns="0" bIns="0" rtlCol="0" anchor="t"/>
          <a:lstStyle/>
          <a:p>
            <a:pPr indent="0" marL="0">
              <a:lnSpc>
                <a:spcPct val="100000"/>
              </a:lnSpc>
              <a:buNone/>
            </a:pPr>
            <a:r>
              <a:rPr lang="en-US" sz="1250" b="1" dirty="0">
                <a:solidFill>
                  <a:srgbClr val="003BA3"/>
                </a:solidFill>
                <a:latin typeface="Montserrat" pitchFamily="34" charset="0"/>
                <a:ea typeface="Montserrat" pitchFamily="34" charset="-122"/>
                <a:cs typeface="Montserrat" pitchFamily="34" charset="-120"/>
              </a:rPr>
              <a:t>Method</a:t>
            </a:r>
            <a:endParaRPr lang="en-US" sz="1250" dirty="0"/>
          </a:p>
        </p:txBody>
      </p:sp>
      <p:sp>
        <p:nvSpPr>
          <p:cNvPr id="16" name="Text 14"/>
          <p:cNvSpPr txBox="1"/>
          <p:nvPr/>
        </p:nvSpPr>
        <p:spPr>
          <a:xfrm>
            <a:off x="786384" y="4352544"/>
            <a:ext cx="5413248" cy="-91440"/>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Structured chain-of-thought against an explicit rubric improves alignment, with a residual preference for model-generated text. [45]</a:t>
            </a:r>
            <a:endParaRPr lang="en-US" sz="1100" dirty="0"/>
          </a:p>
        </p:txBody>
      </p:sp>
      <p:sp>
        <p:nvSpPr>
          <p:cNvPr id="17" name="Shape 15"/>
          <p:cNvSpPr/>
          <p:nvPr/>
        </p:nvSpPr>
        <p:spPr>
          <a:xfrm>
            <a:off x="566928" y="4590288"/>
            <a:ext cx="5852160" cy="1207008"/>
          </a:xfrm>
          <a:prstGeom prst="roundRect">
            <a:avLst>
              <a:gd name="adj" fmla="val 6061"/>
            </a:avLst>
          </a:prstGeom>
          <a:solidFill>
            <a:srgbClr val="F2F6FD"/>
          </a:solidFill>
          <a:ln w="6350">
            <a:solidFill>
              <a:srgbClr val="F2F6FD"/>
            </a:solidFill>
            <a:prstDash val="solid"/>
          </a:ln>
        </p:spPr>
      </p:sp>
      <p:sp>
        <p:nvSpPr>
          <p:cNvPr id="18" name="Shape 16"/>
          <p:cNvSpPr/>
          <p:nvPr/>
        </p:nvSpPr>
        <p:spPr>
          <a:xfrm>
            <a:off x="786384" y="4791456"/>
            <a:ext cx="329184" cy="329184"/>
          </a:xfrm>
          <a:prstGeom prst="ellipse">
            <a:avLst/>
          </a:prstGeom>
          <a:solidFill>
            <a:srgbClr val="003BA3"/>
          </a:solidFill>
          <a:ln/>
        </p:spPr>
      </p:sp>
      <p:sp>
        <p:nvSpPr>
          <p:cNvPr id="19" name="Text 17"/>
          <p:cNvSpPr txBox="1"/>
          <p:nvPr/>
        </p:nvSpPr>
        <p:spPr>
          <a:xfrm>
            <a:off x="786384" y="47914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20" name="Text 18"/>
          <p:cNvSpPr txBox="1"/>
          <p:nvPr/>
        </p:nvSpPr>
        <p:spPr>
          <a:xfrm>
            <a:off x="786384" y="5230368"/>
            <a:ext cx="5413248" cy="457200"/>
          </a:xfrm>
          <a:prstGeom prst="rect">
            <a:avLst/>
          </a:prstGeom>
          <a:noFill/>
          <a:ln/>
        </p:spPr>
        <p:txBody>
          <a:bodyPr wrap="square" lIns="0" tIns="0" rIns="0" bIns="0" rtlCol="0" anchor="t"/>
          <a:lstStyle/>
          <a:p>
            <a:pPr indent="0" marL="0">
              <a:lnSpc>
                <a:spcPct val="100000"/>
              </a:lnSpc>
              <a:buNone/>
            </a:pPr>
            <a:r>
              <a:rPr lang="en-US" sz="1250" b="1" dirty="0">
                <a:solidFill>
                  <a:srgbClr val="003BA3"/>
                </a:solidFill>
                <a:latin typeface="Montserrat" pitchFamily="34" charset="0"/>
                <a:ea typeface="Montserrat" pitchFamily="34" charset="-122"/>
                <a:cs typeface="Montserrat" pitchFamily="34" charset="-120"/>
              </a:rPr>
              <a:t>Validation</a:t>
            </a:r>
            <a:endParaRPr lang="en-US" sz="1250" dirty="0"/>
          </a:p>
        </p:txBody>
      </p:sp>
      <p:sp>
        <p:nvSpPr>
          <p:cNvPr id="21" name="Text 19"/>
          <p:cNvSpPr txBox="1"/>
          <p:nvPr/>
        </p:nvSpPr>
        <p:spPr>
          <a:xfrm>
            <a:off x="786384" y="5724144"/>
            <a:ext cx="5413248" cy="-91440"/>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Raw agreement systematically overstates chance-corrected performance: ~41-point discrepancy between exact-match agreement and Cohen's κ on one benchmark [46]. On deliberately difficult pairs with objective labels, the strongest general-purpose evaluator reached ~64% accuracy [47].</a:t>
            </a:r>
            <a:endParaRPr lang="en-US" sz="1100" dirty="0"/>
          </a:p>
        </p:txBody>
      </p:sp>
      <p:sp>
        <p:nvSpPr>
          <p:cNvPr id="22" name="Shape 20"/>
          <p:cNvSpPr/>
          <p:nvPr/>
        </p:nvSpPr>
        <p:spPr>
          <a:xfrm>
            <a:off x="6693408" y="1847088"/>
            <a:ext cx="4928616" cy="3785616"/>
          </a:xfrm>
          <a:prstGeom prst="roundRect">
            <a:avLst>
              <a:gd name="adj" fmla="val 1932"/>
            </a:avLst>
          </a:prstGeom>
          <a:solidFill>
            <a:srgbClr val="003BA3"/>
          </a:solidFill>
          <a:ln/>
        </p:spPr>
      </p:sp>
      <p:sp>
        <p:nvSpPr>
          <p:cNvPr id="23" name="Text 21"/>
          <p:cNvSpPr txBox="1"/>
          <p:nvPr/>
        </p:nvSpPr>
        <p:spPr>
          <a:xfrm>
            <a:off x="6931152" y="2011680"/>
            <a:ext cx="4453128" cy="310896"/>
          </a:xfrm>
          <a:prstGeom prst="rect">
            <a:avLst/>
          </a:prstGeom>
          <a:noFill/>
          <a:ln/>
        </p:spPr>
        <p:txBody>
          <a:bodyPr wrap="square" lIns="0" tIns="0" rIns="0" bIns="0"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The four requirements</a:t>
            </a:r>
            <a:endParaRPr lang="en-US" sz="1400" dirty="0"/>
          </a:p>
        </p:txBody>
      </p:sp>
      <p:sp>
        <p:nvSpPr>
          <p:cNvPr id="24" name="Text 22"/>
          <p:cNvSpPr txBox="1"/>
          <p:nvPr/>
        </p:nvSpPr>
        <p:spPr>
          <a:xfrm>
            <a:off x="6931152" y="2468880"/>
            <a:ext cx="274320" cy="256032"/>
          </a:xfrm>
          <a:prstGeom prst="rect">
            <a:avLst/>
          </a:prstGeom>
          <a:noFill/>
          <a:ln/>
        </p:spPr>
        <p:txBody>
          <a:bodyPr wrap="square" lIns="0" tIns="0" rIns="0" bIns="0" rtlCol="0" anchor="ctr"/>
          <a:lstStyle/>
          <a:p>
            <a:pPr indent="0" marL="0">
              <a:buNone/>
            </a:pPr>
            <a:r>
              <a:rPr lang="en-US" sz="1400" b="1" dirty="0">
                <a:solidFill>
                  <a:srgbClr val="8FE3B0"/>
                </a:solidFill>
                <a:latin typeface="Calibri" pitchFamily="34" charset="0"/>
                <a:ea typeface="Calibri" pitchFamily="34" charset="-122"/>
                <a:cs typeface="Calibri" pitchFamily="34" charset="-120"/>
              </a:rPr>
              <a:t>✓</a:t>
            </a:r>
            <a:endParaRPr lang="en-US" sz="1400" dirty="0"/>
          </a:p>
        </p:txBody>
      </p:sp>
      <p:sp>
        <p:nvSpPr>
          <p:cNvPr id="25" name="Text 23"/>
          <p:cNvSpPr txBox="1"/>
          <p:nvPr/>
        </p:nvSpPr>
        <p:spPr>
          <a:xfrm>
            <a:off x="7242048" y="2450592"/>
            <a:ext cx="4105656" cy="384048"/>
          </a:xfrm>
          <a:prstGeom prst="rect">
            <a:avLst/>
          </a:prstGeom>
          <a:noFill/>
          <a:ln/>
        </p:spPr>
        <p:txBody>
          <a:bodyPr wrap="square" lIns="0" tIns="0" rIns="0" bIns="0" rtlCol="0" anchor="ctr"/>
          <a:lstStyle/>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Report agreement with chance correction</a:t>
            </a:r>
            <a:endParaRPr lang="en-US" sz="1200" dirty="0"/>
          </a:p>
        </p:txBody>
      </p:sp>
      <p:sp>
        <p:nvSpPr>
          <p:cNvPr id="26" name="Text 24"/>
          <p:cNvSpPr txBox="1"/>
          <p:nvPr/>
        </p:nvSpPr>
        <p:spPr>
          <a:xfrm>
            <a:off x="7242048" y="2816352"/>
            <a:ext cx="4105656" cy="219456"/>
          </a:xfrm>
          <a:prstGeom prst="rect">
            <a:avLst/>
          </a:prstGeom>
          <a:noFill/>
          <a:ln/>
        </p:spPr>
        <p:txBody>
          <a:bodyPr wrap="square" lIns="0" tIns="0" rIns="0" bIns="0" rtlCol="0" anchor="ctr"/>
          <a:lstStyle/>
          <a:p>
            <a:pPr indent="0" marL="0">
              <a:buNone/>
            </a:pPr>
            <a:r>
              <a:rPr lang="en-US" sz="1050" i="1" dirty="0">
                <a:solidFill>
                  <a:srgbClr val="9FBDEE"/>
                </a:solidFill>
                <a:latin typeface="Calibri" pitchFamily="34" charset="0"/>
                <a:ea typeface="Calibri" pitchFamily="34" charset="-122"/>
                <a:cs typeface="Calibri" pitchFamily="34" charset="-120"/>
              </a:rPr>
              <a:t>→ evaluation design</a:t>
            </a:r>
            <a:endParaRPr lang="en-US" sz="1050" dirty="0"/>
          </a:p>
        </p:txBody>
      </p:sp>
      <p:sp>
        <p:nvSpPr>
          <p:cNvPr id="27" name="Text 25"/>
          <p:cNvSpPr txBox="1"/>
          <p:nvPr/>
        </p:nvSpPr>
        <p:spPr>
          <a:xfrm>
            <a:off x="6931152" y="3246120"/>
            <a:ext cx="274320" cy="256032"/>
          </a:xfrm>
          <a:prstGeom prst="rect">
            <a:avLst/>
          </a:prstGeom>
          <a:noFill/>
          <a:ln/>
        </p:spPr>
        <p:txBody>
          <a:bodyPr wrap="square" lIns="0" tIns="0" rIns="0" bIns="0" rtlCol="0" anchor="ctr"/>
          <a:lstStyle/>
          <a:p>
            <a:pPr indent="0" marL="0">
              <a:buNone/>
            </a:pPr>
            <a:r>
              <a:rPr lang="en-US" sz="1400" b="1" dirty="0">
                <a:solidFill>
                  <a:srgbClr val="8FE3B0"/>
                </a:solidFill>
                <a:latin typeface="Calibri" pitchFamily="34" charset="0"/>
                <a:ea typeface="Calibri" pitchFamily="34" charset="-122"/>
                <a:cs typeface="Calibri" pitchFamily="34" charset="-120"/>
              </a:rPr>
              <a:t>✓</a:t>
            </a:r>
            <a:endParaRPr lang="en-US" sz="1400" dirty="0"/>
          </a:p>
        </p:txBody>
      </p:sp>
      <p:sp>
        <p:nvSpPr>
          <p:cNvPr id="28" name="Text 26"/>
          <p:cNvSpPr txBox="1"/>
          <p:nvPr/>
        </p:nvSpPr>
        <p:spPr>
          <a:xfrm>
            <a:off x="7242048" y="3227832"/>
            <a:ext cx="4105656" cy="384048"/>
          </a:xfrm>
          <a:prstGeom prst="rect">
            <a:avLst/>
          </a:prstGeom>
          <a:noFill/>
          <a:ln/>
        </p:spPr>
        <p:txBody>
          <a:bodyPr wrap="square" lIns="0" tIns="0" rIns="0" bIns="0" rtlCol="0" anchor="ctr"/>
          <a:lstStyle/>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Draw the evaluator from a different model family than the generator</a:t>
            </a:r>
            <a:endParaRPr lang="en-US" sz="1200" dirty="0"/>
          </a:p>
        </p:txBody>
      </p:sp>
      <p:sp>
        <p:nvSpPr>
          <p:cNvPr id="29" name="Text 27"/>
          <p:cNvSpPr txBox="1"/>
          <p:nvPr/>
        </p:nvSpPr>
        <p:spPr>
          <a:xfrm>
            <a:off x="7242048" y="3593592"/>
            <a:ext cx="4105656" cy="219456"/>
          </a:xfrm>
          <a:prstGeom prst="rect">
            <a:avLst/>
          </a:prstGeom>
          <a:noFill/>
          <a:ln/>
        </p:spPr>
        <p:txBody>
          <a:bodyPr wrap="square" lIns="0" tIns="0" rIns="0" bIns="0" rtlCol="0" anchor="ctr"/>
          <a:lstStyle/>
          <a:p>
            <a:pPr indent="0" marL="0">
              <a:buNone/>
            </a:pPr>
            <a:r>
              <a:rPr lang="en-US" sz="1050" i="1" dirty="0">
                <a:solidFill>
                  <a:srgbClr val="9FBDEE"/>
                </a:solidFill>
                <a:latin typeface="Calibri" pitchFamily="34" charset="0"/>
                <a:ea typeface="Calibri" pitchFamily="34" charset="-122"/>
                <a:cs typeface="Calibri" pitchFamily="34" charset="-120"/>
              </a:rPr>
              <a:t>→ BR-09</a:t>
            </a:r>
            <a:endParaRPr lang="en-US" sz="1050" dirty="0"/>
          </a:p>
        </p:txBody>
      </p:sp>
      <p:sp>
        <p:nvSpPr>
          <p:cNvPr id="30" name="Text 28"/>
          <p:cNvSpPr txBox="1"/>
          <p:nvPr/>
        </p:nvSpPr>
        <p:spPr>
          <a:xfrm>
            <a:off x="6931152" y="4023360"/>
            <a:ext cx="274320" cy="256032"/>
          </a:xfrm>
          <a:prstGeom prst="rect">
            <a:avLst/>
          </a:prstGeom>
          <a:noFill/>
          <a:ln/>
        </p:spPr>
        <p:txBody>
          <a:bodyPr wrap="square" lIns="0" tIns="0" rIns="0" bIns="0" rtlCol="0" anchor="ctr"/>
          <a:lstStyle/>
          <a:p>
            <a:pPr indent="0" marL="0">
              <a:buNone/>
            </a:pPr>
            <a:r>
              <a:rPr lang="en-US" sz="1400" b="1" dirty="0">
                <a:solidFill>
                  <a:srgbClr val="8FE3B0"/>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7242048" y="4005072"/>
            <a:ext cx="4105656" cy="384048"/>
          </a:xfrm>
          <a:prstGeom prst="rect">
            <a:avLst/>
          </a:prstGeom>
          <a:noFill/>
          <a:ln/>
        </p:spPr>
        <p:txBody>
          <a:bodyPr wrap="square" lIns="0" tIns="0" rIns="0" bIns="0" rtlCol="0" anchor="ctr"/>
          <a:lstStyle/>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Control option ordering and response length</a:t>
            </a:r>
            <a:endParaRPr lang="en-US" sz="1200" dirty="0"/>
          </a:p>
        </p:txBody>
      </p:sp>
      <p:sp>
        <p:nvSpPr>
          <p:cNvPr id="32" name="Text 30"/>
          <p:cNvSpPr txBox="1"/>
          <p:nvPr/>
        </p:nvSpPr>
        <p:spPr>
          <a:xfrm>
            <a:off x="7242048" y="4370832"/>
            <a:ext cx="4105656" cy="219456"/>
          </a:xfrm>
          <a:prstGeom prst="rect">
            <a:avLst/>
          </a:prstGeom>
          <a:noFill/>
          <a:ln/>
        </p:spPr>
        <p:txBody>
          <a:bodyPr wrap="square" lIns="0" tIns="0" rIns="0" bIns="0" rtlCol="0" anchor="ctr"/>
          <a:lstStyle/>
          <a:p>
            <a:pPr indent="0" marL="0">
              <a:buNone/>
            </a:pPr>
            <a:r>
              <a:rPr lang="en-US" sz="1050" i="1" dirty="0">
                <a:solidFill>
                  <a:srgbClr val="9FBDEE"/>
                </a:solidFill>
                <a:latin typeface="Calibri" pitchFamily="34" charset="0"/>
                <a:ea typeface="Calibri" pitchFamily="34" charset="-122"/>
                <a:cs typeface="Calibri" pitchFamily="34" charset="-120"/>
              </a:rPr>
              <a:t>→ assessment pipeline</a:t>
            </a:r>
            <a:endParaRPr lang="en-US" sz="1050" dirty="0"/>
          </a:p>
        </p:txBody>
      </p:sp>
      <p:sp>
        <p:nvSpPr>
          <p:cNvPr id="33" name="Text 31"/>
          <p:cNvSpPr txBox="1"/>
          <p:nvPr/>
        </p:nvSpPr>
        <p:spPr>
          <a:xfrm>
            <a:off x="6931152" y="4800600"/>
            <a:ext cx="274320" cy="256032"/>
          </a:xfrm>
          <a:prstGeom prst="rect">
            <a:avLst/>
          </a:prstGeom>
          <a:noFill/>
          <a:ln/>
        </p:spPr>
        <p:txBody>
          <a:bodyPr wrap="square" lIns="0" tIns="0" rIns="0" bIns="0" rtlCol="0" anchor="ctr"/>
          <a:lstStyle/>
          <a:p>
            <a:pPr indent="0" marL="0">
              <a:buNone/>
            </a:pPr>
            <a:r>
              <a:rPr lang="en-US" sz="1400" b="1" dirty="0">
                <a:solidFill>
                  <a:srgbClr val="8FE3B0"/>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7242048" y="4782312"/>
            <a:ext cx="4105656" cy="384048"/>
          </a:xfrm>
          <a:prstGeom prst="rect">
            <a:avLst/>
          </a:prstGeom>
          <a:noFill/>
          <a:ln/>
        </p:spPr>
        <p:txBody>
          <a:bodyPr wrap="square" lIns="0" tIns="0" rIns="0" bIns="0" rtlCol="0" anchor="ctr"/>
          <a:lstStyle/>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Report performance stratified by item difficulty</a:t>
            </a:r>
            <a:endParaRPr lang="en-US" sz="1200" dirty="0"/>
          </a:p>
        </p:txBody>
      </p:sp>
      <p:sp>
        <p:nvSpPr>
          <p:cNvPr id="35" name="Text 33"/>
          <p:cNvSpPr txBox="1"/>
          <p:nvPr/>
        </p:nvSpPr>
        <p:spPr>
          <a:xfrm>
            <a:off x="7242048" y="5148072"/>
            <a:ext cx="4105656" cy="219456"/>
          </a:xfrm>
          <a:prstGeom prst="rect">
            <a:avLst/>
          </a:prstGeom>
          <a:noFill/>
          <a:ln/>
        </p:spPr>
        <p:txBody>
          <a:bodyPr wrap="square" lIns="0" tIns="0" rIns="0" bIns="0" rtlCol="0" anchor="ctr"/>
          <a:lstStyle/>
          <a:p>
            <a:pPr indent="0" marL="0">
              <a:buNone/>
            </a:pPr>
            <a:r>
              <a:rPr lang="en-US" sz="1050" i="1" dirty="0">
                <a:solidFill>
                  <a:srgbClr val="9FBDEE"/>
                </a:solidFill>
                <a:latin typeface="Calibri" pitchFamily="34" charset="0"/>
                <a:ea typeface="Calibri" pitchFamily="34" charset="-122"/>
                <a:cs typeface="Calibri" pitchFamily="34" charset="-120"/>
              </a:rPr>
              <a:t>→ reference-set strata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FOUNDATION 4</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What we build on: taxonomies and benchmarks</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We ground claims in established resources rather than collecting bespoke data.</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[49] O*NET.  [50] ESCO.  [44][47][51] judging benchmarks.  [52][53] generated instructional content.  [54][55] agents in branching narrative.</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14</a:t>
            </a:r>
            <a:endParaRPr lang="en-US" sz="1000" dirty="0"/>
          </a:p>
        </p:txBody>
      </p:sp>
      <p:sp>
        <p:nvSpPr>
          <p:cNvPr id="7" name="Text 5"/>
          <p:cNvSpPr txBox="1"/>
          <p:nvPr/>
        </p:nvSpPr>
        <p:spPr>
          <a:xfrm>
            <a:off x="566928" y="1847088"/>
            <a:ext cx="5486400" cy="292608"/>
          </a:xfrm>
          <a:prstGeom prst="rect">
            <a:avLst/>
          </a:prstGeom>
          <a:noFill/>
          <a:ln/>
        </p:spPr>
        <p:txBody>
          <a:bodyPr wrap="square" lIns="0" tIns="0" rIns="0" bIns="0" rtlCol="0" anchor="ctr"/>
          <a:lstStyle/>
          <a:p>
            <a:pPr indent="0" marL="0">
              <a:buNone/>
            </a:pPr>
            <a:r>
              <a:rPr lang="en-US" sz="1300" b="1" dirty="0">
                <a:solidFill>
                  <a:srgbClr val="003BA3"/>
                </a:solidFill>
                <a:latin typeface="Montserrat" pitchFamily="34" charset="0"/>
                <a:ea typeface="Montserrat" pitchFamily="34" charset="-122"/>
                <a:cs typeface="Montserrat" pitchFamily="34" charset="-120"/>
              </a:rPr>
              <a:t>Occupational taxonomies</a:t>
            </a:r>
            <a:endParaRPr lang="en-US" sz="1300" dirty="0"/>
          </a:p>
        </p:txBody>
      </p:sp>
      <p:sp>
        <p:nvSpPr>
          <p:cNvPr id="8" name="Shape 6"/>
          <p:cNvSpPr/>
          <p:nvPr/>
        </p:nvSpPr>
        <p:spPr>
          <a:xfrm>
            <a:off x="566928" y="2212848"/>
            <a:ext cx="5486400" cy="1463040"/>
          </a:xfrm>
          <a:prstGeom prst="roundRect">
            <a:avLst>
              <a:gd name="adj" fmla="val 3750"/>
            </a:avLst>
          </a:prstGeom>
          <a:solidFill>
            <a:srgbClr val="003BA3"/>
          </a:solidFill>
          <a:ln/>
        </p:spPr>
      </p:sp>
      <p:sp>
        <p:nvSpPr>
          <p:cNvPr id="9" name="Text 7"/>
          <p:cNvSpPr txBox="1"/>
          <p:nvPr/>
        </p:nvSpPr>
        <p:spPr>
          <a:xfrm>
            <a:off x="804672" y="2340864"/>
            <a:ext cx="1828800" cy="310896"/>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O*NET</a:t>
            </a:r>
            <a:endParaRPr lang="en-US" sz="1500" dirty="0"/>
          </a:p>
        </p:txBody>
      </p:sp>
      <p:sp>
        <p:nvSpPr>
          <p:cNvPr id="10" name="Text 8"/>
          <p:cNvSpPr txBox="1"/>
          <p:nvPr/>
        </p:nvSpPr>
        <p:spPr>
          <a:xfrm>
            <a:off x="2578608" y="2322576"/>
            <a:ext cx="3246120" cy="329184"/>
          </a:xfrm>
          <a:prstGeom prst="rect">
            <a:avLst/>
          </a:prstGeom>
          <a:noFill/>
          <a:ln/>
        </p:spPr>
        <p:txBody>
          <a:bodyPr wrap="square" lIns="0" tIns="0" rIns="0" bIns="0" rtlCol="0" anchor="ctr"/>
          <a:lstStyle/>
          <a:p>
            <a:pPr algn="r" indent="0" marL="0">
              <a:buNone/>
            </a:pPr>
            <a:r>
              <a:rPr lang="en-US" sz="1500" b="1" dirty="0">
                <a:solidFill>
                  <a:srgbClr val="FFD27A"/>
                </a:solidFill>
                <a:latin typeface="Montserrat" pitchFamily="34" charset="0"/>
                <a:ea typeface="Montserrat" pitchFamily="34" charset="-122"/>
                <a:cs typeface="Montserrat" pitchFamily="34" charset="-120"/>
              </a:rPr>
              <a:t>~900 occupations</a:t>
            </a:r>
            <a:endParaRPr lang="en-US" sz="1500" dirty="0"/>
          </a:p>
        </p:txBody>
      </p:sp>
      <p:sp>
        <p:nvSpPr>
          <p:cNvPr id="11" name="Text 9"/>
          <p:cNvSpPr txBox="1"/>
          <p:nvPr/>
        </p:nvSpPr>
        <p:spPr>
          <a:xfrm>
            <a:off x="804672" y="2724912"/>
            <a:ext cx="5029200" cy="822960"/>
          </a:xfrm>
          <a:prstGeom prst="rect">
            <a:avLst/>
          </a:prstGeom>
          <a:noFill/>
          <a:ln/>
        </p:spPr>
        <p:txBody>
          <a:bodyPr wrap="square" lIns="0" tIns="0" rIns="0" bIns="0" rtlCol="0" anchor="ctr"/>
          <a:lstStyle/>
          <a:p>
            <a:pPr indent="0" marL="0">
              <a:lnSpc>
                <a:spcPct val="103000"/>
              </a:lnSpc>
              <a:buNone/>
            </a:pPr>
            <a:r>
              <a:rPr lang="en-US" sz="1150" dirty="0">
                <a:solidFill>
                  <a:srgbClr val="CFE0FF"/>
                </a:solidFill>
                <a:latin typeface="Calibri" pitchFamily="34" charset="0"/>
                <a:ea typeface="Calibri" pitchFamily="34" charset="-122"/>
                <a:cs typeface="Calibri" pitchFamily="34" charset="-120"/>
              </a:rPr>
              <a:t>linked to more than 19,000 task statements across some 2,000 detailed work activities [49]</a:t>
            </a:r>
            <a:endParaRPr lang="en-US" sz="1150" dirty="0"/>
          </a:p>
        </p:txBody>
      </p:sp>
      <p:sp>
        <p:nvSpPr>
          <p:cNvPr id="12" name="Shape 10"/>
          <p:cNvSpPr/>
          <p:nvPr/>
        </p:nvSpPr>
        <p:spPr>
          <a:xfrm>
            <a:off x="566928" y="3858768"/>
            <a:ext cx="5486400" cy="1463040"/>
          </a:xfrm>
          <a:prstGeom prst="roundRect">
            <a:avLst>
              <a:gd name="adj" fmla="val 3750"/>
            </a:avLst>
          </a:prstGeom>
          <a:solidFill>
            <a:srgbClr val="F2F6FD"/>
          </a:solidFill>
          <a:ln/>
        </p:spPr>
      </p:sp>
      <p:sp>
        <p:nvSpPr>
          <p:cNvPr id="13" name="Text 11"/>
          <p:cNvSpPr txBox="1"/>
          <p:nvPr/>
        </p:nvSpPr>
        <p:spPr>
          <a:xfrm>
            <a:off x="804672" y="3986784"/>
            <a:ext cx="1828800" cy="310896"/>
          </a:xfrm>
          <a:prstGeom prst="rect">
            <a:avLst/>
          </a:prstGeom>
          <a:noFill/>
          <a:ln/>
        </p:spPr>
        <p:txBody>
          <a:bodyPr wrap="square" lIns="0" tIns="0" rIns="0" bIns="0" rtlCol="0" anchor="ctr"/>
          <a:lstStyle/>
          <a:p>
            <a:pPr indent="0" marL="0">
              <a:buNone/>
            </a:pPr>
            <a:r>
              <a:rPr lang="en-US" sz="1500" b="1" dirty="0">
                <a:solidFill>
                  <a:srgbClr val="003BA3"/>
                </a:solidFill>
                <a:latin typeface="Montserrat" pitchFamily="34" charset="0"/>
                <a:ea typeface="Montserrat" pitchFamily="34" charset="-122"/>
                <a:cs typeface="Montserrat" pitchFamily="34" charset="-120"/>
              </a:rPr>
              <a:t>ESCO</a:t>
            </a:r>
            <a:endParaRPr lang="en-US" sz="1500" dirty="0"/>
          </a:p>
        </p:txBody>
      </p:sp>
      <p:sp>
        <p:nvSpPr>
          <p:cNvPr id="14" name="Text 12"/>
          <p:cNvSpPr txBox="1"/>
          <p:nvPr/>
        </p:nvSpPr>
        <p:spPr>
          <a:xfrm>
            <a:off x="2578608" y="3968496"/>
            <a:ext cx="3246120" cy="329184"/>
          </a:xfrm>
          <a:prstGeom prst="rect">
            <a:avLst/>
          </a:prstGeom>
          <a:noFill/>
          <a:ln/>
        </p:spPr>
        <p:txBody>
          <a:bodyPr wrap="square" lIns="0" tIns="0" rIns="0" bIns="0" rtlCol="0" anchor="ctr"/>
          <a:lstStyle/>
          <a:p>
            <a:pPr algn="r" indent="0" marL="0">
              <a:buNone/>
            </a:pPr>
            <a:r>
              <a:rPr lang="en-US" sz="1500" b="1" dirty="0">
                <a:solidFill>
                  <a:srgbClr val="003BA3"/>
                </a:solidFill>
                <a:latin typeface="Montserrat" pitchFamily="34" charset="0"/>
                <a:ea typeface="Montserrat" pitchFamily="34" charset="-122"/>
                <a:cs typeface="Montserrat" pitchFamily="34" charset="-120"/>
              </a:rPr>
              <a:t>3,039 occupations</a:t>
            </a:r>
            <a:endParaRPr lang="en-US" sz="1500" dirty="0"/>
          </a:p>
        </p:txBody>
      </p:sp>
      <p:sp>
        <p:nvSpPr>
          <p:cNvPr id="15" name="Text 13"/>
          <p:cNvSpPr txBox="1"/>
          <p:nvPr/>
        </p:nvSpPr>
        <p:spPr>
          <a:xfrm>
            <a:off x="804672" y="4370832"/>
            <a:ext cx="5029200" cy="822960"/>
          </a:xfrm>
          <a:prstGeom prst="rect">
            <a:avLst/>
          </a:prstGeom>
          <a:noFill/>
          <a:ln/>
        </p:spPr>
        <p:txBody>
          <a:bodyPr wrap="square" lIns="0" tIns="0" rIns="0" bIns="0" rtlCol="0" anchor="ctr"/>
          <a:lstStyle/>
          <a:p>
            <a:pPr indent="0" marL="0">
              <a:lnSpc>
                <a:spcPct val="103000"/>
              </a:lnSpc>
              <a:buNone/>
            </a:pPr>
            <a:r>
              <a:rPr lang="en-US" sz="1150" dirty="0">
                <a:solidFill>
                  <a:srgbClr val="1B2333"/>
                </a:solidFill>
                <a:latin typeface="Calibri" pitchFamily="34" charset="0"/>
                <a:ea typeface="Calibri" pitchFamily="34" charset="-122"/>
                <a:cs typeface="Calibri" pitchFamily="34" charset="-120"/>
              </a:rPr>
              <a:t>and 13,939 skills across 28 languages, with an official correspondence to O*NET [50]</a:t>
            </a:r>
            <a:endParaRPr lang="en-US" sz="1150" dirty="0"/>
          </a:p>
        </p:txBody>
      </p:sp>
      <p:sp>
        <p:nvSpPr>
          <p:cNvPr id="16" name="Text 14"/>
          <p:cNvSpPr txBox="1"/>
          <p:nvPr/>
        </p:nvSpPr>
        <p:spPr>
          <a:xfrm>
            <a:off x="566928" y="5596128"/>
            <a:ext cx="5486400" cy="603504"/>
          </a:xfrm>
          <a:prstGeom prst="rect">
            <a:avLst/>
          </a:prstGeom>
          <a:noFill/>
          <a:ln/>
        </p:spPr>
        <p:txBody>
          <a:bodyPr wrap="square" lIns="0" tIns="0" rIns="0" bIns="0" rtlCol="0" anchor="ctr"/>
          <a:lstStyle/>
          <a:p>
            <a:pPr indent="0" marL="0">
              <a:lnSpc>
                <a:spcPct val="103000"/>
              </a:lnSpc>
              <a:buNone/>
            </a:pPr>
            <a:r>
              <a:rPr lang="en-US" sz="1150" i="1" dirty="0">
                <a:solidFill>
                  <a:srgbClr val="003BA3"/>
                </a:solidFill>
                <a:latin typeface="Calibri" pitchFamily="34" charset="0"/>
                <a:ea typeface="Calibri" pitchFamily="34" charset="-122"/>
                <a:cs typeface="Calibri" pitchFamily="34" charset="-120"/>
              </a:rPr>
              <a:t>Both express occupations as compositions of skills and activities — which is what supplies an external basis for occupational adjacency (BR-03, DR-01–DR-03) and a source for authoring representative tasks.</a:t>
            </a:r>
            <a:endParaRPr lang="en-US" sz="1150" dirty="0"/>
          </a:p>
        </p:txBody>
      </p:sp>
      <p:sp>
        <p:nvSpPr>
          <p:cNvPr id="17" name="Text 15"/>
          <p:cNvSpPr txBox="1"/>
          <p:nvPr/>
        </p:nvSpPr>
        <p:spPr>
          <a:xfrm>
            <a:off x="6419088" y="1847088"/>
            <a:ext cx="5202936" cy="292608"/>
          </a:xfrm>
          <a:prstGeom prst="rect">
            <a:avLst/>
          </a:prstGeom>
          <a:noFill/>
          <a:ln/>
        </p:spPr>
        <p:txBody>
          <a:bodyPr wrap="square" lIns="0" tIns="0" rIns="0" bIns="0" rtlCol="0" anchor="ctr"/>
          <a:lstStyle/>
          <a:p>
            <a:pPr indent="0" marL="0">
              <a:buNone/>
            </a:pPr>
            <a:r>
              <a:rPr lang="en-US" sz="1300" b="1" dirty="0">
                <a:solidFill>
                  <a:srgbClr val="003BA3"/>
                </a:solidFill>
                <a:latin typeface="Montserrat" pitchFamily="34" charset="0"/>
                <a:ea typeface="Montserrat" pitchFamily="34" charset="-122"/>
                <a:cs typeface="Montserrat" pitchFamily="34" charset="-120"/>
              </a:rPr>
              <a:t>Evaluation benchmarks</a:t>
            </a:r>
            <a:endParaRPr lang="en-US" sz="1300" dirty="0"/>
          </a:p>
        </p:txBody>
      </p:sp>
      <p:sp>
        <p:nvSpPr>
          <p:cNvPr id="18" name="Shape 16"/>
          <p:cNvSpPr/>
          <p:nvPr/>
        </p:nvSpPr>
        <p:spPr>
          <a:xfrm>
            <a:off x="6419088" y="2212848"/>
            <a:ext cx="5202936" cy="987552"/>
          </a:xfrm>
          <a:prstGeom prst="roundRect">
            <a:avLst>
              <a:gd name="adj" fmla="val 5556"/>
            </a:avLst>
          </a:prstGeom>
          <a:solidFill>
            <a:srgbClr val="F2F6FD"/>
          </a:solidFill>
          <a:ln/>
        </p:spPr>
      </p:sp>
      <p:sp>
        <p:nvSpPr>
          <p:cNvPr id="19" name="Text 17"/>
          <p:cNvSpPr txBox="1"/>
          <p:nvPr/>
        </p:nvSpPr>
        <p:spPr>
          <a:xfrm>
            <a:off x="6638544" y="2304288"/>
            <a:ext cx="4764024" cy="256032"/>
          </a:xfrm>
          <a:prstGeom prst="rect">
            <a:avLst/>
          </a:prstGeom>
          <a:noFill/>
          <a:ln/>
        </p:spPr>
        <p:txBody>
          <a:bodyPr wrap="square" lIns="0" tIns="0" rIns="0" bIns="0" rtlCol="0" anchor="ctr"/>
          <a:lstStyle/>
          <a:p>
            <a:pPr indent="0" marL="0">
              <a:buNone/>
            </a:pPr>
            <a:r>
              <a:rPr lang="en-US" sz="1150" b="1" dirty="0">
                <a:solidFill>
                  <a:srgbClr val="003BA3"/>
                </a:solidFill>
                <a:latin typeface="Montserrat" pitchFamily="34" charset="0"/>
                <a:ea typeface="Montserrat" pitchFamily="34" charset="-122"/>
                <a:cs typeface="Montserrat" pitchFamily="34" charset="-120"/>
              </a:rPr>
              <a:t>Automated assessment</a:t>
            </a:r>
            <a:endParaRPr lang="en-US" sz="1150" dirty="0"/>
          </a:p>
        </p:txBody>
      </p:sp>
      <p:sp>
        <p:nvSpPr>
          <p:cNvPr id="20" name="Text 18"/>
          <p:cNvSpPr txBox="1"/>
          <p:nvPr/>
        </p:nvSpPr>
        <p:spPr>
          <a:xfrm>
            <a:off x="6638544" y="2578608"/>
            <a:ext cx="4764024" cy="548640"/>
          </a:xfrm>
          <a:prstGeom prst="rect">
            <a:avLst/>
          </a:prstGeom>
          <a:noFill/>
          <a:ln/>
        </p:spPr>
        <p:txBody>
          <a:bodyPr wrap="square" lIns="0" tIns="0" rIns="0" bIns="0" rtlCol="0" anchor="ctr"/>
          <a:lstStyle/>
          <a:p>
            <a:pPr indent="0" marL="0">
              <a:lnSpc>
                <a:spcPct val="100000"/>
              </a:lnSpc>
              <a:buNone/>
            </a:pPr>
            <a:r>
              <a:rPr lang="en-US" sz="1150" dirty="0">
                <a:solidFill>
                  <a:srgbClr val="1B2333"/>
                </a:solidFill>
                <a:latin typeface="Calibri" pitchFamily="34" charset="0"/>
                <a:ea typeface="Calibri" pitchFamily="34" charset="-122"/>
                <a:cs typeface="Calibri" pitchFamily="34" charset="-120"/>
              </a:rPr>
              <a:t>MT-Bench and the arena methodology [44] · JudgeBench [47] · RewardBench [51]</a:t>
            </a:r>
            <a:endParaRPr lang="en-US" sz="1150" dirty="0"/>
          </a:p>
        </p:txBody>
      </p:sp>
      <p:sp>
        <p:nvSpPr>
          <p:cNvPr id="21" name="Shape 19"/>
          <p:cNvSpPr/>
          <p:nvPr/>
        </p:nvSpPr>
        <p:spPr>
          <a:xfrm>
            <a:off x="6419088" y="3355848"/>
            <a:ext cx="5202936" cy="987552"/>
          </a:xfrm>
          <a:prstGeom prst="roundRect">
            <a:avLst>
              <a:gd name="adj" fmla="val 5556"/>
            </a:avLst>
          </a:prstGeom>
          <a:solidFill>
            <a:srgbClr val="F2F6FD"/>
          </a:solidFill>
          <a:ln/>
        </p:spPr>
      </p:sp>
      <p:sp>
        <p:nvSpPr>
          <p:cNvPr id="22" name="Text 20"/>
          <p:cNvSpPr txBox="1"/>
          <p:nvPr/>
        </p:nvSpPr>
        <p:spPr>
          <a:xfrm>
            <a:off x="6638544" y="3447288"/>
            <a:ext cx="4764024" cy="256032"/>
          </a:xfrm>
          <a:prstGeom prst="rect">
            <a:avLst/>
          </a:prstGeom>
          <a:noFill/>
          <a:ln/>
        </p:spPr>
        <p:txBody>
          <a:bodyPr wrap="square" lIns="0" tIns="0" rIns="0" bIns="0" rtlCol="0" anchor="ctr"/>
          <a:lstStyle/>
          <a:p>
            <a:pPr indent="0" marL="0">
              <a:buNone/>
            </a:pPr>
            <a:r>
              <a:rPr lang="en-US" sz="1150" b="1" dirty="0">
                <a:solidFill>
                  <a:srgbClr val="003BA3"/>
                </a:solidFill>
                <a:latin typeface="Montserrat" pitchFamily="34" charset="0"/>
                <a:ea typeface="Montserrat" pitchFamily="34" charset="-122"/>
                <a:cs typeface="Montserrat" pitchFamily="34" charset="-120"/>
              </a:rPr>
              <a:t>Generated instructional content</a:t>
            </a:r>
            <a:endParaRPr lang="en-US" sz="1150" dirty="0"/>
          </a:p>
        </p:txBody>
      </p:sp>
      <p:sp>
        <p:nvSpPr>
          <p:cNvPr id="23" name="Text 21"/>
          <p:cNvSpPr txBox="1"/>
          <p:nvPr/>
        </p:nvSpPr>
        <p:spPr>
          <a:xfrm>
            <a:off x="6638544" y="3721608"/>
            <a:ext cx="4764024" cy="548640"/>
          </a:xfrm>
          <a:prstGeom prst="rect">
            <a:avLst/>
          </a:prstGeom>
          <a:noFill/>
          <a:ln/>
        </p:spPr>
        <p:txBody>
          <a:bodyPr wrap="square" lIns="0" tIns="0" rIns="0" bIns="0" rtlCol="0" anchor="ctr"/>
          <a:lstStyle/>
          <a:p>
            <a:pPr indent="0" marL="0">
              <a:lnSpc>
                <a:spcPct val="100000"/>
              </a:lnSpc>
              <a:buNone/>
            </a:pPr>
            <a:r>
              <a:rPr lang="en-US" sz="1150" dirty="0">
                <a:solidFill>
                  <a:srgbClr val="1B2333"/>
                </a:solidFill>
                <a:latin typeface="Calibri" pitchFamily="34" charset="0"/>
                <a:ea typeface="Calibri" pitchFamily="34" charset="-122"/>
                <a:cs typeface="Calibri" pitchFamily="34" charset="-120"/>
              </a:rPr>
              <a:t>EQGBench [52] · EduBench [53]</a:t>
            </a:r>
            <a:endParaRPr lang="en-US" sz="1150" dirty="0"/>
          </a:p>
        </p:txBody>
      </p:sp>
      <p:sp>
        <p:nvSpPr>
          <p:cNvPr id="24" name="Shape 22"/>
          <p:cNvSpPr/>
          <p:nvPr/>
        </p:nvSpPr>
        <p:spPr>
          <a:xfrm>
            <a:off x="6419088" y="4498848"/>
            <a:ext cx="5202936" cy="987552"/>
          </a:xfrm>
          <a:prstGeom prst="roundRect">
            <a:avLst>
              <a:gd name="adj" fmla="val 5556"/>
            </a:avLst>
          </a:prstGeom>
          <a:solidFill>
            <a:srgbClr val="F2F6FD"/>
          </a:solidFill>
          <a:ln/>
        </p:spPr>
      </p:sp>
      <p:sp>
        <p:nvSpPr>
          <p:cNvPr id="25" name="Text 23"/>
          <p:cNvSpPr txBox="1"/>
          <p:nvPr/>
        </p:nvSpPr>
        <p:spPr>
          <a:xfrm>
            <a:off x="6638544" y="4590288"/>
            <a:ext cx="4764024" cy="256032"/>
          </a:xfrm>
          <a:prstGeom prst="rect">
            <a:avLst/>
          </a:prstGeom>
          <a:noFill/>
          <a:ln/>
        </p:spPr>
        <p:txBody>
          <a:bodyPr wrap="square" lIns="0" tIns="0" rIns="0" bIns="0" rtlCol="0" anchor="ctr"/>
          <a:lstStyle/>
          <a:p>
            <a:pPr indent="0" marL="0">
              <a:buNone/>
            </a:pPr>
            <a:r>
              <a:rPr lang="en-US" sz="1150" b="1" dirty="0">
                <a:solidFill>
                  <a:srgbClr val="003BA3"/>
                </a:solidFill>
                <a:latin typeface="Montserrat" pitchFamily="34" charset="0"/>
                <a:ea typeface="Montserrat" pitchFamily="34" charset="-122"/>
                <a:cs typeface="Montserrat" pitchFamily="34" charset="-120"/>
              </a:rPr>
              <a:t>Agents in branching narrative</a:t>
            </a:r>
            <a:endParaRPr lang="en-US" sz="1150" dirty="0"/>
          </a:p>
        </p:txBody>
      </p:sp>
      <p:sp>
        <p:nvSpPr>
          <p:cNvPr id="26" name="Text 24"/>
          <p:cNvSpPr txBox="1"/>
          <p:nvPr/>
        </p:nvSpPr>
        <p:spPr>
          <a:xfrm>
            <a:off x="6638544" y="4864608"/>
            <a:ext cx="4764024" cy="548640"/>
          </a:xfrm>
          <a:prstGeom prst="rect">
            <a:avLst/>
          </a:prstGeom>
          <a:noFill/>
          <a:ln/>
        </p:spPr>
        <p:txBody>
          <a:bodyPr wrap="square" lIns="0" tIns="0" rIns="0" bIns="0" rtlCol="0" anchor="ctr"/>
          <a:lstStyle/>
          <a:p>
            <a:pPr indent="0" marL="0">
              <a:lnSpc>
                <a:spcPct val="100000"/>
              </a:lnSpc>
              <a:buNone/>
            </a:pPr>
            <a:r>
              <a:rPr lang="en-US" sz="1150" dirty="0">
                <a:solidFill>
                  <a:srgbClr val="1B2333"/>
                </a:solidFill>
                <a:latin typeface="Calibri" pitchFamily="34" charset="0"/>
                <a:ea typeface="Calibri" pitchFamily="34" charset="-122"/>
                <a:cs typeface="Calibri" pitchFamily="34" charset="-120"/>
              </a:rPr>
              <a:t>TextWorld [54] · Jericho [55]</a:t>
            </a:r>
            <a:endParaRPr lang="en-US" sz="1150" dirty="0"/>
          </a:p>
        </p:txBody>
      </p:sp>
      <p:sp>
        <p:nvSpPr>
          <p:cNvPr id="27" name="Text 25"/>
          <p:cNvSpPr txBox="1"/>
          <p:nvPr/>
        </p:nvSpPr>
        <p:spPr>
          <a:xfrm>
            <a:off x="6419088" y="5596128"/>
            <a:ext cx="5202936" cy="603504"/>
          </a:xfrm>
          <a:prstGeom prst="rect">
            <a:avLst/>
          </a:prstGeom>
          <a:noFill/>
          <a:ln/>
        </p:spPr>
        <p:txBody>
          <a:bodyPr wrap="square" lIns="0" tIns="0" rIns="0" bIns="0" rtlCol="0" anchor="ctr"/>
          <a:lstStyle/>
          <a:p>
            <a:pPr indent="0" marL="0">
              <a:lnSpc>
                <a:spcPct val="103000"/>
              </a:lnSpc>
              <a:buNone/>
            </a:pPr>
            <a:r>
              <a:rPr lang="en-US" sz="1150" i="1" dirty="0">
                <a:solidFill>
                  <a:srgbClr val="003BA3"/>
                </a:solidFill>
                <a:latin typeface="Calibri" pitchFamily="34" charset="0"/>
                <a:ea typeface="Calibri" pitchFamily="34" charset="-122"/>
                <a:cs typeface="Calibri" pitchFamily="34" charset="-120"/>
              </a:rPr>
              <a:t>These give us a reporting methodology, not only reference data. No bespoke data collection is required for either grounding or evaluation.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RESEARCH LITERATURE</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Research prototypes</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The direction is active and credible. Three limitations recur.</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[57] CareerSim, n = 12.  [58] Future You, n = 344.  [59] Letters from Future Self, n = 36.  [60] CareerPooler, n = 24.  [63] SDT-grounded counselling agent.</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15</a:t>
            </a:r>
            <a:endParaRPr lang="en-US" sz="1000" dirty="0"/>
          </a:p>
        </p:txBody>
      </p:sp>
      <p:sp>
        <p:nvSpPr>
          <p:cNvPr id="7" name="Shape 5"/>
          <p:cNvSpPr/>
          <p:nvPr/>
        </p:nvSpPr>
        <p:spPr>
          <a:xfrm>
            <a:off x="566928" y="1847088"/>
            <a:ext cx="3526536" cy="3246120"/>
          </a:xfrm>
          <a:prstGeom prst="roundRect">
            <a:avLst>
              <a:gd name="adj" fmla="val 2254"/>
            </a:avLst>
          </a:prstGeom>
          <a:solidFill>
            <a:srgbClr val="F2F6FD"/>
          </a:solidFill>
          <a:ln w="6350">
            <a:solidFill>
              <a:srgbClr val="F2F6FD"/>
            </a:solidFill>
            <a:prstDash val="solid"/>
          </a:ln>
        </p:spPr>
      </p:sp>
      <p:sp>
        <p:nvSpPr>
          <p:cNvPr id="8" name="Shape 6"/>
          <p:cNvSpPr/>
          <p:nvPr/>
        </p:nvSpPr>
        <p:spPr>
          <a:xfrm>
            <a:off x="786384" y="2048256"/>
            <a:ext cx="329184" cy="329184"/>
          </a:xfrm>
          <a:prstGeom prst="ellipse">
            <a:avLst/>
          </a:prstGeom>
          <a:solidFill>
            <a:srgbClr val="003BA3"/>
          </a:solidFill>
          <a:ln/>
        </p:spPr>
      </p:sp>
      <p:sp>
        <p:nvSpPr>
          <p:cNvPr id="9" name="Text 7"/>
          <p:cNvSpPr txBox="1"/>
          <p:nvPr/>
        </p:nvSpPr>
        <p:spPr>
          <a:xfrm>
            <a:off x="78638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10" name="Text 8"/>
          <p:cNvSpPr txBox="1"/>
          <p:nvPr/>
        </p:nvSpPr>
        <p:spPr>
          <a:xfrm>
            <a:off x="786384" y="248716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Reflection is the terminal outcome</a:t>
            </a:r>
            <a:endParaRPr lang="en-US" sz="1300" dirty="0"/>
          </a:p>
        </p:txBody>
      </p:sp>
      <p:sp>
        <p:nvSpPr>
          <p:cNvPr id="11" name="Text 9"/>
          <p:cNvSpPr txBox="1"/>
          <p:nvPr/>
        </p:nvSpPr>
        <p:spPr>
          <a:xfrm>
            <a:off x="786384" y="2980944"/>
            <a:ext cx="3087624" cy="194767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CareerSim advances an avatar through life stages to produce a report; 12 participants; interaction concerns a trajectory, not the tasks constituting an occupation [57]. Future You reduced anxiety and raised future self-continuity across 344 participants [58]; Letters from Future Self found comparable benefits with 36 [59]. Neither lets a user discover through performance that the imagined self would dislike the work.</a:t>
            </a:r>
            <a:endParaRPr lang="en-US" sz="1100" dirty="0"/>
          </a:p>
        </p:txBody>
      </p:sp>
      <p:sp>
        <p:nvSpPr>
          <p:cNvPr id="12" name="Shape 10"/>
          <p:cNvSpPr/>
          <p:nvPr/>
        </p:nvSpPr>
        <p:spPr>
          <a:xfrm>
            <a:off x="4331208" y="1847088"/>
            <a:ext cx="3526536" cy="3246120"/>
          </a:xfrm>
          <a:prstGeom prst="roundRect">
            <a:avLst>
              <a:gd name="adj" fmla="val 2254"/>
            </a:avLst>
          </a:prstGeom>
          <a:solidFill>
            <a:srgbClr val="F2F6FD"/>
          </a:solidFill>
          <a:ln w="6350">
            <a:solidFill>
              <a:srgbClr val="F2F6FD"/>
            </a:solidFill>
            <a:prstDash val="solid"/>
          </a:ln>
        </p:spPr>
      </p:sp>
      <p:sp>
        <p:nvSpPr>
          <p:cNvPr id="13" name="Shape 11"/>
          <p:cNvSpPr/>
          <p:nvPr/>
        </p:nvSpPr>
        <p:spPr>
          <a:xfrm>
            <a:off x="4550664" y="2048256"/>
            <a:ext cx="329184" cy="329184"/>
          </a:xfrm>
          <a:prstGeom prst="ellipse">
            <a:avLst/>
          </a:prstGeom>
          <a:solidFill>
            <a:srgbClr val="003BA3"/>
          </a:solidFill>
          <a:ln/>
        </p:spPr>
      </p:sp>
      <p:sp>
        <p:nvSpPr>
          <p:cNvPr id="14" name="Text 12"/>
          <p:cNvSpPr txBox="1"/>
          <p:nvPr/>
        </p:nvSpPr>
        <p:spPr>
          <a:xfrm>
            <a:off x="455066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5" name="Text 13"/>
          <p:cNvSpPr txBox="1"/>
          <p:nvPr/>
        </p:nvSpPr>
        <p:spPr>
          <a:xfrm>
            <a:off x="4550664" y="248716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Trajectory abstraction without task fidelity</a:t>
            </a:r>
            <a:endParaRPr lang="en-US" sz="1300" dirty="0"/>
          </a:p>
        </p:txBody>
      </p:sp>
      <p:sp>
        <p:nvSpPr>
          <p:cNvPr id="16" name="Text 14"/>
          <p:cNvSpPr txBox="1"/>
          <p:nvPr/>
        </p:nvSpPr>
        <p:spPr>
          <a:xfrm>
            <a:off x="4550664" y="2980944"/>
            <a:ext cx="3087624" cy="194767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CareerPooler reports significant gains in engagement, information gain, satisfaction and career clarity over a conversational baseline across 24 participants — the strongest available evidence that generated interactive exploration beats conversational advice. But the representation is metaphorical, so outcomes are clarity, not demonstrated capability. [60]</a:t>
            </a:r>
            <a:endParaRPr lang="en-US" sz="1100" dirty="0"/>
          </a:p>
        </p:txBody>
      </p:sp>
      <p:sp>
        <p:nvSpPr>
          <p:cNvPr id="17" name="Shape 15"/>
          <p:cNvSpPr/>
          <p:nvPr/>
        </p:nvSpPr>
        <p:spPr>
          <a:xfrm>
            <a:off x="8095488" y="1847088"/>
            <a:ext cx="3526536" cy="3246120"/>
          </a:xfrm>
          <a:prstGeom prst="roundRect">
            <a:avLst>
              <a:gd name="adj" fmla="val 2254"/>
            </a:avLst>
          </a:prstGeom>
          <a:solidFill>
            <a:srgbClr val="F2F6FD"/>
          </a:solidFill>
          <a:ln w="6350">
            <a:solidFill>
              <a:srgbClr val="F2F6FD"/>
            </a:solidFill>
            <a:prstDash val="solid"/>
          </a:ln>
        </p:spPr>
      </p:sp>
      <p:sp>
        <p:nvSpPr>
          <p:cNvPr id="18" name="Shape 16"/>
          <p:cNvSpPr/>
          <p:nvPr/>
        </p:nvSpPr>
        <p:spPr>
          <a:xfrm>
            <a:off x="8314944" y="2048256"/>
            <a:ext cx="329184" cy="329184"/>
          </a:xfrm>
          <a:prstGeom prst="ellipse">
            <a:avLst/>
          </a:prstGeom>
          <a:solidFill>
            <a:srgbClr val="003BA3"/>
          </a:solidFill>
          <a:ln/>
        </p:spPr>
      </p:sp>
      <p:sp>
        <p:nvSpPr>
          <p:cNvPr id="19" name="Text 17"/>
          <p:cNvSpPr txBox="1"/>
          <p:nvPr/>
        </p:nvSpPr>
        <p:spPr>
          <a:xfrm>
            <a:off x="831494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20" name="Text 18"/>
          <p:cNvSpPr txBox="1"/>
          <p:nvPr/>
        </p:nvSpPr>
        <p:spPr>
          <a:xfrm>
            <a:off x="8314944" y="248716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Guidance without measurement</a:t>
            </a:r>
            <a:endParaRPr lang="en-US" sz="1300" dirty="0"/>
          </a:p>
        </p:txBody>
      </p:sp>
      <p:sp>
        <p:nvSpPr>
          <p:cNvPr id="21" name="Text 19"/>
          <p:cNvSpPr txBox="1"/>
          <p:nvPr/>
        </p:nvSpPr>
        <p:spPr>
          <a:xfrm>
            <a:off x="8314944" y="2980944"/>
            <a:ext cx="3087624" cy="194767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An SDT-grounded counselling agent reduced decision difficulty — measured by self-report. [63]</a:t>
            </a:r>
            <a:endParaRPr lang="en-US" sz="1100" dirty="0"/>
          </a:p>
        </p:txBody>
      </p:sp>
      <p:sp>
        <p:nvSpPr>
          <p:cNvPr id="22" name="Shape 20"/>
          <p:cNvSpPr/>
          <p:nvPr/>
        </p:nvSpPr>
        <p:spPr>
          <a:xfrm>
            <a:off x="566928" y="5321808"/>
            <a:ext cx="11055096" cy="566928"/>
          </a:xfrm>
          <a:prstGeom prst="roundRect">
            <a:avLst>
              <a:gd name="adj" fmla="val 9677"/>
            </a:avLst>
          </a:prstGeom>
          <a:solidFill>
            <a:srgbClr val="E4EBFA"/>
          </a:solidFill>
          <a:ln/>
        </p:spPr>
      </p:sp>
      <p:sp>
        <p:nvSpPr>
          <p:cNvPr id="23" name="Text 21"/>
          <p:cNvSpPr txBox="1"/>
          <p:nvPr/>
        </p:nvSpPr>
        <p:spPr>
          <a:xfrm>
            <a:off x="841248" y="5321808"/>
            <a:ext cx="10506456" cy="566928"/>
          </a:xfrm>
          <a:prstGeom prst="rect">
            <a:avLst/>
          </a:prstGeom>
          <a:noFill/>
          <a:ln/>
        </p:spPr>
        <p:txBody>
          <a:bodyPr wrap="square" lIns="0" tIns="0" rIns="0" bIns="0" rtlCol="0" anchor="ctr"/>
          <a:lstStyle/>
          <a:p>
            <a:pPr indent="0" marL="0">
              <a:buNone/>
            </a:pPr>
            <a:r>
              <a:rPr lang="en-US" sz="1250" b="1" dirty="0">
                <a:solidFill>
                  <a:srgbClr val="003BA3"/>
                </a:solidFill>
                <a:latin typeface="Calibri" pitchFamily="34" charset="0"/>
                <a:ea typeface="Calibri" pitchFamily="34" charset="-122"/>
                <a:cs typeface="Calibri" pitchFamily="34" charset="-120"/>
              </a:rPr>
              <a:t>The binding limitation is evaluation practice: sample sizes 12–36, one at 344; designs predominantly qualitative or within-subject. Right for feasibility, insufficient for a claim about assessment accuracy.</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DEPLOYED SYSTEMS</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Deployed systems</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Each solves part of the problem. None solves the combination.</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[64] Forage.  [65][66] EntryLevel, Anthropos.  [70] Hidden Door.  [71–75] JobWay, JobTest.vn, Hướng nghiệp Sông An, Hướng Nghiệp LwL, AI Hay.</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16</a:t>
            </a:r>
            <a:endParaRPr lang="en-US" sz="1000" dirty="0"/>
          </a:p>
        </p:txBody>
      </p:sp>
      <p:sp>
        <p:nvSpPr>
          <p:cNvPr id="7" name="Text 5"/>
          <p:cNvSpPr txBox="1"/>
          <p:nvPr/>
        </p:nvSpPr>
        <p:spPr>
          <a:xfrm>
            <a:off x="566928" y="1847088"/>
            <a:ext cx="7040880" cy="274320"/>
          </a:xfrm>
          <a:prstGeom prst="rect">
            <a:avLst/>
          </a:prstGeom>
          <a:noFill/>
          <a:ln/>
        </p:spPr>
        <p:txBody>
          <a:bodyPr wrap="square" lIns="0" tIns="0" rIns="0" bIns="0" rtlCol="0" anchor="ctr"/>
          <a:lstStyle/>
          <a:p>
            <a:pPr indent="0" marL="0">
              <a:buNone/>
            </a:pPr>
            <a:r>
              <a:rPr lang="en-US" sz="1300" b="1" dirty="0">
                <a:solidFill>
                  <a:srgbClr val="003BA3"/>
                </a:solidFill>
                <a:latin typeface="Montserrat" pitchFamily="34" charset="0"/>
                <a:ea typeface="Montserrat" pitchFamily="34" charset="-122"/>
                <a:cs typeface="Montserrat" pitchFamily="34" charset="-120"/>
              </a:rPr>
              <a:t>International</a:t>
            </a:r>
            <a:endParaRPr lang="en-US" sz="1300" dirty="0"/>
          </a:p>
        </p:txBody>
      </p:sp>
      <p:sp>
        <p:nvSpPr>
          <p:cNvPr id="8" name="Shape 6"/>
          <p:cNvSpPr/>
          <p:nvPr/>
        </p:nvSpPr>
        <p:spPr>
          <a:xfrm>
            <a:off x="566928" y="2176272"/>
            <a:ext cx="2225040" cy="3154680"/>
          </a:xfrm>
          <a:prstGeom prst="roundRect">
            <a:avLst>
              <a:gd name="adj" fmla="val 3288"/>
            </a:avLst>
          </a:prstGeom>
          <a:solidFill>
            <a:srgbClr val="F2F6FD"/>
          </a:solidFill>
          <a:ln w="6350">
            <a:solidFill>
              <a:srgbClr val="F2F6FD"/>
            </a:solidFill>
            <a:prstDash val="solid"/>
          </a:ln>
        </p:spPr>
      </p:sp>
      <p:sp>
        <p:nvSpPr>
          <p:cNvPr id="9" name="Shape 7"/>
          <p:cNvSpPr/>
          <p:nvPr/>
        </p:nvSpPr>
        <p:spPr>
          <a:xfrm>
            <a:off x="786384" y="2377440"/>
            <a:ext cx="329184" cy="329184"/>
          </a:xfrm>
          <a:prstGeom prst="ellipse">
            <a:avLst/>
          </a:prstGeom>
          <a:solidFill>
            <a:srgbClr val="003BA3"/>
          </a:solidFill>
          <a:ln/>
        </p:spPr>
      </p:sp>
      <p:sp>
        <p:nvSpPr>
          <p:cNvPr id="10" name="Text 8"/>
          <p:cNvSpPr txBox="1"/>
          <p:nvPr/>
        </p:nvSpPr>
        <p:spPr>
          <a:xfrm>
            <a:off x="786384"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11" name="Text 9"/>
          <p:cNvSpPr txBox="1"/>
          <p:nvPr/>
        </p:nvSpPr>
        <p:spPr>
          <a:xfrm>
            <a:off x="786384" y="2816352"/>
            <a:ext cx="1786128" cy="457200"/>
          </a:xfrm>
          <a:prstGeom prst="rect">
            <a:avLst/>
          </a:prstGeom>
          <a:noFill/>
          <a:ln/>
        </p:spPr>
        <p:txBody>
          <a:bodyPr wrap="square" lIns="0" tIns="0" rIns="0" bIns="0" rtlCol="0" anchor="t"/>
          <a:lstStyle/>
          <a:p>
            <a:pPr indent="0" marL="0">
              <a:lnSpc>
                <a:spcPct val="100000"/>
              </a:lnSpc>
              <a:buNone/>
            </a:pPr>
            <a:r>
              <a:rPr lang="en-US" sz="1250" b="1" dirty="0">
                <a:solidFill>
                  <a:srgbClr val="003BA3"/>
                </a:solidFill>
                <a:latin typeface="Montserrat" pitchFamily="34" charset="0"/>
                <a:ea typeface="Montserrat" pitchFamily="34" charset="-122"/>
                <a:cs typeface="Montserrat" pitchFamily="34" charset="-120"/>
              </a:rPr>
              <a:t>Forage</a:t>
            </a:r>
            <a:endParaRPr lang="en-US" sz="1250" dirty="0"/>
          </a:p>
        </p:txBody>
      </p:sp>
      <p:sp>
        <p:nvSpPr>
          <p:cNvPr id="12" name="Text 10"/>
          <p:cNvSpPr txBox="1"/>
          <p:nvPr/>
        </p:nvSpPr>
        <p:spPr>
          <a:xfrm>
            <a:off x="786384" y="3310128"/>
            <a:ext cx="1786128" cy="1856232"/>
          </a:xfrm>
          <a:prstGeom prst="rect">
            <a:avLst/>
          </a:prstGeom>
          <a:noFill/>
          <a:ln/>
        </p:spPr>
        <p:txBody>
          <a:bodyPr wrap="square" lIns="0" tIns="0" rIns="0" bIns="0" rtlCol="0" anchor="t"/>
          <a:lstStyle/>
          <a:p>
            <a:pPr indent="0" marL="0">
              <a:lnSpc>
                <a:spcPct val="103000"/>
              </a:lnSpc>
              <a:buNone/>
            </a:pPr>
            <a:r>
              <a:rPr lang="en-US" sz="1050" dirty="0">
                <a:solidFill>
                  <a:srgbClr val="1B2333"/>
                </a:solidFill>
                <a:latin typeface="Calibri" pitchFamily="34" charset="0"/>
                <a:ea typeface="Calibri" pitchFamily="34" charset="-122"/>
                <a:cs typeface="Calibri" pitchFamily="34" charset="-120"/>
              </a:rPr>
              <a:t>Employer-authored simulations with real work products. Proves users will voluntarily attempt occupational tasks. But content expands only as employers commission it, repetition yields identical material, and assessment terminates in a fixed model answer rather than evaluating the user's response. [64]</a:t>
            </a:r>
            <a:endParaRPr lang="en-US" sz="1050" dirty="0"/>
          </a:p>
        </p:txBody>
      </p:sp>
      <p:sp>
        <p:nvSpPr>
          <p:cNvPr id="13" name="Shape 11"/>
          <p:cNvSpPr/>
          <p:nvPr/>
        </p:nvSpPr>
        <p:spPr>
          <a:xfrm>
            <a:off x="2974848" y="2176272"/>
            <a:ext cx="2225040" cy="3154680"/>
          </a:xfrm>
          <a:prstGeom prst="roundRect">
            <a:avLst>
              <a:gd name="adj" fmla="val 3288"/>
            </a:avLst>
          </a:prstGeom>
          <a:solidFill>
            <a:srgbClr val="F2F6FD"/>
          </a:solidFill>
          <a:ln w="6350">
            <a:solidFill>
              <a:srgbClr val="F2F6FD"/>
            </a:solidFill>
            <a:prstDash val="solid"/>
          </a:ln>
        </p:spPr>
      </p:sp>
      <p:sp>
        <p:nvSpPr>
          <p:cNvPr id="14" name="Shape 12"/>
          <p:cNvSpPr/>
          <p:nvPr/>
        </p:nvSpPr>
        <p:spPr>
          <a:xfrm>
            <a:off x="3194304" y="2377440"/>
            <a:ext cx="329184" cy="329184"/>
          </a:xfrm>
          <a:prstGeom prst="ellipse">
            <a:avLst/>
          </a:prstGeom>
          <a:solidFill>
            <a:srgbClr val="003BA3"/>
          </a:solidFill>
          <a:ln/>
        </p:spPr>
      </p:sp>
      <p:sp>
        <p:nvSpPr>
          <p:cNvPr id="15" name="Text 13"/>
          <p:cNvSpPr txBox="1"/>
          <p:nvPr/>
        </p:nvSpPr>
        <p:spPr>
          <a:xfrm>
            <a:off x="3194304"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6" name="Text 14"/>
          <p:cNvSpPr txBox="1"/>
          <p:nvPr/>
        </p:nvSpPr>
        <p:spPr>
          <a:xfrm>
            <a:off x="3194304" y="2816352"/>
            <a:ext cx="1786128" cy="457200"/>
          </a:xfrm>
          <a:prstGeom prst="rect">
            <a:avLst/>
          </a:prstGeom>
          <a:noFill/>
          <a:ln/>
        </p:spPr>
        <p:txBody>
          <a:bodyPr wrap="square" lIns="0" tIns="0" rIns="0" bIns="0" rtlCol="0" anchor="t"/>
          <a:lstStyle/>
          <a:p>
            <a:pPr indent="0" marL="0">
              <a:lnSpc>
                <a:spcPct val="100000"/>
              </a:lnSpc>
              <a:buNone/>
            </a:pPr>
            <a:r>
              <a:rPr lang="en-US" sz="1250" b="1" dirty="0">
                <a:solidFill>
                  <a:srgbClr val="003BA3"/>
                </a:solidFill>
                <a:latin typeface="Montserrat" pitchFamily="34" charset="0"/>
                <a:ea typeface="Montserrat" pitchFamily="34" charset="-122"/>
                <a:cs typeface="Montserrat" pitchFamily="34" charset="-120"/>
              </a:rPr>
              <a:t>EntryLevel / Anthropos</a:t>
            </a:r>
            <a:endParaRPr lang="en-US" sz="1250" dirty="0"/>
          </a:p>
        </p:txBody>
      </p:sp>
      <p:sp>
        <p:nvSpPr>
          <p:cNvPr id="17" name="Text 15"/>
          <p:cNvSpPr txBox="1"/>
          <p:nvPr/>
        </p:nvSpPr>
        <p:spPr>
          <a:xfrm>
            <a:off x="3194304" y="3310128"/>
            <a:ext cx="1786128" cy="1856232"/>
          </a:xfrm>
          <a:prstGeom prst="rect">
            <a:avLst/>
          </a:prstGeom>
          <a:noFill/>
          <a:ln/>
        </p:spPr>
        <p:txBody>
          <a:bodyPr wrap="square" lIns="0" tIns="0" rIns="0" bIns="0" rtlCol="0" anchor="t"/>
          <a:lstStyle/>
          <a:p>
            <a:pPr indent="0" marL="0">
              <a:lnSpc>
                <a:spcPct val="103000"/>
              </a:lnSpc>
              <a:buNone/>
            </a:pPr>
            <a:r>
              <a:rPr lang="en-US" sz="1050" dirty="0">
                <a:solidFill>
                  <a:srgbClr val="1B2333"/>
                </a:solidFill>
                <a:latin typeface="Calibri" pitchFamily="34" charset="0"/>
                <a:ea typeface="Calibri" pitchFamily="34" charset="-122"/>
                <a:cs typeface="Calibri" pitchFamily="34" charset="-120"/>
              </a:rPr>
              <a:t>Generated simulations and multi-role workplace scenarios producing behavioural evidence. Anthropos is the closest deployed analogue to behavioural assessment — but oriented to personnel selection, so the evidence serves an employer's hiring decision rather than a user's exploration. [65][66]</a:t>
            </a:r>
            <a:endParaRPr lang="en-US" sz="1050" dirty="0"/>
          </a:p>
        </p:txBody>
      </p:sp>
      <p:sp>
        <p:nvSpPr>
          <p:cNvPr id="18" name="Shape 16"/>
          <p:cNvSpPr/>
          <p:nvPr/>
        </p:nvSpPr>
        <p:spPr>
          <a:xfrm>
            <a:off x="5382768" y="2176272"/>
            <a:ext cx="2225040" cy="3154680"/>
          </a:xfrm>
          <a:prstGeom prst="roundRect">
            <a:avLst>
              <a:gd name="adj" fmla="val 3288"/>
            </a:avLst>
          </a:prstGeom>
          <a:solidFill>
            <a:srgbClr val="F2F6FD"/>
          </a:solidFill>
          <a:ln w="6350">
            <a:solidFill>
              <a:srgbClr val="F2F6FD"/>
            </a:solidFill>
            <a:prstDash val="solid"/>
          </a:ln>
        </p:spPr>
      </p:sp>
      <p:sp>
        <p:nvSpPr>
          <p:cNvPr id="19" name="Shape 17"/>
          <p:cNvSpPr/>
          <p:nvPr/>
        </p:nvSpPr>
        <p:spPr>
          <a:xfrm>
            <a:off x="5602224" y="2377440"/>
            <a:ext cx="329184" cy="329184"/>
          </a:xfrm>
          <a:prstGeom prst="ellipse">
            <a:avLst/>
          </a:prstGeom>
          <a:solidFill>
            <a:srgbClr val="003BA3"/>
          </a:solidFill>
          <a:ln/>
        </p:spPr>
      </p:sp>
      <p:sp>
        <p:nvSpPr>
          <p:cNvPr id="20" name="Text 18"/>
          <p:cNvSpPr txBox="1"/>
          <p:nvPr/>
        </p:nvSpPr>
        <p:spPr>
          <a:xfrm>
            <a:off x="5602224"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21" name="Text 19"/>
          <p:cNvSpPr txBox="1"/>
          <p:nvPr/>
        </p:nvSpPr>
        <p:spPr>
          <a:xfrm>
            <a:off x="5602224" y="2816352"/>
            <a:ext cx="1786128" cy="457200"/>
          </a:xfrm>
          <a:prstGeom prst="rect">
            <a:avLst/>
          </a:prstGeom>
          <a:noFill/>
          <a:ln/>
        </p:spPr>
        <p:txBody>
          <a:bodyPr wrap="square" lIns="0" tIns="0" rIns="0" bIns="0" rtlCol="0" anchor="t"/>
          <a:lstStyle/>
          <a:p>
            <a:pPr indent="0" marL="0">
              <a:lnSpc>
                <a:spcPct val="100000"/>
              </a:lnSpc>
              <a:buNone/>
            </a:pPr>
            <a:r>
              <a:rPr lang="en-US" sz="1250" b="1" dirty="0">
                <a:solidFill>
                  <a:srgbClr val="003BA3"/>
                </a:solidFill>
                <a:latin typeface="Montserrat" pitchFamily="34" charset="0"/>
                <a:ea typeface="Montserrat" pitchFamily="34" charset="-122"/>
                <a:cs typeface="Montserrat" pitchFamily="34" charset="-120"/>
              </a:rPr>
              <a:t>Hidden Door</a:t>
            </a:r>
            <a:endParaRPr lang="en-US" sz="1250" dirty="0"/>
          </a:p>
        </p:txBody>
      </p:sp>
      <p:sp>
        <p:nvSpPr>
          <p:cNvPr id="22" name="Text 20"/>
          <p:cNvSpPr txBox="1"/>
          <p:nvPr/>
        </p:nvSpPr>
        <p:spPr>
          <a:xfrm>
            <a:off x="5602224" y="3310128"/>
            <a:ext cx="1786128" cy="1856232"/>
          </a:xfrm>
          <a:prstGeom prst="rect">
            <a:avLst/>
          </a:prstGeom>
          <a:noFill/>
          <a:ln/>
        </p:spPr>
        <p:txBody>
          <a:bodyPr wrap="square" lIns="0" tIns="0" rIns="0" bIns="0" rtlCol="0" anchor="t"/>
          <a:lstStyle/>
          <a:p>
            <a:pPr indent="0" marL="0">
              <a:lnSpc>
                <a:spcPct val="103000"/>
              </a:lnSpc>
              <a:buNone/>
            </a:pPr>
            <a:r>
              <a:rPr lang="en-US" sz="1050" dirty="0">
                <a:solidFill>
                  <a:srgbClr val="1B2333"/>
                </a:solidFill>
                <a:latin typeface="Calibri" pitchFamily="34" charset="0"/>
                <a:ea typeface="Calibri" pitchFamily="34" charset="-122"/>
                <a:cs typeface="Calibri" pitchFamily="34" charset="-120"/>
              </a:rPr>
              <a:t>Generates narrative within bounded authored components, with the reported consequence that narratives stay coherent across sessions. Commercial corroboration that authored structure, not model scale, governs consistency. [70]</a:t>
            </a:r>
            <a:endParaRPr lang="en-US" sz="1050" dirty="0"/>
          </a:p>
        </p:txBody>
      </p:sp>
      <p:sp>
        <p:nvSpPr>
          <p:cNvPr id="23" name="Shape 21"/>
          <p:cNvSpPr/>
          <p:nvPr/>
        </p:nvSpPr>
        <p:spPr>
          <a:xfrm>
            <a:off x="7927848" y="1847088"/>
            <a:ext cx="3694176" cy="3483864"/>
          </a:xfrm>
          <a:prstGeom prst="roundRect">
            <a:avLst>
              <a:gd name="adj" fmla="val 2100"/>
            </a:avLst>
          </a:prstGeom>
          <a:solidFill>
            <a:srgbClr val="003BA3"/>
          </a:solidFill>
          <a:ln/>
        </p:spPr>
      </p:sp>
      <p:sp>
        <p:nvSpPr>
          <p:cNvPr id="24" name="Text 22"/>
          <p:cNvSpPr txBox="1"/>
          <p:nvPr/>
        </p:nvSpPr>
        <p:spPr>
          <a:xfrm>
            <a:off x="8165592" y="2011680"/>
            <a:ext cx="3218688" cy="274320"/>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Vietnam</a:t>
            </a:r>
            <a:endParaRPr lang="en-US" sz="1300" dirty="0"/>
          </a:p>
        </p:txBody>
      </p:sp>
      <p:sp>
        <p:nvSpPr>
          <p:cNvPr id="25" name="Text 23"/>
          <p:cNvSpPr txBox="1"/>
          <p:nvPr/>
        </p:nvSpPr>
        <p:spPr>
          <a:xfrm>
            <a:off x="8165592" y="2340864"/>
            <a:ext cx="3218688" cy="731520"/>
          </a:xfrm>
          <a:prstGeom prst="rect">
            <a:avLst/>
          </a:prstGeom>
          <a:noFill/>
          <a:ln/>
        </p:spPr>
        <p:txBody>
          <a:bodyPr wrap="square" lIns="0" tIns="0" rIns="0" bIns="0" rtlCol="0" anchor="ctr"/>
          <a:lstStyle/>
          <a:p>
            <a:pPr indent="0" marL="0">
              <a:lnSpc>
                <a:spcPct val="105000"/>
              </a:lnSpc>
              <a:buNone/>
            </a:pPr>
            <a:r>
              <a:rPr lang="en-US" sz="1200" b="1" dirty="0">
                <a:solidFill>
                  <a:srgbClr val="CFE0FF"/>
                </a:solidFill>
                <a:latin typeface="Calibri" pitchFamily="34" charset="0"/>
                <a:ea typeface="Calibri" pitchFamily="34" charset="-122"/>
                <a:cs typeface="Calibri" pitchFamily="34" charset="-120"/>
              </a:rPr>
              <a:t>JobWay · JobTest.vn · Hướng nghiệp Sông An · Hướng Nghiệp LwL · AI Hay</a:t>
            </a:r>
            <a:endParaRPr lang="en-US" sz="1200" dirty="0"/>
          </a:p>
        </p:txBody>
      </p:sp>
      <p:sp>
        <p:nvSpPr>
          <p:cNvPr id="26" name="Text 24"/>
          <p:cNvSpPr txBox="1"/>
          <p:nvPr/>
        </p:nvSpPr>
        <p:spPr>
          <a:xfrm>
            <a:off x="8165592" y="3090672"/>
            <a:ext cx="3218688" cy="640080"/>
          </a:xfrm>
          <a:prstGeom prst="rect">
            <a:avLst/>
          </a:prstGeom>
          <a:noFill/>
          <a:ln/>
        </p:spPr>
        <p:txBody>
          <a:bodyPr wrap="square" lIns="0" tIns="0" rIns="0" bIns="0" rtlCol="0" anchor="ctr"/>
          <a:lstStyle/>
          <a:p>
            <a:pPr indent="0" marL="0">
              <a:lnSpc>
                <a:spcPct val="103000"/>
              </a:lnSpc>
              <a:buNone/>
            </a:pPr>
            <a:r>
              <a:rPr lang="en-US" sz="1150" dirty="0">
                <a:solidFill>
                  <a:srgbClr val="CFE0FF"/>
                </a:solidFill>
                <a:latin typeface="Calibri" pitchFamily="34" charset="0"/>
                <a:ea typeface="Calibri" pitchFamily="34" charset="-122"/>
                <a:cs typeface="Calibri" pitchFamily="34" charset="-120"/>
              </a:rPr>
              <a:t>Assessment, occupational content and counselling, with recent entrants adding conversational AI. [71–75]</a:t>
            </a:r>
            <a:endParaRPr lang="en-US" sz="1150" dirty="0"/>
          </a:p>
        </p:txBody>
      </p:sp>
      <p:sp>
        <p:nvSpPr>
          <p:cNvPr id="27" name="Text 25"/>
          <p:cNvSpPr txBox="1"/>
          <p:nvPr/>
        </p:nvSpPr>
        <p:spPr>
          <a:xfrm>
            <a:off x="8165592" y="4041648"/>
            <a:ext cx="3218688" cy="1097280"/>
          </a:xfrm>
          <a:prstGeom prst="rect">
            <a:avLst/>
          </a:prstGeom>
          <a:noFill/>
          <a:ln/>
        </p:spPr>
        <p:txBody>
          <a:bodyPr wrap="square" lIns="0" tIns="0" rIns="0" bIns="0" rtlCol="0" anchor="ctr"/>
          <a:lstStyle/>
          <a:p>
            <a:pPr indent="0" marL="0">
              <a:lnSpc>
                <a:spcPct val="105000"/>
              </a:lnSpc>
              <a:buNone/>
            </a:pPr>
            <a:r>
              <a:rPr lang="en-US" sz="1300" b="1" dirty="0">
                <a:solidFill>
                  <a:srgbClr val="FFD27A"/>
                </a:solidFill>
                <a:latin typeface="Calibri" pitchFamily="34" charset="0"/>
                <a:ea typeface="Calibri" pitchFamily="34" charset="-122"/>
                <a:cs typeface="Calibri" pitchFamily="34" charset="-120"/>
              </a:rPr>
              <a:t>No surveyed Vietnamese system offers generated, performed occupational simulation.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METHOD</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How the criteria were derived</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Comparing systems against our own features would be circular — so the criteria are derived from Chapter 2.</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A ninth attribute — existence of empirical validation — is discussed rather than tabulated, since it concerns evidence for a system rather than a property of it.</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847088"/>
          <a:ext cx="11055096" cy="914400"/>
        </p:xfrm>
        <a:graphic>
          <a:graphicData uri="http://schemas.openxmlformats.org/drawingml/2006/table">
            <a:tbl>
              <a:tblPr/>
              <a:tblGrid>
                <a:gridCol w="548640"/>
                <a:gridCol w="3840480"/>
                <a:gridCol w="6665976"/>
              </a:tblGrid>
              <a:tr h="475488">
                <a:tc>
                  <a:txBody>
                    <a:bodyPr/>
                    <a:lstStyle/>
                    <a:p>
                      <a:pPr algn="l" indent="0" marL="0">
                        <a:buNone/>
                      </a:pP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Criterion</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Evidential basis</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475488">
                <a:tc>
                  <a:txBody>
                    <a:bodyPr/>
                    <a:lstStyle/>
                    <a:p>
                      <a:pPr algn="ctr" indent="0" marL="0">
                        <a:buNone/>
                      </a:pPr>
                      <a:r>
                        <a:rPr lang="en-US" sz="1100" b="1" dirty="0">
                          <a:solidFill>
                            <a:srgbClr val="4A8CFF"/>
                          </a:solidFill>
                          <a:latin typeface="Montserrat" pitchFamily="34" charset="0"/>
                          <a:ea typeface="Montserrat" pitchFamily="34" charset="-122"/>
                          <a:cs typeface="Montserrat" pitchFamily="34" charset="-120"/>
                        </a:rPr>
                        <a:t>C1</a:t>
                      </a:r>
                      <a:endParaRPr lang="en-US" sz="11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Task authenticity</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Experiential learning and simulation transfer (§2.1)</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4A8CFF"/>
                          </a:solidFill>
                          <a:latin typeface="Montserrat" pitchFamily="34" charset="0"/>
                          <a:ea typeface="Montserrat" pitchFamily="34" charset="-122"/>
                          <a:cs typeface="Montserrat" pitchFamily="34" charset="-120"/>
                        </a:rPr>
                        <a:t>C2</a:t>
                      </a:r>
                      <a:endParaRPr lang="en-US" sz="11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Candour of occupational representation</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Realistic job preview evidence (§2.1); decision-difficulty taxonomy (§1.1)</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4A8CFF"/>
                          </a:solidFill>
                          <a:latin typeface="Montserrat" pitchFamily="34" charset="0"/>
                          <a:ea typeface="Montserrat" pitchFamily="34" charset="-122"/>
                          <a:cs typeface="Montserrat" pitchFamily="34" charset="-120"/>
                        </a:rPr>
                        <a:t>C3</a:t>
                      </a:r>
                      <a:endParaRPr lang="en-US" sz="11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Adaptivity to the learner</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Adaptive instruction and the generative literature (§2.5)</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4A8CFF"/>
                          </a:solidFill>
                          <a:latin typeface="Montserrat" pitchFamily="34" charset="0"/>
                          <a:ea typeface="Montserrat" pitchFamily="34" charset="-122"/>
                          <a:cs typeface="Montserrat" pitchFamily="34" charset="-120"/>
                        </a:rPr>
                        <a:t>C4</a:t>
                      </a:r>
                      <a:endParaRPr lang="en-US" sz="11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Validity of competence measurement</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Evidence-centered design (§2.2)</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4A8CFF"/>
                          </a:solidFill>
                          <a:latin typeface="Montserrat" pitchFamily="34" charset="0"/>
                          <a:ea typeface="Montserrat" pitchFamily="34" charset="-122"/>
                          <a:cs typeface="Montserrat" pitchFamily="34" charset="-120"/>
                        </a:rPr>
                        <a:t>C5</a:t>
                      </a:r>
                      <a:endParaRPr lang="en-US" sz="11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Quality of feedback and guidance</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Assessment is inert without actionable response (follows from C4)</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4A8CFF"/>
                          </a:solidFill>
                          <a:latin typeface="Montserrat" pitchFamily="34" charset="0"/>
                          <a:ea typeface="Montserrat" pitchFamily="34" charset="-122"/>
                          <a:cs typeface="Montserrat" pitchFamily="34" charset="-120"/>
                        </a:rPr>
                        <a:t>C6</a:t>
                      </a:r>
                      <a:endParaRPr lang="en-US" sz="11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Sustained engagement</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Gamification and self-determination literatures (§2.3)</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4A8CFF"/>
                          </a:solidFill>
                          <a:latin typeface="Montserrat" pitchFamily="34" charset="0"/>
                          <a:ea typeface="Montserrat" pitchFamily="34" charset="-122"/>
                          <a:cs typeface="Montserrat" pitchFamily="34" charset="-120"/>
                        </a:rPr>
                        <a:t>C7</a:t>
                      </a:r>
                      <a:endParaRPr lang="en-US" sz="11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Support for pathway navigation</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Career theory and competency-based progression (§2.2, §2.4)</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4A8CFF"/>
                          </a:solidFill>
                          <a:latin typeface="Montserrat" pitchFamily="34" charset="0"/>
                          <a:ea typeface="Montserrat" pitchFamily="34" charset="-122"/>
                          <a:cs typeface="Montserrat" pitchFamily="34" charset="-120"/>
                        </a:rPr>
                        <a:t>C8</a:t>
                      </a:r>
                      <a:endParaRPr lang="en-US" sz="11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Scalability and currency of content</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333"/>
                          </a:solidFill>
                          <a:latin typeface="Calibri" pitchFamily="34" charset="0"/>
                          <a:ea typeface="Calibri" pitchFamily="34" charset="-122"/>
                          <a:cs typeface="Calibri" pitchFamily="34" charset="-120"/>
                        </a:rPr>
                        <a:t>The authoring literature (§2.5)</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B26B00"/>
                </a:solidFill>
                <a:latin typeface="Montserrat" pitchFamily="34" charset="0"/>
                <a:ea typeface="Montserrat" pitchFamily="34" charset="-122"/>
                <a:cs typeface="Montserrat" pitchFamily="34" charset="-120"/>
              </a:rPr>
              <a:t>DECISION NEEDED</a:t>
            </a:r>
            <a:endParaRPr lang="en-US" sz="1050" dirty="0"/>
          </a:p>
        </p:txBody>
      </p:sp>
      <p:sp>
        <p:nvSpPr>
          <p:cNvPr id="3" name="Text 1"/>
          <p:cNvSpPr txBox="1"/>
          <p:nvPr/>
        </p:nvSpPr>
        <p:spPr>
          <a:xfrm>
            <a:off x="566928" y="658368"/>
            <a:ext cx="11055096" cy="530352"/>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The comparison, and the gap</a:t>
            </a:r>
            <a:endParaRPr lang="en-US" sz="2800" dirty="0"/>
          </a:p>
        </p:txBody>
      </p:sp>
      <p:sp>
        <p:nvSpPr>
          <p:cNvPr id="4" name="Text 2"/>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335024"/>
          <a:ext cx="11055096" cy="914400"/>
        </p:xfrm>
        <a:graphic>
          <a:graphicData uri="http://schemas.openxmlformats.org/drawingml/2006/table">
            <a:tbl>
              <a:tblPr/>
              <a:tblGrid>
                <a:gridCol w="3008376"/>
                <a:gridCol w="1609344"/>
                <a:gridCol w="1609344"/>
                <a:gridCol w="1609344"/>
                <a:gridCol w="1609344"/>
                <a:gridCol w="1609344"/>
              </a:tblGrid>
              <a:tr h="603504">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Criterion</a:t>
                      </a:r>
                      <a:endParaRPr lang="en-US" sz="850" dirty="0">
                        <a:latin typeface="Montserrat" charset="0"/>
                        <a:ea typeface="Montserrat" charset="0"/>
                        <a:cs typeface="Montserrat"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Authored</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simulation</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(Forage)</a:t>
                      </a:r>
                      <a:endParaRPr lang="en-US" sz="850" dirty="0">
                        <a:latin typeface="Montserrat" charset="0"/>
                        <a:ea typeface="Montserrat" charset="0"/>
                        <a:cs typeface="Montserrat"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Generated</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simulation</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(EntryLevel,</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Anthropos)</a:t>
                      </a:r>
                      <a:endParaRPr lang="en-US" sz="850" dirty="0">
                        <a:latin typeface="Montserrat" charset="0"/>
                        <a:ea typeface="Montserrat" charset="0"/>
                        <a:cs typeface="Montserrat"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Interview</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practice</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(careersim.ai)</a:t>
                      </a:r>
                      <a:endParaRPr lang="en-US" sz="850" dirty="0">
                        <a:latin typeface="Montserrat" charset="0"/>
                        <a:ea typeface="Montserrat" charset="0"/>
                        <a:cs typeface="Montserrat"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Generative</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narrative</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(Hidden Door)</a:t>
                      </a:r>
                      <a:endParaRPr lang="en-US" sz="850" dirty="0">
                        <a:latin typeface="Montserrat" charset="0"/>
                        <a:ea typeface="Montserrat" charset="0"/>
                        <a:cs typeface="Montserrat"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Assessment &amp;</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orientation</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(O*NET, VN market)</a:t>
                      </a:r>
                      <a:endParaRPr lang="en-US" sz="850" dirty="0">
                        <a:latin typeface="Montserrat" charset="0"/>
                        <a:ea typeface="Montserrat" charset="0"/>
                        <a:cs typeface="Montserrat"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274320">
                <a:tc>
                  <a:txBody>
                    <a:bodyPr/>
                    <a:lstStyle/>
                    <a:p>
                      <a:pPr indent="0" marL="0">
                        <a:buNone/>
                      </a:pPr>
                      <a:r>
                        <a:rPr lang="en-US" sz="1050" b="1" dirty="0">
                          <a:solidFill>
                            <a:srgbClr val="003BA3"/>
                          </a:solidFill>
                          <a:latin typeface="Calibri" pitchFamily="34" charset="0"/>
                          <a:ea typeface="Calibri" pitchFamily="34" charset="-122"/>
                          <a:cs typeface="Calibri" pitchFamily="34" charset="-120"/>
                        </a:rPr>
                        <a:t>C1  Task authenticity</a:t>
                      </a:r>
                      <a:endParaRPr lang="en-US" sz="105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26B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03BA3"/>
                          </a:solidFill>
                          <a:latin typeface="Calibri" pitchFamily="34" charset="0"/>
                          <a:ea typeface="Calibri" pitchFamily="34" charset="-122"/>
                          <a:cs typeface="Calibri" pitchFamily="34" charset="-120"/>
                        </a:rPr>
                        <a:t>C2  Candour of occupational representation</a:t>
                      </a:r>
                      <a:endParaRPr lang="en-US" sz="105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26B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26B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03BA3"/>
                          </a:solidFill>
                          <a:latin typeface="Calibri" pitchFamily="34" charset="0"/>
                          <a:ea typeface="Calibri" pitchFamily="34" charset="-122"/>
                          <a:cs typeface="Calibri" pitchFamily="34" charset="-120"/>
                        </a:rPr>
                        <a:t>C3  Adaptivity to the learner</a:t>
                      </a:r>
                      <a:endParaRPr lang="en-US" sz="105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26B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03BA3"/>
                          </a:solidFill>
                          <a:latin typeface="Calibri" pitchFamily="34" charset="0"/>
                          <a:ea typeface="Calibri" pitchFamily="34" charset="-122"/>
                          <a:cs typeface="Calibri" pitchFamily="34" charset="-120"/>
                        </a:rPr>
                        <a:t>C4  Validity of competence measurement</a:t>
                      </a:r>
                      <a:endParaRPr lang="en-US" sz="105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26B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26B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03BA3"/>
                          </a:solidFill>
                          <a:latin typeface="Calibri" pitchFamily="34" charset="0"/>
                          <a:ea typeface="Calibri" pitchFamily="34" charset="-122"/>
                          <a:cs typeface="Calibri" pitchFamily="34" charset="-120"/>
                        </a:rPr>
                        <a:t>C5  Quality of feedback and guidance</a:t>
                      </a:r>
                      <a:endParaRPr lang="en-US" sz="105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26B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26B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26B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03BA3"/>
                          </a:solidFill>
                          <a:latin typeface="Calibri" pitchFamily="34" charset="0"/>
                          <a:ea typeface="Calibri" pitchFamily="34" charset="-122"/>
                          <a:cs typeface="Calibri" pitchFamily="34" charset="-120"/>
                        </a:rPr>
                        <a:t>C6  Sustained engagement</a:t>
                      </a:r>
                      <a:endParaRPr lang="en-US" sz="105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03BA3"/>
                          </a:solidFill>
                          <a:latin typeface="Calibri" pitchFamily="34" charset="0"/>
                          <a:ea typeface="Calibri" pitchFamily="34" charset="-122"/>
                          <a:cs typeface="Calibri" pitchFamily="34" charset="-120"/>
                        </a:rPr>
                        <a:t>C7  Support for pathway navigation</a:t>
                      </a:r>
                      <a:endParaRPr lang="en-US" sz="105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26B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03BA3"/>
                          </a:solidFill>
                          <a:latin typeface="Calibri" pitchFamily="34" charset="0"/>
                          <a:ea typeface="Calibri" pitchFamily="34" charset="-122"/>
                          <a:cs typeface="Calibri" pitchFamily="34" charset="-120"/>
                        </a:rPr>
                        <a:t>C8  Scalability and currency of content</a:t>
                      </a:r>
                      <a:endParaRPr lang="en-US" sz="105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0B7C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7F4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B26B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45720" marB="45720"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66928" y="4407408"/>
            <a:ext cx="11055096" cy="237744"/>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 Full — a core designed property   ◐ Partial — limited, incidental, or a by-product   ○ Absent   ·   Table 3.1 also carries a JobQuest column, marked as design intent. Per-cell annotations: Appendix A1.</a:t>
            </a:r>
            <a:endParaRPr lang="en-US" sz="950" dirty="0"/>
          </a:p>
        </p:txBody>
      </p:sp>
      <p:sp>
        <p:nvSpPr>
          <p:cNvPr id="7" name="Shape 4"/>
          <p:cNvSpPr/>
          <p:nvPr/>
        </p:nvSpPr>
        <p:spPr>
          <a:xfrm>
            <a:off x="566928" y="4681728"/>
            <a:ext cx="11055096" cy="868680"/>
          </a:xfrm>
          <a:prstGeom prst="roundRect">
            <a:avLst>
              <a:gd name="adj" fmla="val 6316"/>
            </a:avLst>
          </a:prstGeom>
          <a:solidFill>
            <a:srgbClr val="003BA3"/>
          </a:solidFill>
          <a:ln/>
        </p:spPr>
      </p:sp>
      <p:sp>
        <p:nvSpPr>
          <p:cNvPr id="8" name="Text 5"/>
          <p:cNvSpPr txBox="1"/>
          <p:nvPr/>
        </p:nvSpPr>
        <p:spPr>
          <a:xfrm>
            <a:off x="841248" y="4681728"/>
            <a:ext cx="10506456" cy="868680"/>
          </a:xfrm>
          <a:prstGeom prst="rect">
            <a:avLst/>
          </a:prstGeom>
          <a:noFill/>
          <a:ln/>
        </p:spPr>
        <p:txBody>
          <a:bodyPr wrap="square" lIns="0" tIns="0" rIns="0" bIns="0" rtlCol="0" anchor="ctr"/>
          <a:lstStyle/>
          <a:p>
            <a:pPr indent="0" marL="0">
              <a:lnSpc>
                <a:spcPct val="100000"/>
              </a:lnSpc>
              <a:buNone/>
            </a:pPr>
            <a:r>
              <a:rPr lang="en-US" sz="1250" b="1" dirty="0">
                <a:solidFill>
                  <a:srgbClr val="FFD27A"/>
                </a:solidFill>
                <a:latin typeface="Montserrat" pitchFamily="34" charset="0"/>
                <a:ea typeface="Montserrat" pitchFamily="34" charset="-122"/>
                <a:cs typeface="Montserrat" pitchFamily="34" charset="-120"/>
              </a:rPr>
              <a:t>The gap.  </a:t>
            </a:r>
            <a:pPr indent="0" marL="0">
              <a:lnSpc>
                <a:spcPct val="100000"/>
              </a:lnSpc>
              <a:buNone/>
            </a:pPr>
            <a:r>
              <a:rPr lang="en-US" sz="1250" dirty="0">
                <a:solidFill>
                  <a:srgbClr val="FFFFFF"/>
                </a:solidFill>
                <a:latin typeface="Calibri" pitchFamily="34" charset="0"/>
                <a:ea typeface="Calibri" pitchFamily="34" charset="-122"/>
                <a:cs typeface="Calibri" pitchFamily="34" charset="-120"/>
              </a:rPr>
              <a:t>Not a missing feature but an unrealised combination: performed, candid occupational tasks that adapt to the individual, from which competence is measured by validated automated judgment, connected by a structure relating occupations through shared competencies, and maintained through expert authoring.</a:t>
            </a:r>
            <a:endParaRPr lang="en-US" sz="1250" dirty="0"/>
          </a:p>
        </p:txBody>
      </p:sp>
      <p:sp>
        <p:nvSpPr>
          <p:cNvPr id="9" name="Shape 6"/>
          <p:cNvSpPr/>
          <p:nvPr/>
        </p:nvSpPr>
        <p:spPr>
          <a:xfrm>
            <a:off x="566928" y="5687568"/>
            <a:ext cx="11055096" cy="566928"/>
          </a:xfrm>
          <a:prstGeom prst="roundRect">
            <a:avLst>
              <a:gd name="adj" fmla="val 9677"/>
            </a:avLst>
          </a:prstGeom>
          <a:solidFill>
            <a:srgbClr val="FFF4E0"/>
          </a:solidFill>
          <a:ln w="12700">
            <a:solidFill>
              <a:srgbClr val="E8C489"/>
            </a:solidFill>
            <a:prstDash val="solid"/>
          </a:ln>
        </p:spPr>
      </p:sp>
      <p:sp>
        <p:nvSpPr>
          <p:cNvPr id="10" name="Text 7"/>
          <p:cNvSpPr txBox="1"/>
          <p:nvPr/>
        </p:nvSpPr>
        <p:spPr>
          <a:xfrm>
            <a:off x="804672" y="5687568"/>
            <a:ext cx="10579608" cy="566928"/>
          </a:xfrm>
          <a:prstGeom prst="rect">
            <a:avLst/>
          </a:prstGeom>
          <a:noFill/>
          <a:ln/>
        </p:spPr>
        <p:txBody>
          <a:bodyPr wrap="square" lIns="0" tIns="0" rIns="0" bIns="0" rtlCol="0" anchor="ctr"/>
          <a:lstStyle/>
          <a:p>
            <a:pPr indent="0" marL="0">
              <a:lnSpc>
                <a:spcPct val="95000"/>
              </a:lnSpc>
              <a:buNone/>
            </a:pPr>
            <a:r>
              <a:rPr lang="en-US" sz="1100" b="1" spc="160" kern="0" dirty="0">
                <a:solidFill>
                  <a:srgbClr val="B26B00"/>
                </a:solidFill>
                <a:latin typeface="Montserrat" pitchFamily="34" charset="0"/>
                <a:ea typeface="Montserrat" pitchFamily="34" charset="-122"/>
                <a:cs typeface="Montserrat" pitchFamily="34" charset="-120"/>
              </a:rPr>
              <a:t>ASK  </a:t>
            </a:r>
            <a:pPr indent="0" marL="0">
              <a:lnSpc>
                <a:spcPct val="95000"/>
              </a:lnSpc>
              <a:buNone/>
            </a:pPr>
            <a:r>
              <a:rPr lang="en-US" sz="1350" b="1" dirty="0">
                <a:solidFill>
                  <a:srgbClr val="4A3000"/>
                </a:solidFill>
                <a:latin typeface="Calibri" pitchFamily="34" charset="0"/>
                <a:ea typeface="Calibri" pitchFamily="34" charset="-122"/>
                <a:cs typeface="Calibri" pitchFamily="34" charset="-120"/>
              </a:rPr>
              <a:t>Do you approve this criteria set and these ratings as the basis for the comparison in the final report?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THE SYSTEM</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What JobQuest is, and who it serves</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Occupations presented as performable tasks; competence assessed from the performance; assessment determines what you explore next.</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[26] Role-play methods: overall effect ≈ 0.82, largest component on skill acquisition.  [30] Harm evidence on randomised reward mechanisms.</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19</a:t>
            </a:r>
            <a:endParaRPr lang="en-US" sz="1000" dirty="0"/>
          </a:p>
        </p:txBody>
      </p:sp>
      <p:sp>
        <p:nvSpPr>
          <p:cNvPr id="7" name="Text 5"/>
          <p:cNvSpPr txBox="1"/>
          <p:nvPr/>
        </p:nvSpPr>
        <p:spPr>
          <a:xfrm>
            <a:off x="566928" y="1847088"/>
            <a:ext cx="6309360" cy="274320"/>
          </a:xfrm>
          <a:prstGeom prst="rect">
            <a:avLst/>
          </a:prstGeom>
          <a:noFill/>
          <a:ln/>
        </p:spPr>
        <p:txBody>
          <a:bodyPr wrap="square" lIns="0" tIns="0" rIns="0" bIns="0" rtlCol="0" anchor="ctr"/>
          <a:lstStyle/>
          <a:p>
            <a:pPr indent="0" marL="0">
              <a:buNone/>
            </a:pPr>
            <a:r>
              <a:rPr lang="en-US" sz="1300" b="1" dirty="0">
                <a:solidFill>
                  <a:srgbClr val="003BA3"/>
                </a:solidFill>
                <a:latin typeface="Montserrat" pitchFamily="34" charset="0"/>
                <a:ea typeface="Montserrat" pitchFamily="34" charset="-122"/>
                <a:cs typeface="Montserrat" pitchFamily="34" charset="-120"/>
              </a:rPr>
              <a:t>Three presentation conventions — each chosen against evidence</a:t>
            </a:r>
            <a:endParaRPr lang="en-US" sz="1300" dirty="0"/>
          </a:p>
        </p:txBody>
      </p:sp>
      <p:sp>
        <p:nvSpPr>
          <p:cNvPr id="8" name="Shape 6"/>
          <p:cNvSpPr/>
          <p:nvPr/>
        </p:nvSpPr>
        <p:spPr>
          <a:xfrm>
            <a:off x="566928" y="2212848"/>
            <a:ext cx="6309360" cy="1152144"/>
          </a:xfrm>
          <a:prstGeom prst="roundRect">
            <a:avLst>
              <a:gd name="adj" fmla="val 4762"/>
            </a:avLst>
          </a:prstGeom>
          <a:solidFill>
            <a:srgbClr val="F2F6FD"/>
          </a:solidFill>
          <a:ln/>
        </p:spPr>
      </p:sp>
      <p:sp>
        <p:nvSpPr>
          <p:cNvPr id="9" name="Text 7"/>
          <p:cNvSpPr txBox="1"/>
          <p:nvPr/>
        </p:nvSpPr>
        <p:spPr>
          <a:xfrm>
            <a:off x="786384" y="2304288"/>
            <a:ext cx="5852160" cy="256032"/>
          </a:xfrm>
          <a:prstGeom prst="rect">
            <a:avLst/>
          </a:prstGeom>
          <a:noFill/>
          <a:ln/>
        </p:spPr>
        <p:txBody>
          <a:bodyPr wrap="square" lIns="0" tIns="0" rIns="0" bIns="0" rtlCol="0" anchor="ctr"/>
          <a:lstStyle/>
          <a:p>
            <a:pPr indent="0" marL="0">
              <a:buNone/>
            </a:pPr>
            <a:r>
              <a:rPr lang="en-US" sz="1200" b="1" dirty="0">
                <a:solidFill>
                  <a:srgbClr val="003BA3"/>
                </a:solidFill>
                <a:latin typeface="Montserrat" pitchFamily="34" charset="0"/>
                <a:ea typeface="Montserrat" pitchFamily="34" charset="-122"/>
                <a:cs typeface="Montserrat" pitchFamily="34" charset="-120"/>
              </a:rPr>
              <a:t>RPG progression</a:t>
            </a:r>
            <a:endParaRPr lang="en-US" sz="1200" dirty="0"/>
          </a:p>
        </p:txBody>
      </p:sp>
      <p:sp>
        <p:nvSpPr>
          <p:cNvPr id="10" name="Text 8"/>
          <p:cNvSpPr txBox="1"/>
          <p:nvPr/>
        </p:nvSpPr>
        <p:spPr>
          <a:xfrm>
            <a:off x="786384" y="2578608"/>
            <a:ext cx="5852160" cy="694944"/>
          </a:xfrm>
          <a:prstGeom prst="rect">
            <a:avLst/>
          </a:prstGeom>
          <a:noFill/>
          <a:ln/>
        </p:spPr>
        <p:txBody>
          <a:bodyPr wrap="square" lIns="0" tIns="0" rIns="0" bIns="0" rtlCol="0" anchor="ctr"/>
          <a:lstStyle/>
          <a:p>
            <a:pPr indent="0" marL="0">
              <a:lnSpc>
                <a:spcPct val="100000"/>
              </a:lnSpc>
              <a:buNone/>
            </a:pPr>
            <a:r>
              <a:rPr lang="en-US" sz="1100" dirty="0">
                <a:solidFill>
                  <a:srgbClr val="1B2333"/>
                </a:solidFill>
                <a:latin typeface="Calibri" pitchFamily="34" charset="0"/>
                <a:ea typeface="Calibri" pitchFamily="34" charset="-122"/>
                <a:cs typeface="Calibri" pitchFamily="34" charset="-120"/>
              </a:rPr>
              <a:t>Levels earned by demonstrated competence. Chosen because role-play shows the strongest genre-level association with skill acquisition — overall effect ≈ 0.82, largest component on skill acquisition. [26]</a:t>
            </a:r>
            <a:endParaRPr lang="en-US" sz="1100" dirty="0"/>
          </a:p>
        </p:txBody>
      </p:sp>
      <p:sp>
        <p:nvSpPr>
          <p:cNvPr id="11" name="Shape 9"/>
          <p:cNvSpPr/>
          <p:nvPr/>
        </p:nvSpPr>
        <p:spPr>
          <a:xfrm>
            <a:off x="566928" y="3511296"/>
            <a:ext cx="6309360" cy="1152144"/>
          </a:xfrm>
          <a:prstGeom prst="roundRect">
            <a:avLst>
              <a:gd name="adj" fmla="val 4762"/>
            </a:avLst>
          </a:prstGeom>
          <a:solidFill>
            <a:srgbClr val="F2F6FD"/>
          </a:solidFill>
          <a:ln/>
        </p:spPr>
      </p:sp>
      <p:sp>
        <p:nvSpPr>
          <p:cNvPr id="12" name="Text 10"/>
          <p:cNvSpPr txBox="1"/>
          <p:nvPr/>
        </p:nvSpPr>
        <p:spPr>
          <a:xfrm>
            <a:off x="786384" y="3602736"/>
            <a:ext cx="5852160" cy="256032"/>
          </a:xfrm>
          <a:prstGeom prst="rect">
            <a:avLst/>
          </a:prstGeom>
          <a:noFill/>
          <a:ln/>
        </p:spPr>
        <p:txBody>
          <a:bodyPr wrap="square" lIns="0" tIns="0" rIns="0" bIns="0" rtlCol="0" anchor="ctr"/>
          <a:lstStyle/>
          <a:p>
            <a:pPr indent="0" marL="0">
              <a:buNone/>
            </a:pPr>
            <a:r>
              <a:rPr lang="en-US" sz="1200" b="1" dirty="0">
                <a:solidFill>
                  <a:srgbClr val="003BA3"/>
                </a:solidFill>
                <a:latin typeface="Montserrat" pitchFamily="34" charset="0"/>
                <a:ea typeface="Montserrat" pitchFamily="34" charset="-122"/>
                <a:cs typeface="Montserrat" pitchFamily="34" charset="-120"/>
              </a:rPr>
              <a:t>Visual-novel branching scenes</a:t>
            </a:r>
            <a:endParaRPr lang="en-US" sz="1200" dirty="0"/>
          </a:p>
        </p:txBody>
      </p:sp>
      <p:sp>
        <p:nvSpPr>
          <p:cNvPr id="13" name="Text 11"/>
          <p:cNvSpPr txBox="1"/>
          <p:nvPr/>
        </p:nvSpPr>
        <p:spPr>
          <a:xfrm>
            <a:off x="786384" y="3877056"/>
            <a:ext cx="5852160" cy="694944"/>
          </a:xfrm>
          <a:prstGeom prst="rect">
            <a:avLst/>
          </a:prstGeom>
          <a:noFill/>
          <a:ln/>
        </p:spPr>
        <p:txBody>
          <a:bodyPr wrap="square" lIns="0" tIns="0" rIns="0" bIns="0" rtlCol="0" anchor="ctr"/>
          <a:lstStyle/>
          <a:p>
            <a:pPr indent="0" marL="0">
              <a:lnSpc>
                <a:spcPct val="100000"/>
              </a:lnSpc>
              <a:buNone/>
            </a:pPr>
            <a:r>
              <a:rPr lang="en-US" sz="1100" dirty="0">
                <a:solidFill>
                  <a:srgbClr val="1B2333"/>
                </a:solidFill>
                <a:latin typeface="Calibri" pitchFamily="34" charset="0"/>
                <a:ea typeface="Calibri" pitchFamily="34" charset="-122"/>
                <a:cs typeface="Calibri" pitchFamily="34" charset="-120"/>
              </a:rPr>
              <a:t>Narrative is among the strongest moderators in the gamification meta-analyses.</a:t>
            </a:r>
            <a:endParaRPr lang="en-US" sz="1100" dirty="0"/>
          </a:p>
        </p:txBody>
      </p:sp>
      <p:sp>
        <p:nvSpPr>
          <p:cNvPr id="14" name="Shape 12"/>
          <p:cNvSpPr/>
          <p:nvPr/>
        </p:nvSpPr>
        <p:spPr>
          <a:xfrm>
            <a:off x="566928" y="4809744"/>
            <a:ext cx="6309360" cy="1152144"/>
          </a:xfrm>
          <a:prstGeom prst="roundRect">
            <a:avLst>
              <a:gd name="adj" fmla="val 4762"/>
            </a:avLst>
          </a:prstGeom>
          <a:solidFill>
            <a:srgbClr val="F2F6FD"/>
          </a:solidFill>
          <a:ln/>
        </p:spPr>
      </p:sp>
      <p:sp>
        <p:nvSpPr>
          <p:cNvPr id="15" name="Text 13"/>
          <p:cNvSpPr txBox="1"/>
          <p:nvPr/>
        </p:nvSpPr>
        <p:spPr>
          <a:xfrm>
            <a:off x="786384" y="4901184"/>
            <a:ext cx="5852160" cy="256032"/>
          </a:xfrm>
          <a:prstGeom prst="rect">
            <a:avLst/>
          </a:prstGeom>
          <a:noFill/>
          <a:ln/>
        </p:spPr>
        <p:txBody>
          <a:bodyPr wrap="square" lIns="0" tIns="0" rIns="0" bIns="0" rtlCol="0" anchor="ctr"/>
          <a:lstStyle/>
          <a:p>
            <a:pPr indent="0" marL="0">
              <a:buNone/>
            </a:pPr>
            <a:r>
              <a:rPr lang="en-US" sz="1200" b="1" dirty="0">
                <a:solidFill>
                  <a:srgbClr val="003BA3"/>
                </a:solidFill>
                <a:latin typeface="Montserrat" pitchFamily="34" charset="0"/>
                <a:ea typeface="Montserrat" pitchFamily="34" charset="-122"/>
                <a:cs typeface="Montserrat" pitchFamily="34" charset="-120"/>
              </a:rPr>
              <a:t>Roguelike career and life events</a:t>
            </a:r>
            <a:endParaRPr lang="en-US" sz="1200" dirty="0"/>
          </a:p>
        </p:txBody>
      </p:sp>
      <p:sp>
        <p:nvSpPr>
          <p:cNvPr id="16" name="Text 14"/>
          <p:cNvSpPr txBox="1"/>
          <p:nvPr/>
        </p:nvSpPr>
        <p:spPr>
          <a:xfrm>
            <a:off x="786384" y="5175504"/>
            <a:ext cx="5852160" cy="694944"/>
          </a:xfrm>
          <a:prstGeom prst="rect">
            <a:avLst/>
          </a:prstGeom>
          <a:noFill/>
          <a:ln/>
        </p:spPr>
        <p:txBody>
          <a:bodyPr wrap="square" lIns="0" tIns="0" rIns="0" bIns="0" rtlCol="0" anchor="ctr"/>
          <a:lstStyle/>
          <a:p>
            <a:pPr indent="0" marL="0">
              <a:lnSpc>
                <a:spcPct val="100000"/>
              </a:lnSpc>
              <a:buNone/>
            </a:pPr>
            <a:r>
              <a:rPr lang="en-US" sz="1100" dirty="0">
                <a:solidFill>
                  <a:srgbClr val="1B2333"/>
                </a:solidFill>
                <a:latin typeface="Calibri" pitchFamily="34" charset="0"/>
                <a:ea typeface="Calibri" pitchFamily="34" charset="-122"/>
                <a:cs typeface="Calibri" pitchFamily="34" charset="-120"/>
              </a:rPr>
              <a:t>Narrative variety only — explicitly not coupled to any reward schedule or monetisation, per the harm evidence on randomised rewards. [30]</a:t>
            </a:r>
            <a:endParaRPr lang="en-US" sz="1100" dirty="0"/>
          </a:p>
        </p:txBody>
      </p:sp>
      <p:sp>
        <p:nvSpPr>
          <p:cNvPr id="17" name="Text 15"/>
          <p:cNvSpPr txBox="1"/>
          <p:nvPr/>
        </p:nvSpPr>
        <p:spPr>
          <a:xfrm>
            <a:off x="7196328" y="1847088"/>
            <a:ext cx="4425696" cy="274320"/>
          </a:xfrm>
          <a:prstGeom prst="rect">
            <a:avLst/>
          </a:prstGeom>
          <a:noFill/>
          <a:ln/>
        </p:spPr>
        <p:txBody>
          <a:bodyPr wrap="square" lIns="0" tIns="0" rIns="0" bIns="0" rtlCol="0" anchor="ctr"/>
          <a:lstStyle/>
          <a:p>
            <a:pPr indent="0" marL="0">
              <a:buNone/>
            </a:pPr>
            <a:r>
              <a:rPr lang="en-US" sz="1300" b="1" dirty="0">
                <a:solidFill>
                  <a:srgbClr val="003BA3"/>
                </a:solidFill>
                <a:latin typeface="Montserrat" pitchFamily="34" charset="0"/>
                <a:ea typeface="Montserrat" pitchFamily="34" charset="-122"/>
                <a:cs typeface="Montserrat" pitchFamily="34" charset="-120"/>
              </a:rPr>
              <a:t>Four user groups</a:t>
            </a:r>
            <a:endParaRPr lang="en-US" sz="1300" dirty="0"/>
          </a:p>
        </p:txBody>
      </p:sp>
      <p:sp>
        <p:nvSpPr>
          <p:cNvPr id="18" name="Shape 16"/>
          <p:cNvSpPr/>
          <p:nvPr/>
        </p:nvSpPr>
        <p:spPr>
          <a:xfrm>
            <a:off x="7196328" y="2212848"/>
            <a:ext cx="4425696" cy="841248"/>
          </a:xfrm>
          <a:prstGeom prst="roundRect">
            <a:avLst>
              <a:gd name="adj" fmla="val 6522"/>
            </a:avLst>
          </a:prstGeom>
          <a:solidFill>
            <a:srgbClr val="003BA3"/>
          </a:solidFill>
          <a:ln/>
        </p:spPr>
      </p:sp>
      <p:sp>
        <p:nvSpPr>
          <p:cNvPr id="19" name="Text 17"/>
          <p:cNvSpPr txBox="1"/>
          <p:nvPr/>
        </p:nvSpPr>
        <p:spPr>
          <a:xfrm>
            <a:off x="7397496" y="2267712"/>
            <a:ext cx="4023360" cy="237744"/>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Explorer</a:t>
            </a:r>
            <a:endParaRPr lang="en-US" sz="1150" dirty="0"/>
          </a:p>
        </p:txBody>
      </p:sp>
      <p:sp>
        <p:nvSpPr>
          <p:cNvPr id="20" name="Text 18"/>
          <p:cNvSpPr txBox="1"/>
          <p:nvPr/>
        </p:nvSpPr>
        <p:spPr>
          <a:xfrm>
            <a:off x="7397496" y="2523744"/>
            <a:ext cx="4023360" cy="475488"/>
          </a:xfrm>
          <a:prstGeom prst="rect">
            <a:avLst/>
          </a:prstGeom>
          <a:noFill/>
          <a:ln/>
        </p:spPr>
        <p:txBody>
          <a:bodyPr wrap="square" lIns="0" tIns="0" rIns="0" bIns="0" rtlCol="0" anchor="ctr"/>
          <a:lstStyle/>
          <a:p>
            <a:pPr indent="0" marL="0">
              <a:lnSpc>
                <a:spcPct val="100000"/>
              </a:lnSpc>
              <a:buNone/>
            </a:pPr>
            <a:r>
              <a:rPr lang="en-US" sz="1050" dirty="0">
                <a:solidFill>
                  <a:srgbClr val="CFE0FF"/>
                </a:solidFill>
                <a:latin typeface="Calibri" pitchFamily="34" charset="0"/>
                <a:ea typeface="Calibri" pitchFamily="34" charset="-122"/>
                <a:cs typeface="Calibri" pitchFamily="34" charset="-120"/>
              </a:rPr>
              <a:t>The end user. Everything else exists to serve them.</a:t>
            </a:r>
            <a:endParaRPr lang="en-US" sz="1050" dirty="0"/>
          </a:p>
        </p:txBody>
      </p:sp>
      <p:sp>
        <p:nvSpPr>
          <p:cNvPr id="21" name="Shape 19"/>
          <p:cNvSpPr/>
          <p:nvPr/>
        </p:nvSpPr>
        <p:spPr>
          <a:xfrm>
            <a:off x="7196328" y="3182112"/>
            <a:ext cx="4425696" cy="841248"/>
          </a:xfrm>
          <a:prstGeom prst="roundRect">
            <a:avLst>
              <a:gd name="adj" fmla="val 6522"/>
            </a:avLst>
          </a:prstGeom>
          <a:solidFill>
            <a:srgbClr val="003BA3"/>
          </a:solidFill>
          <a:ln/>
        </p:spPr>
      </p:sp>
      <p:sp>
        <p:nvSpPr>
          <p:cNvPr id="22" name="Text 20"/>
          <p:cNvSpPr txBox="1"/>
          <p:nvPr/>
        </p:nvSpPr>
        <p:spPr>
          <a:xfrm>
            <a:off x="7397496" y="3236976"/>
            <a:ext cx="4023360" cy="237744"/>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Domain expert</a:t>
            </a:r>
            <a:endParaRPr lang="en-US" sz="1150" dirty="0"/>
          </a:p>
        </p:txBody>
      </p:sp>
      <p:sp>
        <p:nvSpPr>
          <p:cNvPr id="23" name="Text 21"/>
          <p:cNvSpPr txBox="1"/>
          <p:nvPr/>
        </p:nvSpPr>
        <p:spPr>
          <a:xfrm>
            <a:off x="7397496" y="3493008"/>
            <a:ext cx="4023360" cy="475488"/>
          </a:xfrm>
          <a:prstGeom prst="rect">
            <a:avLst/>
          </a:prstGeom>
          <a:noFill/>
          <a:ln/>
        </p:spPr>
        <p:txBody>
          <a:bodyPr wrap="square" lIns="0" tIns="0" rIns="0" bIns="0" rtlCol="0" anchor="ctr"/>
          <a:lstStyle/>
          <a:p>
            <a:pPr indent="0" marL="0">
              <a:lnSpc>
                <a:spcPct val="100000"/>
              </a:lnSpc>
              <a:buNone/>
            </a:pPr>
            <a:r>
              <a:rPr lang="en-US" sz="1050" dirty="0">
                <a:solidFill>
                  <a:srgbClr val="CFE0FF"/>
                </a:solidFill>
                <a:latin typeface="Calibri" pitchFamily="34" charset="0"/>
                <a:ea typeface="Calibri" pitchFamily="34" charset="-122"/>
                <a:cs typeface="Calibri" pitchFamily="34" charset="-120"/>
              </a:rPr>
              <a:t>Authors seeds and rubrics, validates generated scenarios — the guarantor of our central claim.</a:t>
            </a:r>
            <a:endParaRPr lang="en-US" sz="1050" dirty="0"/>
          </a:p>
        </p:txBody>
      </p:sp>
      <p:sp>
        <p:nvSpPr>
          <p:cNvPr id="24" name="Shape 22"/>
          <p:cNvSpPr/>
          <p:nvPr/>
        </p:nvSpPr>
        <p:spPr>
          <a:xfrm>
            <a:off x="7196328" y="4151376"/>
            <a:ext cx="4425696" cy="841248"/>
          </a:xfrm>
          <a:prstGeom prst="roundRect">
            <a:avLst>
              <a:gd name="adj" fmla="val 6522"/>
            </a:avLst>
          </a:prstGeom>
          <a:solidFill>
            <a:srgbClr val="F2F6FD"/>
          </a:solidFill>
          <a:ln/>
        </p:spPr>
      </p:sp>
      <p:sp>
        <p:nvSpPr>
          <p:cNvPr id="25" name="Text 23"/>
          <p:cNvSpPr txBox="1"/>
          <p:nvPr/>
        </p:nvSpPr>
        <p:spPr>
          <a:xfrm>
            <a:off x="7397496" y="4206240"/>
            <a:ext cx="4023360" cy="237744"/>
          </a:xfrm>
          <a:prstGeom prst="rect">
            <a:avLst/>
          </a:prstGeom>
          <a:noFill/>
          <a:ln/>
        </p:spPr>
        <p:txBody>
          <a:bodyPr wrap="square" lIns="0" tIns="0" rIns="0" bIns="0" rtlCol="0" anchor="ctr"/>
          <a:lstStyle/>
          <a:p>
            <a:pPr indent="0" marL="0">
              <a:buNone/>
            </a:pPr>
            <a:r>
              <a:rPr lang="en-US" sz="1150" b="1" dirty="0">
                <a:solidFill>
                  <a:srgbClr val="003BA3"/>
                </a:solidFill>
                <a:latin typeface="Montserrat" pitchFamily="34" charset="0"/>
                <a:ea typeface="Montserrat" pitchFamily="34" charset="-122"/>
                <a:cs typeface="Montserrat" pitchFamily="34" charset="-120"/>
              </a:rPr>
              <a:t>Content administrator</a:t>
            </a:r>
            <a:endParaRPr lang="en-US" sz="1150" dirty="0"/>
          </a:p>
        </p:txBody>
      </p:sp>
      <p:sp>
        <p:nvSpPr>
          <p:cNvPr id="26" name="Text 24"/>
          <p:cNvSpPr txBox="1"/>
          <p:nvPr/>
        </p:nvSpPr>
        <p:spPr>
          <a:xfrm>
            <a:off x="7397496" y="4462272"/>
            <a:ext cx="4023360" cy="475488"/>
          </a:xfrm>
          <a:prstGeom prst="rect">
            <a:avLst/>
          </a:prstGeom>
          <a:noFill/>
          <a:ln/>
        </p:spPr>
        <p:txBody>
          <a:bodyPr wrap="square" lIns="0" tIns="0" rIns="0" bIns="0" rtlCol="0" anchor="ctr"/>
          <a:lstStyle/>
          <a:p>
            <a:pPr indent="0" marL="0">
              <a:lnSpc>
                <a:spcPct val="100000"/>
              </a:lnSpc>
              <a:buNone/>
            </a:pPr>
            <a:r>
              <a:rPr lang="en-US" sz="1050" dirty="0">
                <a:solidFill>
                  <a:srgbClr val="1B2333"/>
                </a:solidFill>
                <a:latin typeface="Calibri" pitchFamily="34" charset="0"/>
                <a:ea typeface="Calibri" pitchFamily="34" charset="-122"/>
                <a:cs typeface="Calibri" pitchFamily="34" charset="-120"/>
              </a:rPr>
              <a:t>Catalogue lifecycle, coverage, currency.</a:t>
            </a:r>
            <a:endParaRPr lang="en-US" sz="1050" dirty="0"/>
          </a:p>
        </p:txBody>
      </p:sp>
      <p:sp>
        <p:nvSpPr>
          <p:cNvPr id="27" name="Shape 25"/>
          <p:cNvSpPr/>
          <p:nvPr/>
        </p:nvSpPr>
        <p:spPr>
          <a:xfrm>
            <a:off x="7196328" y="5120640"/>
            <a:ext cx="4425696" cy="841248"/>
          </a:xfrm>
          <a:prstGeom prst="roundRect">
            <a:avLst>
              <a:gd name="adj" fmla="val 6522"/>
            </a:avLst>
          </a:prstGeom>
          <a:solidFill>
            <a:srgbClr val="F2F6FD"/>
          </a:solidFill>
          <a:ln/>
        </p:spPr>
      </p:sp>
      <p:sp>
        <p:nvSpPr>
          <p:cNvPr id="28" name="Text 26"/>
          <p:cNvSpPr txBox="1"/>
          <p:nvPr/>
        </p:nvSpPr>
        <p:spPr>
          <a:xfrm>
            <a:off x="7397496" y="5175504"/>
            <a:ext cx="4023360" cy="237744"/>
          </a:xfrm>
          <a:prstGeom prst="rect">
            <a:avLst/>
          </a:prstGeom>
          <a:noFill/>
          <a:ln/>
        </p:spPr>
        <p:txBody>
          <a:bodyPr wrap="square" lIns="0" tIns="0" rIns="0" bIns="0" rtlCol="0" anchor="ctr"/>
          <a:lstStyle/>
          <a:p>
            <a:pPr indent="0" marL="0">
              <a:buNone/>
            </a:pPr>
            <a:r>
              <a:rPr lang="en-US" sz="1150" b="1" dirty="0">
                <a:solidFill>
                  <a:srgbClr val="003BA3"/>
                </a:solidFill>
                <a:latin typeface="Montserrat" pitchFamily="34" charset="0"/>
                <a:ea typeface="Montserrat" pitchFamily="34" charset="-122"/>
                <a:cs typeface="Montserrat" pitchFamily="34" charset="-120"/>
              </a:rPr>
              <a:t>System administrator</a:t>
            </a:r>
            <a:endParaRPr lang="en-US" sz="1150" dirty="0"/>
          </a:p>
        </p:txBody>
      </p:sp>
      <p:sp>
        <p:nvSpPr>
          <p:cNvPr id="29" name="Text 27"/>
          <p:cNvSpPr txBox="1"/>
          <p:nvPr/>
        </p:nvSpPr>
        <p:spPr>
          <a:xfrm>
            <a:off x="7397496" y="5431536"/>
            <a:ext cx="4023360" cy="475488"/>
          </a:xfrm>
          <a:prstGeom prst="rect">
            <a:avLst/>
          </a:prstGeom>
          <a:noFill/>
          <a:ln/>
        </p:spPr>
        <p:txBody>
          <a:bodyPr wrap="square" lIns="0" tIns="0" rIns="0" bIns="0" rtlCol="0" anchor="ctr"/>
          <a:lstStyle/>
          <a:p>
            <a:pPr indent="0" marL="0">
              <a:lnSpc>
                <a:spcPct val="100000"/>
              </a:lnSpc>
              <a:buNone/>
            </a:pPr>
            <a:r>
              <a:rPr lang="en-US" sz="1050" dirty="0">
                <a:solidFill>
                  <a:srgbClr val="1B2333"/>
                </a:solidFill>
                <a:latin typeface="Calibri" pitchFamily="34" charset="0"/>
                <a:ea typeface="Calibri" pitchFamily="34" charset="-122"/>
                <a:cs typeface="Calibri" pitchFamily="34" charset="-120"/>
              </a:rPr>
              <a:t>Model configuration, capacity, cost, data protection.</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WORKED EXAMPLE</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One mission, end to end</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We author the seed. The model expands it. The two task types are assessed differently.</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20</a:t>
            </a:r>
            <a:endParaRPr lang="en-US" sz="1000" dirty="0"/>
          </a:p>
        </p:txBody>
      </p:sp>
      <p:sp>
        <p:nvSpPr>
          <p:cNvPr id="6" name="Shape 4"/>
          <p:cNvSpPr/>
          <p:nvPr/>
        </p:nvSpPr>
        <p:spPr>
          <a:xfrm>
            <a:off x="566928" y="1920240"/>
            <a:ext cx="310896" cy="310896"/>
          </a:xfrm>
          <a:prstGeom prst="ellipse">
            <a:avLst/>
          </a:prstGeom>
          <a:solidFill>
            <a:srgbClr val="003BA3"/>
          </a:solidFill>
          <a:ln/>
        </p:spPr>
      </p:sp>
      <p:sp>
        <p:nvSpPr>
          <p:cNvPr id="7" name="Text 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1</a:t>
            </a:r>
            <a:endParaRPr lang="en-US" sz="1100" dirty="0"/>
          </a:p>
        </p:txBody>
      </p:sp>
      <p:sp>
        <p:nvSpPr>
          <p:cNvPr id="8" name="Shape 6"/>
          <p:cNvSpPr/>
          <p:nvPr/>
        </p:nvSpPr>
        <p:spPr>
          <a:xfrm>
            <a:off x="717804" y="2231136"/>
            <a:ext cx="13716" cy="192024"/>
          </a:xfrm>
          <a:prstGeom prst="rect">
            <a:avLst/>
          </a:prstGeom>
          <a:solidFill>
            <a:srgbClr val="C9D6EE"/>
          </a:solidFill>
          <a:ln/>
        </p:spPr>
      </p:sp>
      <p:sp>
        <p:nvSpPr>
          <p:cNvPr id="9" name="Text 7"/>
          <p:cNvSpPr txBox="1"/>
          <p:nvPr/>
        </p:nvSpPr>
        <p:spPr>
          <a:xfrm>
            <a:off x="1024128" y="1883664"/>
            <a:ext cx="2468880" cy="384048"/>
          </a:xfrm>
          <a:prstGeom prst="rect">
            <a:avLst/>
          </a:prstGeom>
          <a:noFill/>
          <a:ln/>
        </p:spPr>
        <p:txBody>
          <a:bodyPr wrap="square" lIns="0" tIns="0" rIns="0" bIns="0" rtlCol="0" anchor="ctr"/>
          <a:lstStyle/>
          <a:p>
            <a:pPr indent="0" marL="0">
              <a:buNone/>
            </a:pPr>
            <a:r>
              <a:rPr lang="en-US" sz="1200" b="1" dirty="0">
                <a:solidFill>
                  <a:srgbClr val="003BA3"/>
                </a:solidFill>
                <a:latin typeface="Montserrat" pitchFamily="34" charset="0"/>
                <a:ea typeface="Montserrat" pitchFamily="34" charset="-122"/>
                <a:cs typeface="Montserrat" pitchFamily="34" charset="-120"/>
              </a:rPr>
              <a:t>Role and context</a:t>
            </a:r>
            <a:endParaRPr lang="en-US" sz="1200" dirty="0"/>
          </a:p>
        </p:txBody>
      </p:sp>
      <p:sp>
        <p:nvSpPr>
          <p:cNvPr id="10" name="Text 8"/>
          <p:cNvSpPr txBox="1"/>
          <p:nvPr/>
        </p:nvSpPr>
        <p:spPr>
          <a:xfrm>
            <a:off x="3584448" y="1865376"/>
            <a:ext cx="8037576" cy="420624"/>
          </a:xfrm>
          <a:prstGeom prst="rect">
            <a:avLst/>
          </a:prstGeom>
          <a:noFill/>
          <a:ln/>
        </p:spPr>
        <p:txBody>
          <a:bodyPr wrap="square" lIns="0" tIns="0" rIns="0" bIns="0" rtlCol="0" anchor="ctr"/>
          <a:lstStyle/>
          <a:p>
            <a:pPr indent="0" marL="0">
              <a:lnSpc>
                <a:spcPct val="100000"/>
              </a:lnSpc>
              <a:buNone/>
            </a:pPr>
            <a:r>
              <a:rPr lang="en-US" sz="1200" dirty="0">
                <a:solidFill>
                  <a:srgbClr val="1B2333"/>
                </a:solidFill>
                <a:latin typeface="Calibri" pitchFamily="34" charset="0"/>
                <a:ea typeface="Calibri" pitchFamily="34" charset="-122"/>
                <a:cs typeface="Calibri" pitchFamily="34" charset="-120"/>
              </a:rPr>
              <a:t>Backend Engineer, starter level. Your team, your stack — and tonight you are on call.</a:t>
            </a:r>
            <a:endParaRPr lang="en-US" sz="1200" dirty="0"/>
          </a:p>
        </p:txBody>
      </p:sp>
      <p:sp>
        <p:nvSpPr>
          <p:cNvPr id="11" name="Shape 9"/>
          <p:cNvSpPr/>
          <p:nvPr/>
        </p:nvSpPr>
        <p:spPr>
          <a:xfrm>
            <a:off x="566928" y="2496312"/>
            <a:ext cx="310896" cy="310896"/>
          </a:xfrm>
          <a:prstGeom prst="ellipse">
            <a:avLst/>
          </a:prstGeom>
          <a:solidFill>
            <a:srgbClr val="B26B00"/>
          </a:solidFill>
          <a:ln/>
        </p:spPr>
      </p:sp>
      <p:sp>
        <p:nvSpPr>
          <p:cNvPr id="12" name="Text 10"/>
          <p:cNvSpPr txBox="1"/>
          <p:nvPr/>
        </p:nvSpPr>
        <p:spPr>
          <a:xfrm>
            <a:off x="566928" y="24963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2</a:t>
            </a:r>
            <a:endParaRPr lang="en-US" sz="1100" dirty="0"/>
          </a:p>
        </p:txBody>
      </p:sp>
      <p:sp>
        <p:nvSpPr>
          <p:cNvPr id="13" name="Shape 11"/>
          <p:cNvSpPr/>
          <p:nvPr/>
        </p:nvSpPr>
        <p:spPr>
          <a:xfrm>
            <a:off x="717804" y="2807208"/>
            <a:ext cx="13716" cy="192024"/>
          </a:xfrm>
          <a:prstGeom prst="rect">
            <a:avLst/>
          </a:prstGeom>
          <a:solidFill>
            <a:srgbClr val="C9D6EE"/>
          </a:solidFill>
          <a:ln/>
        </p:spPr>
      </p:sp>
      <p:sp>
        <p:nvSpPr>
          <p:cNvPr id="14" name="Text 12"/>
          <p:cNvSpPr txBox="1"/>
          <p:nvPr/>
        </p:nvSpPr>
        <p:spPr>
          <a:xfrm>
            <a:off x="1024128" y="2459736"/>
            <a:ext cx="2468880" cy="384048"/>
          </a:xfrm>
          <a:prstGeom prst="rect">
            <a:avLst/>
          </a:prstGeom>
          <a:noFill/>
          <a:ln/>
        </p:spPr>
        <p:txBody>
          <a:bodyPr wrap="square" lIns="0" tIns="0" rIns="0" bIns="0" rtlCol="0" anchor="ctr"/>
          <a:lstStyle/>
          <a:p>
            <a:pPr indent="0" marL="0">
              <a:buNone/>
            </a:pPr>
            <a:r>
              <a:rPr lang="en-US" sz="1200" b="1" dirty="0">
                <a:solidFill>
                  <a:srgbClr val="B26B00"/>
                </a:solidFill>
                <a:latin typeface="Montserrat" pitchFamily="34" charset="0"/>
                <a:ea typeface="Montserrat" pitchFamily="34" charset="-122"/>
                <a:cs typeface="Montserrat" pitchFamily="34" charset="-120"/>
              </a:rPr>
              <a:t>Seed  (we author)</a:t>
            </a:r>
            <a:endParaRPr lang="en-US" sz="1200" dirty="0"/>
          </a:p>
        </p:txBody>
      </p:sp>
      <p:sp>
        <p:nvSpPr>
          <p:cNvPr id="15" name="Text 13"/>
          <p:cNvSpPr txBox="1"/>
          <p:nvPr/>
        </p:nvSpPr>
        <p:spPr>
          <a:xfrm>
            <a:off x="3584448" y="2441448"/>
            <a:ext cx="8037576" cy="420624"/>
          </a:xfrm>
          <a:prstGeom prst="rect">
            <a:avLst/>
          </a:prstGeom>
          <a:noFill/>
          <a:ln/>
        </p:spPr>
        <p:txBody>
          <a:bodyPr wrap="square" lIns="0" tIns="0" rIns="0" bIns="0" rtlCol="0" anchor="ctr"/>
          <a:lstStyle/>
          <a:p>
            <a:pPr indent="0" marL="0">
              <a:lnSpc>
                <a:spcPct val="100000"/>
              </a:lnSpc>
              <a:buNone/>
            </a:pPr>
            <a:r>
              <a:rPr lang="en-US" sz="1200" dirty="0">
                <a:solidFill>
                  <a:srgbClr val="1B2333"/>
                </a:solidFill>
                <a:latin typeface="Calibri" pitchFamily="34" charset="0"/>
                <a:ea typeface="Calibri" pitchFamily="34" charset="-122"/>
                <a:cs typeface="Calibri" pitchFamily="34" charset="-120"/>
              </a:rPr>
              <a:t>The incident skeleton, the required facts, the correct-handling rubric.</a:t>
            </a:r>
            <a:endParaRPr lang="en-US" sz="1200" dirty="0"/>
          </a:p>
        </p:txBody>
      </p:sp>
      <p:sp>
        <p:nvSpPr>
          <p:cNvPr id="16" name="Shape 14"/>
          <p:cNvSpPr/>
          <p:nvPr/>
        </p:nvSpPr>
        <p:spPr>
          <a:xfrm>
            <a:off x="566928" y="3072384"/>
            <a:ext cx="310896" cy="310896"/>
          </a:xfrm>
          <a:prstGeom prst="ellipse">
            <a:avLst/>
          </a:prstGeom>
          <a:solidFill>
            <a:srgbClr val="003BA3"/>
          </a:solidFill>
          <a:ln/>
        </p:spPr>
      </p:sp>
      <p:sp>
        <p:nvSpPr>
          <p:cNvPr id="17" name="Text 15"/>
          <p:cNvSpPr txBox="1"/>
          <p:nvPr/>
        </p:nvSpPr>
        <p:spPr>
          <a:xfrm>
            <a:off x="566928" y="30723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3</a:t>
            </a:r>
            <a:endParaRPr lang="en-US" sz="1100" dirty="0"/>
          </a:p>
        </p:txBody>
      </p:sp>
      <p:sp>
        <p:nvSpPr>
          <p:cNvPr id="18" name="Shape 16"/>
          <p:cNvSpPr/>
          <p:nvPr/>
        </p:nvSpPr>
        <p:spPr>
          <a:xfrm>
            <a:off x="717804" y="3383280"/>
            <a:ext cx="13716" cy="192024"/>
          </a:xfrm>
          <a:prstGeom prst="rect">
            <a:avLst/>
          </a:prstGeom>
          <a:solidFill>
            <a:srgbClr val="C9D6EE"/>
          </a:solidFill>
          <a:ln/>
        </p:spPr>
      </p:sp>
      <p:sp>
        <p:nvSpPr>
          <p:cNvPr id="19" name="Text 17"/>
          <p:cNvSpPr txBox="1"/>
          <p:nvPr/>
        </p:nvSpPr>
        <p:spPr>
          <a:xfrm>
            <a:off x="1024128" y="3035808"/>
            <a:ext cx="2468880" cy="384048"/>
          </a:xfrm>
          <a:prstGeom prst="rect">
            <a:avLst/>
          </a:prstGeom>
          <a:noFill/>
          <a:ln/>
        </p:spPr>
        <p:txBody>
          <a:bodyPr wrap="square" lIns="0" tIns="0" rIns="0" bIns="0" rtlCol="0" anchor="ctr"/>
          <a:lstStyle/>
          <a:p>
            <a:pPr indent="0" marL="0">
              <a:buNone/>
            </a:pPr>
            <a:r>
              <a:rPr lang="en-US" sz="1200" b="1" dirty="0">
                <a:solidFill>
                  <a:srgbClr val="003BA3"/>
                </a:solidFill>
                <a:latin typeface="Montserrat" pitchFamily="34" charset="0"/>
                <a:ea typeface="Montserrat" pitchFamily="34" charset="-122"/>
                <a:cs typeface="Montserrat" pitchFamily="34" charset="-120"/>
              </a:rPr>
              <a:t>AI expands</a:t>
            </a:r>
            <a:endParaRPr lang="en-US" sz="1200" dirty="0"/>
          </a:p>
        </p:txBody>
      </p:sp>
      <p:sp>
        <p:nvSpPr>
          <p:cNvPr id="20" name="Text 18"/>
          <p:cNvSpPr txBox="1"/>
          <p:nvPr/>
        </p:nvSpPr>
        <p:spPr>
          <a:xfrm>
            <a:off x="3584448" y="3017520"/>
            <a:ext cx="8037576" cy="420624"/>
          </a:xfrm>
          <a:prstGeom prst="rect">
            <a:avLst/>
          </a:prstGeom>
          <a:noFill/>
          <a:ln/>
        </p:spPr>
        <p:txBody>
          <a:bodyPr wrap="square" lIns="0" tIns="0" rIns="0" bIns="0" rtlCol="0" anchor="ctr"/>
          <a:lstStyle/>
          <a:p>
            <a:pPr indent="0" marL="0">
              <a:lnSpc>
                <a:spcPct val="100000"/>
              </a:lnSpc>
              <a:buNone/>
            </a:pPr>
            <a:r>
              <a:rPr lang="en-US" sz="1200" dirty="0">
                <a:solidFill>
                  <a:srgbClr val="1B2333"/>
                </a:solidFill>
                <a:latin typeface="Calibri" pitchFamily="34" charset="0"/>
                <a:ea typeface="Calibri" pitchFamily="34" charset="-122"/>
                <a:cs typeface="Calibri" pitchFamily="34" charset="-120"/>
              </a:rPr>
              <a:t>Specific symptoms, narrative and tone. Varied each run.</a:t>
            </a:r>
            <a:endParaRPr lang="en-US" sz="1200" dirty="0"/>
          </a:p>
        </p:txBody>
      </p:sp>
      <p:sp>
        <p:nvSpPr>
          <p:cNvPr id="21" name="Shape 19"/>
          <p:cNvSpPr/>
          <p:nvPr/>
        </p:nvSpPr>
        <p:spPr>
          <a:xfrm>
            <a:off x="566928" y="3648456"/>
            <a:ext cx="310896" cy="310896"/>
          </a:xfrm>
          <a:prstGeom prst="ellipse">
            <a:avLst/>
          </a:prstGeom>
          <a:solidFill>
            <a:srgbClr val="003BA3"/>
          </a:solidFill>
          <a:ln/>
        </p:spPr>
      </p:sp>
      <p:sp>
        <p:nvSpPr>
          <p:cNvPr id="22" name="Text 20"/>
          <p:cNvSpPr txBox="1"/>
          <p:nvPr/>
        </p:nvSpPr>
        <p:spPr>
          <a:xfrm>
            <a:off x="566928" y="36484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4</a:t>
            </a:r>
            <a:endParaRPr lang="en-US" sz="1100" dirty="0"/>
          </a:p>
        </p:txBody>
      </p:sp>
      <p:sp>
        <p:nvSpPr>
          <p:cNvPr id="23" name="Shape 21"/>
          <p:cNvSpPr/>
          <p:nvPr/>
        </p:nvSpPr>
        <p:spPr>
          <a:xfrm>
            <a:off x="717804" y="3959352"/>
            <a:ext cx="13716" cy="192024"/>
          </a:xfrm>
          <a:prstGeom prst="rect">
            <a:avLst/>
          </a:prstGeom>
          <a:solidFill>
            <a:srgbClr val="C9D6EE"/>
          </a:solidFill>
          <a:ln/>
        </p:spPr>
      </p:sp>
      <p:sp>
        <p:nvSpPr>
          <p:cNvPr id="24" name="Text 22"/>
          <p:cNvSpPr txBox="1"/>
          <p:nvPr/>
        </p:nvSpPr>
        <p:spPr>
          <a:xfrm>
            <a:off x="1024128" y="3611880"/>
            <a:ext cx="2468880" cy="384048"/>
          </a:xfrm>
          <a:prstGeom prst="rect">
            <a:avLst/>
          </a:prstGeom>
          <a:noFill/>
          <a:ln/>
        </p:spPr>
        <p:txBody>
          <a:bodyPr wrap="square" lIns="0" tIns="0" rIns="0" bIns="0" rtlCol="0" anchor="ctr"/>
          <a:lstStyle/>
          <a:p>
            <a:pPr indent="0" marL="0">
              <a:buNone/>
            </a:pPr>
            <a:r>
              <a:rPr lang="en-US" sz="1200" b="1" dirty="0">
                <a:solidFill>
                  <a:srgbClr val="003BA3"/>
                </a:solidFill>
                <a:latin typeface="Montserrat" pitchFamily="34" charset="0"/>
                <a:ea typeface="Montserrat" pitchFamily="34" charset="-122"/>
                <a:cs typeface="Montserrat" pitchFamily="34" charset="-120"/>
              </a:rPr>
              <a:t>Choice point</a:t>
            </a:r>
            <a:endParaRPr lang="en-US" sz="1200" dirty="0"/>
          </a:p>
        </p:txBody>
      </p:sp>
      <p:sp>
        <p:nvSpPr>
          <p:cNvPr id="25" name="Text 23"/>
          <p:cNvSpPr txBox="1"/>
          <p:nvPr/>
        </p:nvSpPr>
        <p:spPr>
          <a:xfrm>
            <a:off x="3584448" y="3593592"/>
            <a:ext cx="8037576" cy="420624"/>
          </a:xfrm>
          <a:prstGeom prst="rect">
            <a:avLst/>
          </a:prstGeom>
          <a:noFill/>
          <a:ln/>
        </p:spPr>
        <p:txBody>
          <a:bodyPr wrap="square" lIns="0" tIns="0" rIns="0" bIns="0" rtlCol="0" anchor="ctr"/>
          <a:lstStyle/>
          <a:p>
            <a:pPr indent="0" marL="0">
              <a:lnSpc>
                <a:spcPct val="100000"/>
              </a:lnSpc>
              <a:buNone/>
            </a:pPr>
            <a:r>
              <a:rPr lang="en-US" sz="1200" dirty="0">
                <a:solidFill>
                  <a:srgbClr val="1B2333"/>
                </a:solidFill>
                <a:latin typeface="Calibri" pitchFamily="34" charset="0"/>
                <a:ea typeface="Calibri" pitchFamily="34" charset="-122"/>
                <a:cs typeface="Calibri" pitchFamily="34" charset="-120"/>
              </a:rPr>
              <a:t>“Payments are down at 2 a.m. — where do you look first?” Branches the story.</a:t>
            </a:r>
            <a:endParaRPr lang="en-US" sz="1200" dirty="0"/>
          </a:p>
        </p:txBody>
      </p:sp>
      <p:sp>
        <p:nvSpPr>
          <p:cNvPr id="26" name="Shape 24"/>
          <p:cNvSpPr/>
          <p:nvPr/>
        </p:nvSpPr>
        <p:spPr>
          <a:xfrm>
            <a:off x="566928" y="4224528"/>
            <a:ext cx="310896" cy="310896"/>
          </a:xfrm>
          <a:prstGeom prst="ellipse">
            <a:avLst/>
          </a:prstGeom>
          <a:solidFill>
            <a:srgbClr val="003BA3"/>
          </a:solidFill>
          <a:ln/>
        </p:spPr>
      </p:sp>
      <p:sp>
        <p:nvSpPr>
          <p:cNvPr id="27" name="Text 25"/>
          <p:cNvSpPr txBox="1"/>
          <p:nvPr/>
        </p:nvSpPr>
        <p:spPr>
          <a:xfrm>
            <a:off x="566928" y="42245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5</a:t>
            </a:r>
            <a:endParaRPr lang="en-US" sz="1100" dirty="0"/>
          </a:p>
        </p:txBody>
      </p:sp>
      <p:sp>
        <p:nvSpPr>
          <p:cNvPr id="28" name="Shape 26"/>
          <p:cNvSpPr/>
          <p:nvPr/>
        </p:nvSpPr>
        <p:spPr>
          <a:xfrm>
            <a:off x="717804" y="4535424"/>
            <a:ext cx="13716" cy="192024"/>
          </a:xfrm>
          <a:prstGeom prst="rect">
            <a:avLst/>
          </a:prstGeom>
          <a:solidFill>
            <a:srgbClr val="C9D6EE"/>
          </a:solidFill>
          <a:ln/>
        </p:spPr>
      </p:sp>
      <p:sp>
        <p:nvSpPr>
          <p:cNvPr id="29" name="Text 27"/>
          <p:cNvSpPr txBox="1"/>
          <p:nvPr/>
        </p:nvSpPr>
        <p:spPr>
          <a:xfrm>
            <a:off x="1024128" y="4187952"/>
            <a:ext cx="2468880" cy="384048"/>
          </a:xfrm>
          <a:prstGeom prst="rect">
            <a:avLst/>
          </a:prstGeom>
          <a:noFill/>
          <a:ln/>
        </p:spPr>
        <p:txBody>
          <a:bodyPr wrap="square" lIns="0" tIns="0" rIns="0" bIns="0" rtlCol="0" anchor="ctr"/>
          <a:lstStyle/>
          <a:p>
            <a:pPr indent="0" marL="0">
              <a:buNone/>
            </a:pPr>
            <a:r>
              <a:rPr lang="en-US" sz="1200" b="1" dirty="0">
                <a:solidFill>
                  <a:srgbClr val="003BA3"/>
                </a:solidFill>
                <a:latin typeface="Montserrat" pitchFamily="34" charset="0"/>
                <a:ea typeface="Montserrat" pitchFamily="34" charset="-122"/>
                <a:cs typeface="Montserrat" pitchFamily="34" charset="-120"/>
              </a:rPr>
              <a:t>Structured task</a:t>
            </a:r>
            <a:endParaRPr lang="en-US" sz="1200" dirty="0"/>
          </a:p>
        </p:txBody>
      </p:sp>
      <p:sp>
        <p:nvSpPr>
          <p:cNvPr id="30" name="Text 28"/>
          <p:cNvSpPr txBox="1"/>
          <p:nvPr/>
        </p:nvSpPr>
        <p:spPr>
          <a:xfrm>
            <a:off x="3584448" y="4169664"/>
            <a:ext cx="8037576" cy="420624"/>
          </a:xfrm>
          <a:prstGeom prst="rect">
            <a:avLst/>
          </a:prstGeom>
          <a:noFill/>
          <a:ln/>
        </p:spPr>
        <p:txBody>
          <a:bodyPr wrap="square" lIns="0" tIns="0" rIns="0" bIns="0" rtlCol="0" anchor="ctr"/>
          <a:lstStyle/>
          <a:p>
            <a:pPr indent="0" marL="0">
              <a:lnSpc>
                <a:spcPct val="100000"/>
              </a:lnSpc>
              <a:buNone/>
            </a:pPr>
            <a:r>
              <a:rPr lang="en-US" sz="1200" dirty="0">
                <a:solidFill>
                  <a:srgbClr val="1B2333"/>
                </a:solidFill>
                <a:latin typeface="Calibri" pitchFamily="34" charset="0"/>
                <a:ea typeface="Calibri" pitchFamily="34" charset="-122"/>
                <a:cs typeface="Calibri" pitchFamily="34" charset="-120"/>
              </a:rPr>
              <a:t>Order the triage steps. Scored deterministically against a key.</a:t>
            </a:r>
            <a:endParaRPr lang="en-US" sz="1200" dirty="0"/>
          </a:p>
        </p:txBody>
      </p:sp>
      <p:sp>
        <p:nvSpPr>
          <p:cNvPr id="31" name="Shape 29"/>
          <p:cNvSpPr/>
          <p:nvPr/>
        </p:nvSpPr>
        <p:spPr>
          <a:xfrm>
            <a:off x="566928" y="4800600"/>
            <a:ext cx="310896" cy="310896"/>
          </a:xfrm>
          <a:prstGeom prst="ellipse">
            <a:avLst/>
          </a:prstGeom>
          <a:solidFill>
            <a:srgbClr val="B26B00"/>
          </a:solidFill>
          <a:ln/>
        </p:spPr>
      </p:sp>
      <p:sp>
        <p:nvSpPr>
          <p:cNvPr id="32" name="Text 30"/>
          <p:cNvSpPr txBox="1"/>
          <p:nvPr/>
        </p:nvSpPr>
        <p:spPr>
          <a:xfrm>
            <a:off x="566928" y="48006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6</a:t>
            </a:r>
            <a:endParaRPr lang="en-US" sz="1100" dirty="0"/>
          </a:p>
        </p:txBody>
      </p:sp>
      <p:sp>
        <p:nvSpPr>
          <p:cNvPr id="33" name="Shape 31"/>
          <p:cNvSpPr/>
          <p:nvPr/>
        </p:nvSpPr>
        <p:spPr>
          <a:xfrm>
            <a:off x="717804" y="5111496"/>
            <a:ext cx="13716" cy="192024"/>
          </a:xfrm>
          <a:prstGeom prst="rect">
            <a:avLst/>
          </a:prstGeom>
          <a:solidFill>
            <a:srgbClr val="C9D6EE"/>
          </a:solidFill>
          <a:ln/>
        </p:spPr>
      </p:sp>
      <p:sp>
        <p:nvSpPr>
          <p:cNvPr id="34" name="Text 32"/>
          <p:cNvSpPr txBox="1"/>
          <p:nvPr/>
        </p:nvSpPr>
        <p:spPr>
          <a:xfrm>
            <a:off x="1024128" y="4764024"/>
            <a:ext cx="2468880" cy="384048"/>
          </a:xfrm>
          <a:prstGeom prst="rect">
            <a:avLst/>
          </a:prstGeom>
          <a:noFill/>
          <a:ln/>
        </p:spPr>
        <p:txBody>
          <a:bodyPr wrap="square" lIns="0" tIns="0" rIns="0" bIns="0" rtlCol="0" anchor="ctr"/>
          <a:lstStyle/>
          <a:p>
            <a:pPr indent="0" marL="0">
              <a:buNone/>
            </a:pPr>
            <a:r>
              <a:rPr lang="en-US" sz="1200" b="1" dirty="0">
                <a:solidFill>
                  <a:srgbClr val="B26B00"/>
                </a:solidFill>
                <a:latin typeface="Montserrat" pitchFamily="34" charset="0"/>
                <a:ea typeface="Montserrat" pitchFamily="34" charset="-122"/>
                <a:cs typeface="Montserrat" pitchFamily="34" charset="-120"/>
              </a:rPr>
              <a:t>Free-response task</a:t>
            </a:r>
            <a:endParaRPr lang="en-US" sz="1200" dirty="0"/>
          </a:p>
        </p:txBody>
      </p:sp>
      <p:sp>
        <p:nvSpPr>
          <p:cNvPr id="35" name="Text 33"/>
          <p:cNvSpPr txBox="1"/>
          <p:nvPr/>
        </p:nvSpPr>
        <p:spPr>
          <a:xfrm>
            <a:off x="3584448" y="4745736"/>
            <a:ext cx="8037576" cy="420624"/>
          </a:xfrm>
          <a:prstGeom prst="rect">
            <a:avLst/>
          </a:prstGeom>
          <a:noFill/>
          <a:ln/>
        </p:spPr>
        <p:txBody>
          <a:bodyPr wrap="square" lIns="0" tIns="0" rIns="0" bIns="0" rtlCol="0" anchor="ctr"/>
          <a:lstStyle/>
          <a:p>
            <a:pPr indent="0" marL="0">
              <a:lnSpc>
                <a:spcPct val="100000"/>
              </a:lnSpc>
              <a:buNone/>
            </a:pPr>
            <a:r>
              <a:rPr lang="en-US" sz="1200" dirty="0">
                <a:solidFill>
                  <a:srgbClr val="1B2333"/>
                </a:solidFill>
                <a:latin typeface="Calibri" pitchFamily="34" charset="0"/>
                <a:ea typeface="Calibri" pitchFamily="34" charset="-122"/>
                <a:cs typeface="Calibri" pitchFamily="34" charset="-120"/>
              </a:rPr>
              <a:t>Write the incident summary for your team. Scored against the expert's rubric.</a:t>
            </a:r>
            <a:endParaRPr lang="en-US" sz="1200" dirty="0"/>
          </a:p>
        </p:txBody>
      </p:sp>
      <p:sp>
        <p:nvSpPr>
          <p:cNvPr id="36" name="Shape 34"/>
          <p:cNvSpPr/>
          <p:nvPr/>
        </p:nvSpPr>
        <p:spPr>
          <a:xfrm>
            <a:off x="566928" y="5376672"/>
            <a:ext cx="310896" cy="310896"/>
          </a:xfrm>
          <a:prstGeom prst="ellipse">
            <a:avLst/>
          </a:prstGeom>
          <a:solidFill>
            <a:srgbClr val="003BA3"/>
          </a:solidFill>
          <a:ln/>
        </p:spPr>
      </p:sp>
      <p:sp>
        <p:nvSpPr>
          <p:cNvPr id="37" name="Text 35"/>
          <p:cNvSpPr txBox="1"/>
          <p:nvPr/>
        </p:nvSpPr>
        <p:spPr>
          <a:xfrm>
            <a:off x="566928" y="5376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7</a:t>
            </a:r>
            <a:endParaRPr lang="en-US" sz="1100" dirty="0"/>
          </a:p>
        </p:txBody>
      </p:sp>
      <p:sp>
        <p:nvSpPr>
          <p:cNvPr id="38" name="Text 36"/>
          <p:cNvSpPr txBox="1"/>
          <p:nvPr/>
        </p:nvSpPr>
        <p:spPr>
          <a:xfrm>
            <a:off x="1024128" y="5340096"/>
            <a:ext cx="2468880" cy="384048"/>
          </a:xfrm>
          <a:prstGeom prst="rect">
            <a:avLst/>
          </a:prstGeom>
          <a:noFill/>
          <a:ln/>
        </p:spPr>
        <p:txBody>
          <a:bodyPr wrap="square" lIns="0" tIns="0" rIns="0" bIns="0" rtlCol="0" anchor="ctr"/>
          <a:lstStyle/>
          <a:p>
            <a:pPr indent="0" marL="0">
              <a:buNone/>
            </a:pPr>
            <a:r>
              <a:rPr lang="en-US" sz="1200" b="1" dirty="0">
                <a:solidFill>
                  <a:srgbClr val="003BA3"/>
                </a:solidFill>
                <a:latin typeface="Montserrat" pitchFamily="34" charset="0"/>
                <a:ea typeface="Montserrat" pitchFamily="34" charset="-122"/>
                <a:cs typeface="Montserrat" pitchFamily="34" charset="-120"/>
              </a:rPr>
              <a:t>Result</a:t>
            </a:r>
            <a:endParaRPr lang="en-US" sz="1200" dirty="0"/>
          </a:p>
        </p:txBody>
      </p:sp>
      <p:sp>
        <p:nvSpPr>
          <p:cNvPr id="39" name="Text 37"/>
          <p:cNvSpPr txBox="1"/>
          <p:nvPr/>
        </p:nvSpPr>
        <p:spPr>
          <a:xfrm>
            <a:off x="3584448" y="5321808"/>
            <a:ext cx="8037576" cy="420624"/>
          </a:xfrm>
          <a:prstGeom prst="rect">
            <a:avLst/>
          </a:prstGeom>
          <a:noFill/>
          <a:ln/>
        </p:spPr>
        <p:txBody>
          <a:bodyPr wrap="square" lIns="0" tIns="0" rIns="0" bIns="0" rtlCol="0" anchor="ctr"/>
          <a:lstStyle/>
          <a:p>
            <a:pPr indent="0" marL="0">
              <a:lnSpc>
                <a:spcPct val="100000"/>
              </a:lnSpc>
              <a:buNone/>
            </a:pPr>
            <a:r>
              <a:rPr lang="en-US" sz="1200" dirty="0">
                <a:solidFill>
                  <a:srgbClr val="1B2333"/>
                </a:solidFill>
                <a:latin typeface="Calibri" pitchFamily="34" charset="0"/>
                <a:ea typeface="Calibri" pitchFamily="34" charset="-122"/>
                <a:cs typeface="Calibri" pitchFamily="34" charset="-120"/>
              </a:rPr>
              <a:t>Score, response-specific feedback, competencies evidenced (debugging, communication), and credit toward the next level.</a:t>
            </a:r>
            <a:endParaRPr lang="en-US" sz="1200" dirty="0"/>
          </a:p>
        </p:txBody>
      </p:sp>
      <p:sp>
        <p:nvSpPr>
          <p:cNvPr id="40" name="Shape 38"/>
          <p:cNvSpPr/>
          <p:nvPr/>
        </p:nvSpPr>
        <p:spPr>
          <a:xfrm>
            <a:off x="566928" y="5980176"/>
            <a:ext cx="11055096" cy="566928"/>
          </a:xfrm>
          <a:prstGeom prst="roundRect">
            <a:avLst>
              <a:gd name="adj" fmla="val 9677"/>
            </a:avLst>
          </a:prstGeom>
          <a:solidFill>
            <a:srgbClr val="E4EBFA"/>
          </a:solidFill>
          <a:ln/>
        </p:spPr>
      </p:sp>
      <p:sp>
        <p:nvSpPr>
          <p:cNvPr id="41" name="Text 39"/>
          <p:cNvSpPr txBox="1"/>
          <p:nvPr/>
        </p:nvSpPr>
        <p:spPr>
          <a:xfrm>
            <a:off x="841248" y="5980176"/>
            <a:ext cx="10506456" cy="566928"/>
          </a:xfrm>
          <a:prstGeom prst="rect">
            <a:avLst/>
          </a:prstGeom>
          <a:noFill/>
          <a:ln/>
        </p:spPr>
        <p:txBody>
          <a:bodyPr wrap="square" lIns="0" tIns="0" rIns="0" bIns="0" rtlCol="0" anchor="ctr"/>
          <a:lstStyle/>
          <a:p>
            <a:pPr indent="0" marL="0">
              <a:buNone/>
            </a:pPr>
            <a:r>
              <a:rPr lang="en-US" sz="1250" b="1" dirty="0">
                <a:solidFill>
                  <a:srgbClr val="003BA3"/>
                </a:solidFill>
                <a:latin typeface="Calibri" pitchFamily="34" charset="0"/>
                <a:ea typeface="Calibri" pitchFamily="34" charset="-122"/>
                <a:cs typeface="Calibri" pitchFamily="34" charset="-120"/>
              </a:rPr>
              <a:t>Only the free-response step is a research risk. That is what research problem RP-2 is about.</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RULES, NOT PREFERENCES</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Nine business rules, and where each comes from</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Several are not product decisions at all — they are Chapter 2 findings made operational.</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847088"/>
          <a:ext cx="11055096" cy="914400"/>
        </p:xfrm>
        <a:graphic>
          <a:graphicData uri="http://schemas.openxmlformats.org/drawingml/2006/table">
            <a:tbl>
              <a:tblPr/>
              <a:tblGrid>
                <a:gridCol w="1051560"/>
                <a:gridCol w="777240"/>
                <a:gridCol w="5852160"/>
                <a:gridCol w="3374136"/>
              </a:tblGrid>
              <a:tr h="411480">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Band</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Rule</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What it requires</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Where it comes from</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411480">
                <a:tc>
                  <a:txBody>
                    <a:bodyPr/>
                    <a:lstStyle/>
                    <a:p>
                      <a:pPr algn="ctr" indent="0" marL="0">
                        <a:buNone/>
                      </a:pPr>
                      <a:r>
                        <a:rPr lang="en-US" sz="1000" b="1" dirty="0">
                          <a:solidFill>
                            <a:srgbClr val="003BA3"/>
                          </a:solidFill>
                          <a:latin typeface="Montserrat" pitchFamily="34" charset="0"/>
                          <a:ea typeface="Montserrat" pitchFamily="34" charset="-122"/>
                          <a:cs typeface="Montserrat" pitchFamily="34" charset="-120"/>
                        </a:rPr>
                        <a:t>Progression</a:t>
                      </a:r>
                      <a:endParaRPr lang="en-US" sz="10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4A8CFF"/>
                          </a:solidFill>
                          <a:latin typeface="Montserrat" pitchFamily="34" charset="0"/>
                          <a:ea typeface="Montserrat" pitchFamily="34" charset="-122"/>
                          <a:cs typeface="Montserrat" pitchFamily="34" charset="-120"/>
                        </a:rPr>
                        <a:t>BR-01</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Every occupation's entry level is accessible without prerequisite</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Exploration is the purpose; gating discovery defeats it</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11480">
                <a:tc>
                  <a:txBody>
                    <a:bodyPr/>
                    <a:lstStyle/>
                    <a:p>
                      <a:pPr algn="ctr" indent="0" marL="0">
                        <a:buNone/>
                      </a:pPr>
                      <a:endParaRPr lang="en-US" sz="10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4A8CFF"/>
                          </a:solidFill>
                          <a:latin typeface="Montserrat" pitchFamily="34" charset="0"/>
                          <a:ea typeface="Montserrat" pitchFamily="34" charset="-122"/>
                          <a:cs typeface="Montserrat" pitchFamily="34" charset="-120"/>
                        </a:rPr>
                        <a:t>BR-02</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Higher levels require the specified competence credit</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Competency-based progression (§2.2)</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11480">
                <a:tc>
                  <a:txBody>
                    <a:bodyPr/>
                    <a:lstStyle/>
                    <a:p>
                      <a:pPr algn="ctr" indent="0" marL="0">
                        <a:buNone/>
                      </a:pPr>
                      <a:endParaRPr lang="en-US" sz="10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4A8CFF"/>
                          </a:solidFill>
                          <a:latin typeface="Montserrat" pitchFamily="34" charset="0"/>
                          <a:ea typeface="Montserrat" pitchFamily="34" charset="-122"/>
                          <a:cs typeface="Montserrat" pitchFamily="34" charset="-120"/>
                        </a:rPr>
                        <a:t>BR-03</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Entry to an adjacent occupation requires demonstrated competencies overlapping its entry requirements</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Occupational taxonomy (§2.2, §2.6)</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B7F4B"/>
                          </a:solidFill>
                          <a:latin typeface="Montserrat" pitchFamily="34" charset="0"/>
                          <a:ea typeface="Montserrat" pitchFamily="34" charset="-122"/>
                          <a:cs typeface="Montserrat" pitchFamily="34" charset="-120"/>
                        </a:rPr>
                        <a:t>Integrity</a:t>
                      </a:r>
                      <a:endParaRPr lang="en-US" sz="10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4A8CFF"/>
                          </a:solidFill>
                          <a:latin typeface="Montserrat" pitchFamily="34" charset="0"/>
                          <a:ea typeface="Montserrat" pitchFamily="34" charset="-122"/>
                          <a:cs typeface="Montserrat" pitchFamily="34" charset="-120"/>
                        </a:rPr>
                        <a:t>BR-04</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Only a user who has completed an occupation may rate it</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Rating validity</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11480">
                <a:tc>
                  <a:txBody>
                    <a:bodyPr/>
                    <a:lstStyle/>
                    <a:p>
                      <a:pPr algn="ctr" indent="0" marL="0">
                        <a:buNone/>
                      </a:pPr>
                      <a:endParaRPr lang="en-US" sz="10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4A8CFF"/>
                          </a:solidFill>
                          <a:latin typeface="Montserrat" pitchFamily="34" charset="0"/>
                          <a:ea typeface="Montserrat" pitchFamily="34" charset="-122"/>
                          <a:cs typeface="Montserrat" pitchFamily="34" charset="-120"/>
                        </a:rPr>
                        <a:t>BR-05</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No seed or rubric is published without domain-expert validation</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Authoring literature (§2.5)</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11480">
                <a:tc>
                  <a:txBody>
                    <a:bodyPr/>
                    <a:lstStyle/>
                    <a:p>
                      <a:pPr algn="ctr" indent="0" marL="0">
                        <a:buNone/>
                      </a:pPr>
                      <a:endParaRPr lang="en-US" sz="10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4A8CFF"/>
                          </a:solidFill>
                          <a:latin typeface="Montserrat" pitchFamily="34" charset="0"/>
                          <a:ea typeface="Montserrat" pitchFamily="34" charset="-122"/>
                          <a:cs typeface="Montserrat" pitchFamily="34" charset="-120"/>
                        </a:rPr>
                        <a:t>BR-09</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The automated assessor must be drawn from a different model family than the generator</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Self-preference bias (§2.5)</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B26B00"/>
                          </a:solidFill>
                          <a:latin typeface="Montserrat" pitchFamily="34" charset="0"/>
                          <a:ea typeface="Montserrat" pitchFamily="34" charset="-122"/>
                          <a:cs typeface="Montserrat" pitchFamily="34" charset="-120"/>
                        </a:rPr>
                        <a:t>Ethics</a:t>
                      </a:r>
                      <a:endParaRPr lang="en-US" sz="10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4A8CFF"/>
                          </a:solidFill>
                          <a:latin typeface="Montserrat" pitchFamily="34" charset="0"/>
                          <a:ea typeface="Montserrat" pitchFamily="34" charset="-122"/>
                          <a:cs typeface="Montserrat" pitchFamily="34" charset="-120"/>
                        </a:rPr>
                        <a:t>BR-06</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Assessment is formative: never transmitted to employers, never determining access to any external opportunity</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Responsibility considerations (§2.7)</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11480">
                <a:tc>
                  <a:txBody>
                    <a:bodyPr/>
                    <a:lstStyle/>
                    <a:p>
                      <a:pPr algn="ctr" indent="0" marL="0">
                        <a:buNone/>
                      </a:pPr>
                      <a:endParaRPr lang="en-US" sz="10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4A8CFF"/>
                          </a:solidFill>
                          <a:latin typeface="Montserrat" pitchFamily="34" charset="0"/>
                          <a:ea typeface="Montserrat" pitchFamily="34" charset="-122"/>
                          <a:cs typeface="Montserrat" pitchFamily="34" charset="-120"/>
                        </a:rPr>
                        <a:t>BR-07</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Occupational representation must include the unfavourable aspects of the work</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Realistic job preview evidence (§2.1)</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411480">
                <a:tc>
                  <a:txBody>
                    <a:bodyPr/>
                    <a:lstStyle/>
                    <a:p>
                      <a:pPr algn="ctr" indent="0" marL="0">
                        <a:buNone/>
                      </a:pPr>
                      <a:endParaRPr lang="en-US" sz="10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4A8CFF"/>
                          </a:solidFill>
                          <a:latin typeface="Montserrat" pitchFamily="34" charset="0"/>
                          <a:ea typeface="Montserrat" pitchFamily="34" charset="-122"/>
                          <a:cs typeface="Montserrat" pitchFamily="34" charset="-120"/>
                        </a:rPr>
                        <a:t>BR-08</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Statistics derived from user performance are published only in aggregate</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Responsibility considerations (§2.7)</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OBLIGATIONS, NOT AFTERTHOUGHTS</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Responsibility, and the policies that follow</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Each obligation is already a rule or a requirement, not a paragraph of intent.</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Detailed processing policies, including third-party model providers, are specified in §5.3.10 of the report.</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22</a:t>
            </a:r>
            <a:endParaRPr lang="en-US" sz="1000" dirty="0"/>
          </a:p>
        </p:txBody>
      </p:sp>
      <p:sp>
        <p:nvSpPr>
          <p:cNvPr id="7" name="Shape 5"/>
          <p:cNvSpPr/>
          <p:nvPr/>
        </p:nvSpPr>
        <p:spPr>
          <a:xfrm>
            <a:off x="566928" y="1847088"/>
            <a:ext cx="3526536" cy="3931920"/>
          </a:xfrm>
          <a:prstGeom prst="roundRect">
            <a:avLst>
              <a:gd name="adj" fmla="val 2074"/>
            </a:avLst>
          </a:prstGeom>
          <a:solidFill>
            <a:srgbClr val="F2F6FD"/>
          </a:solidFill>
          <a:ln/>
        </p:spPr>
      </p:sp>
      <p:sp>
        <p:nvSpPr>
          <p:cNvPr id="8" name="Shape 6"/>
          <p:cNvSpPr/>
          <p:nvPr/>
        </p:nvSpPr>
        <p:spPr>
          <a:xfrm>
            <a:off x="786384" y="2029968"/>
            <a:ext cx="310896" cy="310896"/>
          </a:xfrm>
          <a:prstGeom prst="ellipse">
            <a:avLst/>
          </a:prstGeom>
          <a:solidFill>
            <a:srgbClr val="003BA3"/>
          </a:solidFill>
          <a:ln/>
        </p:spPr>
      </p:sp>
      <p:sp>
        <p:nvSpPr>
          <p:cNvPr id="9" name="Text 7"/>
          <p:cNvSpPr txBox="1"/>
          <p:nvPr/>
        </p:nvSpPr>
        <p:spPr>
          <a:xfrm>
            <a:off x="786384" y="20299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1</a:t>
            </a:r>
            <a:endParaRPr lang="en-US" sz="1100" dirty="0"/>
          </a:p>
        </p:txBody>
      </p:sp>
      <p:sp>
        <p:nvSpPr>
          <p:cNvPr id="10" name="Text 8"/>
          <p:cNvSpPr txBox="1"/>
          <p:nvPr/>
        </p:nvSpPr>
        <p:spPr>
          <a:xfrm>
            <a:off x="786384" y="2432304"/>
            <a:ext cx="3087624" cy="493776"/>
          </a:xfrm>
          <a:prstGeom prst="rect">
            <a:avLst/>
          </a:prstGeom>
          <a:noFill/>
          <a:ln/>
        </p:spPr>
        <p:txBody>
          <a:bodyPr wrap="square" lIns="0" tIns="0" rIns="0" bIns="0" rtlCol="0" anchor="ctr"/>
          <a:lstStyle/>
          <a:p>
            <a:pPr indent="0" marL="0">
              <a:lnSpc>
                <a:spcPct val="100000"/>
              </a:lnSpc>
              <a:buNone/>
            </a:pPr>
            <a:r>
              <a:rPr lang="en-US" sz="1250" b="1" dirty="0">
                <a:solidFill>
                  <a:srgbClr val="003BA3"/>
                </a:solidFill>
                <a:latin typeface="Montserrat" pitchFamily="34" charset="0"/>
                <a:ea typeface="Montserrat" pitchFamily="34" charset="-122"/>
                <a:cs typeface="Montserrat" pitchFamily="34" charset="-120"/>
              </a:rPr>
              <a:t>Data protection for young users</a:t>
            </a:r>
            <a:endParaRPr lang="en-US" sz="1250" dirty="0"/>
          </a:p>
        </p:txBody>
      </p:sp>
      <p:sp>
        <p:nvSpPr>
          <p:cNvPr id="11" name="Text 9"/>
          <p:cNvSpPr txBox="1"/>
          <p:nvPr/>
        </p:nvSpPr>
        <p:spPr>
          <a:xfrm>
            <a:off x="786384" y="2944368"/>
            <a:ext cx="3087624" cy="1517904"/>
          </a:xfrm>
          <a:prstGeom prst="rect">
            <a:avLst/>
          </a:prstGeom>
          <a:noFill/>
          <a:ln/>
        </p:spPr>
        <p:txBody>
          <a:bodyPr wrap="square" lIns="0" tIns="0" rIns="0" bIns="0" rtlCol="0" anchor="ctr"/>
          <a:lstStyle/>
          <a:p>
            <a:pPr indent="0" marL="0">
              <a:lnSpc>
                <a:spcPct val="102000"/>
              </a:lnSpc>
              <a:buNone/>
            </a:pPr>
            <a:r>
              <a:rPr lang="en-US" sz="1050" dirty="0">
                <a:solidFill>
                  <a:srgbClr val="1B2333"/>
                </a:solidFill>
                <a:latin typeface="Calibri" pitchFamily="34" charset="0"/>
                <a:ea typeface="Calibri" pitchFamily="34" charset="-122"/>
                <a:cs typeface="Calibri" pitchFamily="34" charset="-120"/>
              </a:rPr>
              <a:t>The system processes behavioural and performance data of individuals who may be minors, engaging Vietnam's personal data protection regime and comparable frameworks elsewhere. Aggregate presentations carry a residual privacy surface.</a:t>
            </a:r>
            <a:endParaRPr lang="en-US" sz="1050" dirty="0"/>
          </a:p>
        </p:txBody>
      </p:sp>
      <p:sp>
        <p:nvSpPr>
          <p:cNvPr id="12" name="Shape 10"/>
          <p:cNvSpPr/>
          <p:nvPr/>
        </p:nvSpPr>
        <p:spPr>
          <a:xfrm>
            <a:off x="713232" y="4572000"/>
            <a:ext cx="3233928" cy="1042416"/>
          </a:xfrm>
          <a:prstGeom prst="roundRect">
            <a:avLst>
              <a:gd name="adj" fmla="val 4386"/>
            </a:avLst>
          </a:prstGeom>
          <a:solidFill>
            <a:srgbClr val="FFFFFF"/>
          </a:solidFill>
          <a:ln/>
        </p:spPr>
      </p:sp>
      <p:sp>
        <p:nvSpPr>
          <p:cNvPr id="13" name="Text 11"/>
          <p:cNvSpPr txBox="1"/>
          <p:nvPr/>
        </p:nvSpPr>
        <p:spPr>
          <a:xfrm>
            <a:off x="841248" y="4645152"/>
            <a:ext cx="2977896" cy="914400"/>
          </a:xfrm>
          <a:prstGeom prst="rect">
            <a:avLst/>
          </a:prstGeom>
          <a:noFill/>
          <a:ln/>
        </p:spPr>
        <p:txBody>
          <a:bodyPr wrap="square" lIns="0" tIns="0" rIns="0" bIns="0" rtlCol="0" anchor="t"/>
          <a:lstStyle/>
          <a:p>
            <a:pPr indent="0" marL="0">
              <a:lnSpc>
                <a:spcPct val="100000"/>
              </a:lnSpc>
              <a:buNone/>
            </a:pPr>
            <a:r>
              <a:rPr lang="en-US" sz="1000" b="1" dirty="0">
                <a:solidFill>
                  <a:srgbClr val="003BA3"/>
                </a:solidFill>
                <a:latin typeface="Montserrat" pitchFamily="34" charset="0"/>
                <a:ea typeface="Montserrat" pitchFamily="34" charset="-122"/>
                <a:cs typeface="Montserrat" pitchFamily="34" charset="-120"/>
              </a:rPr>
              <a:t>Policy.  </a:t>
            </a:r>
            <a:pPr indent="0" marL="0">
              <a:lnSpc>
                <a:spcPct val="100000"/>
              </a:lnSpc>
              <a:buNone/>
            </a:pPr>
            <a:r>
              <a:rPr lang="en-US" sz="1000" dirty="0">
                <a:solidFill>
                  <a:srgbClr val="1B2333"/>
                </a:solidFill>
                <a:latin typeface="Calibri" pitchFamily="34" charset="0"/>
                <a:ea typeface="Calibri" pitchFamily="34" charset="-122"/>
                <a:cs typeface="Calibri" pitchFamily="34" charset="-120"/>
              </a:rPr>
              <a:t>Data minimisation (NFR-05) · aggregate-only publication with suppression thresholds so small populations cannot be de-anonymised (BR-08, NFR-06)</a:t>
            </a:r>
            <a:endParaRPr lang="en-US" sz="1000" dirty="0"/>
          </a:p>
        </p:txBody>
      </p:sp>
      <p:sp>
        <p:nvSpPr>
          <p:cNvPr id="14" name="Shape 12"/>
          <p:cNvSpPr/>
          <p:nvPr/>
        </p:nvSpPr>
        <p:spPr>
          <a:xfrm>
            <a:off x="4331208" y="1847088"/>
            <a:ext cx="3526536" cy="3931920"/>
          </a:xfrm>
          <a:prstGeom prst="roundRect">
            <a:avLst>
              <a:gd name="adj" fmla="val 2074"/>
            </a:avLst>
          </a:prstGeom>
          <a:solidFill>
            <a:srgbClr val="F2F6FD"/>
          </a:solidFill>
          <a:ln/>
        </p:spPr>
      </p:sp>
      <p:sp>
        <p:nvSpPr>
          <p:cNvPr id="15" name="Shape 13"/>
          <p:cNvSpPr/>
          <p:nvPr/>
        </p:nvSpPr>
        <p:spPr>
          <a:xfrm>
            <a:off x="4550664" y="2029968"/>
            <a:ext cx="310896" cy="310896"/>
          </a:xfrm>
          <a:prstGeom prst="ellipse">
            <a:avLst/>
          </a:prstGeom>
          <a:solidFill>
            <a:srgbClr val="003BA3"/>
          </a:solidFill>
          <a:ln/>
        </p:spPr>
      </p:sp>
      <p:sp>
        <p:nvSpPr>
          <p:cNvPr id="16" name="Text 14"/>
          <p:cNvSpPr txBox="1"/>
          <p:nvPr/>
        </p:nvSpPr>
        <p:spPr>
          <a:xfrm>
            <a:off x="4550664" y="20299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2</a:t>
            </a:r>
            <a:endParaRPr lang="en-US" sz="1100" dirty="0"/>
          </a:p>
        </p:txBody>
      </p:sp>
      <p:sp>
        <p:nvSpPr>
          <p:cNvPr id="17" name="Text 15"/>
          <p:cNvSpPr txBox="1"/>
          <p:nvPr/>
        </p:nvSpPr>
        <p:spPr>
          <a:xfrm>
            <a:off x="4550664" y="2432304"/>
            <a:ext cx="3087624" cy="493776"/>
          </a:xfrm>
          <a:prstGeom prst="rect">
            <a:avLst/>
          </a:prstGeom>
          <a:noFill/>
          <a:ln/>
        </p:spPr>
        <p:txBody>
          <a:bodyPr wrap="square" lIns="0" tIns="0" rIns="0" bIns="0" rtlCol="0" anchor="ctr"/>
          <a:lstStyle/>
          <a:p>
            <a:pPr indent="0" marL="0">
              <a:lnSpc>
                <a:spcPct val="100000"/>
              </a:lnSpc>
              <a:buNone/>
            </a:pPr>
            <a:r>
              <a:rPr lang="en-US" sz="1250" b="1" dirty="0">
                <a:solidFill>
                  <a:srgbClr val="003BA3"/>
                </a:solidFill>
                <a:latin typeface="Montserrat" pitchFamily="34" charset="0"/>
                <a:ea typeface="Montserrat" pitchFamily="34" charset="-122"/>
                <a:cs typeface="Montserrat" pitchFamily="34" charset="-120"/>
              </a:rPr>
              <a:t>Fairness in automated assessment</a:t>
            </a:r>
            <a:endParaRPr lang="en-US" sz="1250" dirty="0"/>
          </a:p>
        </p:txBody>
      </p:sp>
      <p:sp>
        <p:nvSpPr>
          <p:cNvPr id="18" name="Text 16"/>
          <p:cNvSpPr txBox="1"/>
          <p:nvPr/>
        </p:nvSpPr>
        <p:spPr>
          <a:xfrm>
            <a:off x="4550664" y="2944368"/>
            <a:ext cx="3087624" cy="1517904"/>
          </a:xfrm>
          <a:prstGeom prst="rect">
            <a:avLst/>
          </a:prstGeom>
          <a:noFill/>
          <a:ln/>
        </p:spPr>
        <p:txBody>
          <a:bodyPr wrap="square" lIns="0" tIns="0" rIns="0" bIns="0" rtlCol="0" anchor="ctr"/>
          <a:lstStyle/>
          <a:p>
            <a:pPr indent="0" marL="0">
              <a:lnSpc>
                <a:spcPct val="102000"/>
              </a:lnSpc>
              <a:buNone/>
            </a:pPr>
            <a:r>
              <a:rPr lang="en-US" sz="1050" dirty="0">
                <a:solidFill>
                  <a:srgbClr val="1B2333"/>
                </a:solidFill>
                <a:latin typeface="Calibri" pitchFamily="34" charset="0"/>
                <a:ea typeface="Calibri" pitchFamily="34" charset="-122"/>
                <a:cs typeface="Calibri" pitchFamily="34" charset="-120"/>
              </a:rPr>
              <a:t>An automated judgment may influence a user's estimation of their own capability, so evaluator bias is a fairness concern and not only an accuracy one. Chance-corrected validation, cross-family evaluation and rubric anchoring function as fairness safeguards.</a:t>
            </a:r>
            <a:endParaRPr lang="en-US" sz="1050" dirty="0"/>
          </a:p>
        </p:txBody>
      </p:sp>
      <p:sp>
        <p:nvSpPr>
          <p:cNvPr id="19" name="Shape 17"/>
          <p:cNvSpPr/>
          <p:nvPr/>
        </p:nvSpPr>
        <p:spPr>
          <a:xfrm>
            <a:off x="4477512" y="4572000"/>
            <a:ext cx="3233928" cy="1042416"/>
          </a:xfrm>
          <a:prstGeom prst="roundRect">
            <a:avLst>
              <a:gd name="adj" fmla="val 4386"/>
            </a:avLst>
          </a:prstGeom>
          <a:solidFill>
            <a:srgbClr val="FFFFFF"/>
          </a:solidFill>
          <a:ln/>
        </p:spPr>
      </p:sp>
      <p:sp>
        <p:nvSpPr>
          <p:cNvPr id="20" name="Text 18"/>
          <p:cNvSpPr txBox="1"/>
          <p:nvPr/>
        </p:nvSpPr>
        <p:spPr>
          <a:xfrm>
            <a:off x="4605528" y="4645152"/>
            <a:ext cx="2977896" cy="914400"/>
          </a:xfrm>
          <a:prstGeom prst="rect">
            <a:avLst/>
          </a:prstGeom>
          <a:noFill/>
          <a:ln/>
        </p:spPr>
        <p:txBody>
          <a:bodyPr wrap="square" lIns="0" tIns="0" rIns="0" bIns="0" rtlCol="0" anchor="t"/>
          <a:lstStyle/>
          <a:p>
            <a:pPr indent="0" marL="0">
              <a:lnSpc>
                <a:spcPct val="100000"/>
              </a:lnSpc>
              <a:buNone/>
            </a:pPr>
            <a:r>
              <a:rPr lang="en-US" sz="1000" b="1" dirty="0">
                <a:solidFill>
                  <a:srgbClr val="003BA3"/>
                </a:solidFill>
                <a:latin typeface="Montserrat" pitchFamily="34" charset="0"/>
                <a:ea typeface="Montserrat" pitchFamily="34" charset="-122"/>
                <a:cs typeface="Montserrat" pitchFamily="34" charset="-120"/>
              </a:rPr>
              <a:t>Policy.  </a:t>
            </a:r>
            <a:pPr indent="0" marL="0">
              <a:lnSpc>
                <a:spcPct val="100000"/>
              </a:lnSpc>
              <a:buNone/>
            </a:pPr>
            <a:r>
              <a:rPr lang="en-US" sz="1000" dirty="0">
                <a:solidFill>
                  <a:srgbClr val="1B2333"/>
                </a:solidFill>
                <a:latin typeface="Calibri" pitchFamily="34" charset="0"/>
                <a:ea typeface="Calibri" pitchFamily="34" charset="-122"/>
                <a:cs typeface="Calibri" pitchFamily="34" charset="-120"/>
              </a:rPr>
              <a:t>Formative-use limitation (BR-06) keeps consequences proportionate to the reliability the method currently supports</a:t>
            </a:r>
            <a:endParaRPr lang="en-US" sz="1000" dirty="0"/>
          </a:p>
        </p:txBody>
      </p:sp>
      <p:sp>
        <p:nvSpPr>
          <p:cNvPr id="21" name="Shape 19"/>
          <p:cNvSpPr/>
          <p:nvPr/>
        </p:nvSpPr>
        <p:spPr>
          <a:xfrm>
            <a:off x="8095488" y="1847088"/>
            <a:ext cx="3526536" cy="3931920"/>
          </a:xfrm>
          <a:prstGeom prst="roundRect">
            <a:avLst>
              <a:gd name="adj" fmla="val 2074"/>
            </a:avLst>
          </a:prstGeom>
          <a:solidFill>
            <a:srgbClr val="F2F6FD"/>
          </a:solidFill>
          <a:ln/>
        </p:spPr>
      </p:sp>
      <p:sp>
        <p:nvSpPr>
          <p:cNvPr id="22" name="Shape 20"/>
          <p:cNvSpPr/>
          <p:nvPr/>
        </p:nvSpPr>
        <p:spPr>
          <a:xfrm>
            <a:off x="8314944" y="2029968"/>
            <a:ext cx="310896" cy="310896"/>
          </a:xfrm>
          <a:prstGeom prst="ellipse">
            <a:avLst/>
          </a:prstGeom>
          <a:solidFill>
            <a:srgbClr val="003BA3"/>
          </a:solidFill>
          <a:ln/>
        </p:spPr>
      </p:sp>
      <p:sp>
        <p:nvSpPr>
          <p:cNvPr id="23" name="Text 21"/>
          <p:cNvSpPr txBox="1"/>
          <p:nvPr/>
        </p:nvSpPr>
        <p:spPr>
          <a:xfrm>
            <a:off x="8314944" y="20299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3</a:t>
            </a:r>
            <a:endParaRPr lang="en-US" sz="1100" dirty="0"/>
          </a:p>
        </p:txBody>
      </p:sp>
      <p:sp>
        <p:nvSpPr>
          <p:cNvPr id="24" name="Text 22"/>
          <p:cNvSpPr txBox="1"/>
          <p:nvPr/>
        </p:nvSpPr>
        <p:spPr>
          <a:xfrm>
            <a:off x="8314944" y="2432304"/>
            <a:ext cx="3087624" cy="493776"/>
          </a:xfrm>
          <a:prstGeom prst="rect">
            <a:avLst/>
          </a:prstGeom>
          <a:noFill/>
          <a:ln/>
        </p:spPr>
        <p:txBody>
          <a:bodyPr wrap="square" lIns="0" tIns="0" rIns="0" bIns="0" rtlCol="0" anchor="ctr"/>
          <a:lstStyle/>
          <a:p>
            <a:pPr indent="0" marL="0">
              <a:lnSpc>
                <a:spcPct val="100000"/>
              </a:lnSpc>
              <a:buNone/>
            </a:pPr>
            <a:r>
              <a:rPr lang="en-US" sz="1250" b="1" dirty="0">
                <a:solidFill>
                  <a:srgbClr val="003BA3"/>
                </a:solidFill>
                <a:latin typeface="Montserrat" pitchFamily="34" charset="0"/>
                <a:ea typeface="Montserrat" pitchFamily="34" charset="-122"/>
                <a:cs typeface="Montserrat" pitchFamily="34" charset="-120"/>
              </a:rPr>
              <a:t>Accuracy of occupational representation</a:t>
            </a:r>
            <a:endParaRPr lang="en-US" sz="1250" dirty="0"/>
          </a:p>
        </p:txBody>
      </p:sp>
      <p:sp>
        <p:nvSpPr>
          <p:cNvPr id="25" name="Text 23"/>
          <p:cNvSpPr txBox="1"/>
          <p:nvPr/>
        </p:nvSpPr>
        <p:spPr>
          <a:xfrm>
            <a:off x="8314944" y="2944368"/>
            <a:ext cx="3087624" cy="1517904"/>
          </a:xfrm>
          <a:prstGeom prst="rect">
            <a:avLst/>
          </a:prstGeom>
          <a:noFill/>
          <a:ln/>
        </p:spPr>
        <p:txBody>
          <a:bodyPr wrap="square" lIns="0" tIns="0" rIns="0" bIns="0" rtlCol="0" anchor="ctr"/>
          <a:lstStyle/>
          <a:p>
            <a:pPr indent="0" marL="0">
              <a:lnSpc>
                <a:spcPct val="102000"/>
              </a:lnSpc>
              <a:buNone/>
            </a:pPr>
            <a:r>
              <a:rPr lang="en-US" sz="1050" dirty="0">
                <a:solidFill>
                  <a:srgbClr val="1B2333"/>
                </a:solidFill>
                <a:latin typeface="Calibri" pitchFamily="34" charset="0"/>
                <a:ea typeface="Calibri" pitchFamily="34" charset="-122"/>
                <a:cs typeface="Calibri" pitchFamily="34" charset="-120"/>
              </a:rPr>
              <a:t>Value depends on candid representation, and is undermined if representation is shaped by commercial interest.</a:t>
            </a:r>
            <a:endParaRPr lang="en-US" sz="1050" dirty="0"/>
          </a:p>
        </p:txBody>
      </p:sp>
      <p:sp>
        <p:nvSpPr>
          <p:cNvPr id="26" name="Shape 24"/>
          <p:cNvSpPr/>
          <p:nvPr/>
        </p:nvSpPr>
        <p:spPr>
          <a:xfrm>
            <a:off x="8241792" y="4572000"/>
            <a:ext cx="3233928" cy="1042416"/>
          </a:xfrm>
          <a:prstGeom prst="roundRect">
            <a:avLst>
              <a:gd name="adj" fmla="val 4386"/>
            </a:avLst>
          </a:prstGeom>
          <a:solidFill>
            <a:srgbClr val="FFFFFF"/>
          </a:solidFill>
          <a:ln/>
        </p:spPr>
      </p:sp>
      <p:sp>
        <p:nvSpPr>
          <p:cNvPr id="27" name="Text 25"/>
          <p:cNvSpPr txBox="1"/>
          <p:nvPr/>
        </p:nvSpPr>
        <p:spPr>
          <a:xfrm>
            <a:off x="8369808" y="4645152"/>
            <a:ext cx="2977896" cy="914400"/>
          </a:xfrm>
          <a:prstGeom prst="rect">
            <a:avLst/>
          </a:prstGeom>
          <a:noFill/>
          <a:ln/>
        </p:spPr>
        <p:txBody>
          <a:bodyPr wrap="square" lIns="0" tIns="0" rIns="0" bIns="0" rtlCol="0" anchor="t"/>
          <a:lstStyle/>
          <a:p>
            <a:pPr indent="0" marL="0">
              <a:lnSpc>
                <a:spcPct val="100000"/>
              </a:lnSpc>
              <a:buNone/>
            </a:pPr>
            <a:r>
              <a:rPr lang="en-US" sz="1000" b="1" dirty="0">
                <a:solidFill>
                  <a:srgbClr val="003BA3"/>
                </a:solidFill>
                <a:latin typeface="Montserrat" pitchFamily="34" charset="0"/>
                <a:ea typeface="Montserrat" pitchFamily="34" charset="-122"/>
                <a:cs typeface="Montserrat" pitchFamily="34" charset="-120"/>
              </a:rPr>
              <a:t>Policy.  </a:t>
            </a:r>
            <a:pPr indent="0" marL="0">
              <a:lnSpc>
                <a:spcPct val="100000"/>
              </a:lnSpc>
              <a:buNone/>
            </a:pPr>
            <a:r>
              <a:rPr lang="en-US" sz="1000" dirty="0">
                <a:solidFill>
                  <a:srgbClr val="1B2333"/>
                </a:solidFill>
                <a:latin typeface="Calibri" pitchFamily="34" charset="0"/>
                <a:ea typeface="Calibri" pitchFamily="34" charset="-122"/>
                <a:cs typeface="Calibri" pitchFamily="34" charset="-120"/>
              </a:rPr>
              <a:t>Provenance disclosure (NFR-07) — users are told scenarios are machine-generated from expert-authored material and assessments machine-produced · expert accountability sits with the validating domain expert, not the generating model</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WHAT WE ARE ACTUALLY RESEARCHING</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Five research problems</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RP-1 and RP-2 are the two the project stands or falls on.</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23</a:t>
            </a:r>
            <a:endParaRPr lang="en-US" sz="1000" dirty="0"/>
          </a:p>
        </p:txBody>
      </p:sp>
      <p:sp>
        <p:nvSpPr>
          <p:cNvPr id="6" name="Shape 4"/>
          <p:cNvSpPr/>
          <p:nvPr/>
        </p:nvSpPr>
        <p:spPr>
          <a:xfrm>
            <a:off x="566928" y="1847088"/>
            <a:ext cx="3526536" cy="2240280"/>
          </a:xfrm>
          <a:prstGeom prst="roundRect">
            <a:avLst>
              <a:gd name="adj" fmla="val 3265"/>
            </a:avLst>
          </a:prstGeom>
          <a:solidFill>
            <a:srgbClr val="E4EBFA"/>
          </a:solidFill>
          <a:ln w="6350">
            <a:solidFill>
              <a:srgbClr val="E4EBFA"/>
            </a:solidFill>
            <a:prstDash val="solid"/>
          </a:ln>
        </p:spPr>
      </p:sp>
      <p:sp>
        <p:nvSpPr>
          <p:cNvPr id="7" name="Shape 5"/>
          <p:cNvSpPr/>
          <p:nvPr/>
        </p:nvSpPr>
        <p:spPr>
          <a:xfrm>
            <a:off x="786384" y="2048256"/>
            <a:ext cx="329184" cy="329184"/>
          </a:xfrm>
          <a:prstGeom prst="ellipse">
            <a:avLst/>
          </a:prstGeom>
          <a:solidFill>
            <a:srgbClr val="003BA3"/>
          </a:solidFill>
          <a:ln/>
        </p:spPr>
      </p:sp>
      <p:sp>
        <p:nvSpPr>
          <p:cNvPr id="8" name="Text 6"/>
          <p:cNvSpPr txBox="1"/>
          <p:nvPr/>
        </p:nvSpPr>
        <p:spPr>
          <a:xfrm>
            <a:off x="786384" y="2048256"/>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RP-1</a:t>
            </a:r>
            <a:endParaRPr lang="en-US" sz="900" dirty="0"/>
          </a:p>
        </p:txBody>
      </p:sp>
      <p:sp>
        <p:nvSpPr>
          <p:cNvPr id="9" name="Text 7"/>
          <p:cNvSpPr txBox="1"/>
          <p:nvPr/>
        </p:nvSpPr>
        <p:spPr>
          <a:xfrm>
            <a:off x="786384" y="248716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Constrained generation</a:t>
            </a:r>
            <a:endParaRPr lang="en-US" sz="1300" dirty="0"/>
          </a:p>
        </p:txBody>
      </p:sp>
      <p:sp>
        <p:nvSpPr>
          <p:cNvPr id="10" name="Text 8"/>
          <p:cNvSpPr txBox="1"/>
          <p:nvPr/>
        </p:nvSpPr>
        <p:spPr>
          <a:xfrm>
            <a:off x="786384" y="2980944"/>
            <a:ext cx="3087624" cy="94183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Given an expert seed of required facts and target competencies, how should generation be constrained so scenarios stay occupationally accurate and keep eliciting the targets?</a:t>
            </a:r>
            <a:endParaRPr lang="en-US" sz="1100" dirty="0"/>
          </a:p>
        </p:txBody>
      </p:sp>
      <p:sp>
        <p:nvSpPr>
          <p:cNvPr id="11" name="Shape 9"/>
          <p:cNvSpPr/>
          <p:nvPr/>
        </p:nvSpPr>
        <p:spPr>
          <a:xfrm>
            <a:off x="4331208" y="1847088"/>
            <a:ext cx="3526536" cy="2240280"/>
          </a:xfrm>
          <a:prstGeom prst="roundRect">
            <a:avLst>
              <a:gd name="adj" fmla="val 3265"/>
            </a:avLst>
          </a:prstGeom>
          <a:solidFill>
            <a:srgbClr val="E4EBFA"/>
          </a:solidFill>
          <a:ln w="6350">
            <a:solidFill>
              <a:srgbClr val="E4EBFA"/>
            </a:solidFill>
            <a:prstDash val="solid"/>
          </a:ln>
        </p:spPr>
      </p:sp>
      <p:sp>
        <p:nvSpPr>
          <p:cNvPr id="12" name="Shape 10"/>
          <p:cNvSpPr/>
          <p:nvPr/>
        </p:nvSpPr>
        <p:spPr>
          <a:xfrm>
            <a:off x="4550664" y="2048256"/>
            <a:ext cx="329184" cy="329184"/>
          </a:xfrm>
          <a:prstGeom prst="ellipse">
            <a:avLst/>
          </a:prstGeom>
          <a:solidFill>
            <a:srgbClr val="003BA3"/>
          </a:solidFill>
          <a:ln/>
        </p:spPr>
      </p:sp>
      <p:sp>
        <p:nvSpPr>
          <p:cNvPr id="13" name="Text 11"/>
          <p:cNvSpPr txBox="1"/>
          <p:nvPr/>
        </p:nvSpPr>
        <p:spPr>
          <a:xfrm>
            <a:off x="4550664" y="2048256"/>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RP-2</a:t>
            </a:r>
            <a:endParaRPr lang="en-US" sz="900" dirty="0"/>
          </a:p>
        </p:txBody>
      </p:sp>
      <p:sp>
        <p:nvSpPr>
          <p:cNvPr id="14" name="Text 12"/>
          <p:cNvSpPr txBox="1"/>
          <p:nvPr/>
        </p:nvSpPr>
        <p:spPr>
          <a:xfrm>
            <a:off x="4550664" y="248716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Validity of automated assessment</a:t>
            </a:r>
            <a:endParaRPr lang="en-US" sz="1300" dirty="0"/>
          </a:p>
        </p:txBody>
      </p:sp>
      <p:sp>
        <p:nvSpPr>
          <p:cNvPr id="15" name="Text 13"/>
          <p:cNvSpPr txBox="1"/>
          <p:nvPr/>
        </p:nvSpPr>
        <p:spPr>
          <a:xfrm>
            <a:off x="4550664" y="2980944"/>
            <a:ext cx="3087624" cy="94183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To what extent does rubric-based automated judgment of free text agree with expert judgment — chance-corrected and stratified by difficulty?</a:t>
            </a:r>
            <a:endParaRPr lang="en-US" sz="1100" dirty="0"/>
          </a:p>
        </p:txBody>
      </p:sp>
      <p:sp>
        <p:nvSpPr>
          <p:cNvPr id="16" name="Shape 14"/>
          <p:cNvSpPr/>
          <p:nvPr/>
        </p:nvSpPr>
        <p:spPr>
          <a:xfrm>
            <a:off x="8095488" y="1847088"/>
            <a:ext cx="3526536" cy="2240280"/>
          </a:xfrm>
          <a:prstGeom prst="roundRect">
            <a:avLst>
              <a:gd name="adj" fmla="val 3265"/>
            </a:avLst>
          </a:prstGeom>
          <a:solidFill>
            <a:srgbClr val="F2F6FD"/>
          </a:solidFill>
          <a:ln w="6350">
            <a:solidFill>
              <a:srgbClr val="F2F6FD"/>
            </a:solidFill>
            <a:prstDash val="solid"/>
          </a:ln>
        </p:spPr>
      </p:sp>
      <p:sp>
        <p:nvSpPr>
          <p:cNvPr id="17" name="Shape 15"/>
          <p:cNvSpPr/>
          <p:nvPr/>
        </p:nvSpPr>
        <p:spPr>
          <a:xfrm>
            <a:off x="8314944" y="2048256"/>
            <a:ext cx="329184" cy="329184"/>
          </a:xfrm>
          <a:prstGeom prst="ellipse">
            <a:avLst/>
          </a:prstGeom>
          <a:solidFill>
            <a:srgbClr val="003BA3"/>
          </a:solidFill>
          <a:ln/>
        </p:spPr>
      </p:sp>
      <p:sp>
        <p:nvSpPr>
          <p:cNvPr id="18" name="Text 16"/>
          <p:cNvSpPr txBox="1"/>
          <p:nvPr/>
        </p:nvSpPr>
        <p:spPr>
          <a:xfrm>
            <a:off x="8314944" y="2048256"/>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RP-3</a:t>
            </a:r>
            <a:endParaRPr lang="en-US" sz="900" dirty="0"/>
          </a:p>
        </p:txBody>
      </p:sp>
      <p:sp>
        <p:nvSpPr>
          <p:cNvPr id="19" name="Text 17"/>
          <p:cNvSpPr txBox="1"/>
          <p:nvPr/>
        </p:nvSpPr>
        <p:spPr>
          <a:xfrm>
            <a:off x="8314944" y="248716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Competence-based adjacency</a:t>
            </a:r>
            <a:endParaRPr lang="en-US" sz="1300" dirty="0"/>
          </a:p>
        </p:txBody>
      </p:sp>
      <p:sp>
        <p:nvSpPr>
          <p:cNvPr id="20" name="Text 18"/>
          <p:cNvSpPr txBox="1"/>
          <p:nvPr/>
        </p:nvSpPr>
        <p:spPr>
          <a:xfrm>
            <a:off x="8314944" y="2980944"/>
            <a:ext cx="3087624" cy="94183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How should demonstrated competencies map onto occupational adjacency so an unlock is defensible rather than arbitrary? Taxonomies supply skill compositions but not readiness thresholds.</a:t>
            </a:r>
            <a:endParaRPr lang="en-US" sz="1100" dirty="0"/>
          </a:p>
        </p:txBody>
      </p:sp>
      <p:sp>
        <p:nvSpPr>
          <p:cNvPr id="21" name="Shape 19"/>
          <p:cNvSpPr/>
          <p:nvPr/>
        </p:nvSpPr>
        <p:spPr>
          <a:xfrm>
            <a:off x="566928" y="4315968"/>
            <a:ext cx="3538728" cy="1600200"/>
          </a:xfrm>
          <a:prstGeom prst="roundRect">
            <a:avLst>
              <a:gd name="adj" fmla="val 4571"/>
            </a:avLst>
          </a:prstGeom>
          <a:solidFill>
            <a:srgbClr val="F2F6FD"/>
          </a:solidFill>
          <a:ln w="6350">
            <a:solidFill>
              <a:srgbClr val="F2F6FD"/>
            </a:solidFill>
            <a:prstDash val="solid"/>
          </a:ln>
        </p:spPr>
      </p:sp>
      <p:sp>
        <p:nvSpPr>
          <p:cNvPr id="22" name="Shape 20"/>
          <p:cNvSpPr/>
          <p:nvPr/>
        </p:nvSpPr>
        <p:spPr>
          <a:xfrm>
            <a:off x="786384" y="4517136"/>
            <a:ext cx="329184" cy="329184"/>
          </a:xfrm>
          <a:prstGeom prst="ellipse">
            <a:avLst/>
          </a:prstGeom>
          <a:solidFill>
            <a:srgbClr val="003BA3"/>
          </a:solidFill>
          <a:ln/>
        </p:spPr>
      </p:sp>
      <p:sp>
        <p:nvSpPr>
          <p:cNvPr id="23" name="Text 21"/>
          <p:cNvSpPr txBox="1"/>
          <p:nvPr/>
        </p:nvSpPr>
        <p:spPr>
          <a:xfrm>
            <a:off x="786384" y="4517136"/>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RP-4</a:t>
            </a:r>
            <a:endParaRPr lang="en-US" sz="900" dirty="0"/>
          </a:p>
        </p:txBody>
      </p:sp>
      <p:sp>
        <p:nvSpPr>
          <p:cNvPr id="24" name="Text 22"/>
          <p:cNvSpPr txBox="1"/>
          <p:nvPr/>
        </p:nvSpPr>
        <p:spPr>
          <a:xfrm>
            <a:off x="786384" y="4956048"/>
            <a:ext cx="3099816"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Engagement without displacement</a:t>
            </a:r>
            <a:endParaRPr lang="en-US" sz="1300" dirty="0"/>
          </a:p>
        </p:txBody>
      </p:sp>
      <p:sp>
        <p:nvSpPr>
          <p:cNvPr id="25" name="Text 23"/>
          <p:cNvSpPr txBox="1"/>
          <p:nvPr/>
        </p:nvSpPr>
        <p:spPr>
          <a:xfrm>
            <a:off x="786384" y="5449824"/>
            <a:ext cx="3099816" cy="30175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Which mechanisms sustain exploration without displacing the task authenticity that learning depends on?</a:t>
            </a:r>
            <a:endParaRPr lang="en-US" sz="1100" dirty="0"/>
          </a:p>
        </p:txBody>
      </p:sp>
      <p:sp>
        <p:nvSpPr>
          <p:cNvPr id="26" name="Shape 24"/>
          <p:cNvSpPr/>
          <p:nvPr/>
        </p:nvSpPr>
        <p:spPr>
          <a:xfrm>
            <a:off x="4343400" y="4315968"/>
            <a:ext cx="3538728" cy="1600200"/>
          </a:xfrm>
          <a:prstGeom prst="roundRect">
            <a:avLst>
              <a:gd name="adj" fmla="val 4571"/>
            </a:avLst>
          </a:prstGeom>
          <a:solidFill>
            <a:srgbClr val="F2F6FD"/>
          </a:solidFill>
          <a:ln w="6350">
            <a:solidFill>
              <a:srgbClr val="F2F6FD"/>
            </a:solidFill>
            <a:prstDash val="solid"/>
          </a:ln>
        </p:spPr>
      </p:sp>
      <p:sp>
        <p:nvSpPr>
          <p:cNvPr id="27" name="Shape 25"/>
          <p:cNvSpPr/>
          <p:nvPr/>
        </p:nvSpPr>
        <p:spPr>
          <a:xfrm>
            <a:off x="4562856" y="4517136"/>
            <a:ext cx="329184" cy="329184"/>
          </a:xfrm>
          <a:prstGeom prst="ellipse">
            <a:avLst/>
          </a:prstGeom>
          <a:solidFill>
            <a:srgbClr val="003BA3"/>
          </a:solidFill>
          <a:ln/>
        </p:spPr>
      </p:sp>
      <p:sp>
        <p:nvSpPr>
          <p:cNvPr id="28" name="Text 26"/>
          <p:cNvSpPr txBox="1"/>
          <p:nvPr/>
        </p:nvSpPr>
        <p:spPr>
          <a:xfrm>
            <a:off x="4562856" y="4517136"/>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RP-5</a:t>
            </a:r>
            <a:endParaRPr lang="en-US" sz="900" dirty="0"/>
          </a:p>
        </p:txBody>
      </p:sp>
      <p:sp>
        <p:nvSpPr>
          <p:cNvPr id="29" name="Text 27"/>
          <p:cNvSpPr txBox="1"/>
          <p:nvPr/>
        </p:nvSpPr>
        <p:spPr>
          <a:xfrm>
            <a:off x="4562856" y="4956048"/>
            <a:ext cx="3099816"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Evaluation methodology</a:t>
            </a:r>
            <a:endParaRPr lang="en-US" sz="1300" dirty="0"/>
          </a:p>
        </p:txBody>
      </p:sp>
      <p:sp>
        <p:nvSpPr>
          <p:cNvPr id="30" name="Text 28"/>
          <p:cNvSpPr txBox="1"/>
          <p:nvPr/>
        </p:nvSpPr>
        <p:spPr>
          <a:xfrm>
            <a:off x="4562856" y="5449824"/>
            <a:ext cx="3099816" cy="30175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How can a reference set be built, at feasible cost in one field, that supports claims about RP-1 and RP-2 without a large-scale user study?</a:t>
            </a:r>
            <a:endParaRPr lang="en-US" sz="1100" dirty="0"/>
          </a:p>
        </p:txBody>
      </p:sp>
      <p:sp>
        <p:nvSpPr>
          <p:cNvPr id="31" name="Shape 29"/>
          <p:cNvSpPr/>
          <p:nvPr/>
        </p:nvSpPr>
        <p:spPr>
          <a:xfrm>
            <a:off x="8119872" y="4315968"/>
            <a:ext cx="3502152" cy="1600200"/>
          </a:xfrm>
          <a:prstGeom prst="roundRect">
            <a:avLst>
              <a:gd name="adj" fmla="val 4571"/>
            </a:avLst>
          </a:prstGeom>
          <a:solidFill>
            <a:srgbClr val="003BA3"/>
          </a:solidFill>
          <a:ln/>
        </p:spPr>
      </p:sp>
      <p:sp>
        <p:nvSpPr>
          <p:cNvPr id="32" name="Text 30"/>
          <p:cNvSpPr txBox="1"/>
          <p:nvPr/>
        </p:nvSpPr>
        <p:spPr>
          <a:xfrm>
            <a:off x="8339328" y="4498848"/>
            <a:ext cx="3063240" cy="12344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RP-3 is the genuinely open one. O*NET and ESCO give skill compositions, but nothing tells us what overlap threshold constitutes readiness. We expect to set it by expert review rather than derive it.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RISKS</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Six difficulties we are not hiding</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Each one stated plainly, with what we are doing about it.</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24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847088"/>
          <a:ext cx="11055096" cy="914400"/>
        </p:xfrm>
        <a:graphic>
          <a:graphicData uri="http://schemas.openxmlformats.org/drawingml/2006/table">
            <a:tbl>
              <a:tblPr/>
              <a:tblGrid>
                <a:gridCol w="2286000"/>
                <a:gridCol w="5577840"/>
                <a:gridCol w="3191256"/>
              </a:tblGrid>
              <a:tr h="566928">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Difficulty</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Why it matters</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Our response</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566928">
                <a:tc>
                  <a:txBody>
                    <a:bodyPr/>
                    <a:lstStyle/>
                    <a:p>
                      <a:pPr indent="0" marL="0">
                        <a:buNone/>
                      </a:pPr>
                      <a:r>
                        <a:rPr lang="en-US" sz="1100" b="1" dirty="0">
                          <a:solidFill>
                            <a:srgbClr val="003BA3"/>
                          </a:solidFill>
                          <a:latin typeface="Calibri" pitchFamily="34" charset="0"/>
                          <a:ea typeface="Calibri" pitchFamily="34" charset="-122"/>
                          <a:cs typeface="Calibri" pitchFamily="34" charset="-120"/>
                        </a:rPr>
                        <a:t>Generation fidelity</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dirty="0">
                          <a:solidFill>
                            <a:srgbClr val="1B2333"/>
                          </a:solidFill>
                          <a:latin typeface="Calibri" pitchFamily="34" charset="0"/>
                          <a:ea typeface="Calibri" pitchFamily="34" charset="-122"/>
                          <a:cs typeface="Calibri" pitchFamily="34" charset="-120"/>
                        </a:rPr>
                        <a:t>A plausible but inaccurate scenario is worse than none — it conveys a confident false impression of a real profession. Long-horizon consistency compounds this within multi-task levels.</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Bounded authored components; expert validation (BR-05)</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003BA3"/>
                          </a:solidFill>
                          <a:latin typeface="Calibri" pitchFamily="34" charset="0"/>
                          <a:ea typeface="Calibri" pitchFamily="34" charset="-122"/>
                          <a:cs typeface="Calibri" pitchFamily="34" charset="-120"/>
                        </a:rPr>
                        <a:t>Assessment validity</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dirty="0">
                          <a:solidFill>
                            <a:srgbClr val="1B2333"/>
                          </a:solidFill>
                          <a:latin typeface="Calibri" pitchFamily="34" charset="0"/>
                          <a:ea typeface="Calibri" pitchFamily="34" charset="-122"/>
                          <a:cs typeface="Calibri" pitchFamily="34" charset="-120"/>
                        </a:rPr>
                        <a:t>Agreement figures for automated judgment are frequently overstated and degrade unevenly with difficulty.</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Stratified expert-authored reference set — expensive to produce</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B26B00"/>
                          </a:solidFill>
                          <a:latin typeface="Calibri" pitchFamily="34" charset="0"/>
                          <a:ea typeface="Calibri" pitchFamily="34" charset="-122"/>
                          <a:cs typeface="Calibri" pitchFamily="34" charset="-120"/>
                        </a:rPr>
                        <a:t>Expert authoring cost</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dirty="0">
                          <a:solidFill>
                            <a:srgbClr val="1B2333"/>
                          </a:solidFill>
                          <a:latin typeface="Calibri" pitchFamily="34" charset="0"/>
                          <a:ea typeface="Calibri" pitchFamily="34" charset="-122"/>
                          <a:cs typeface="Calibri" pitchFamily="34" charset="-120"/>
                        </a:rPr>
                        <a:t>Each occupation requires expert time for seed, rubric and review.</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Why phase 1 is one field, and why authoring tooling is a first-class component</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003BA3"/>
                          </a:solidFill>
                          <a:latin typeface="Calibri" pitchFamily="34" charset="0"/>
                          <a:ea typeface="Calibri" pitchFamily="34" charset="-122"/>
                          <a:cs typeface="Calibri" pitchFamily="34" charset="-120"/>
                        </a:rPr>
                        <a:t>Cold start</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dirty="0">
                          <a:solidFill>
                            <a:srgbClr val="1B2333"/>
                          </a:solidFill>
                          <a:latin typeface="Calibri" pitchFamily="34" charset="0"/>
                          <a:ea typeface="Calibri" pitchFamily="34" charset="-122"/>
                          <a:cs typeface="Calibri" pitchFamily="34" charset="-120"/>
                        </a:rPr>
                        <a:t>Aggregate occupational profiles need a population of completions before they are informative.</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The interface states the condition rather than displaying an unfounded figure (UC-05 exception flow)</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003BA3"/>
                          </a:solidFill>
                          <a:latin typeface="Calibri" pitchFamily="34" charset="0"/>
                          <a:ea typeface="Calibri" pitchFamily="34" charset="-122"/>
                          <a:cs typeface="Calibri" pitchFamily="34" charset="-120"/>
                        </a:rPr>
                        <a:t>Evaluation without deployment</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dirty="0">
                          <a:solidFill>
                            <a:srgbClr val="1B2333"/>
                          </a:solidFill>
                          <a:latin typeface="Calibri" pitchFamily="34" charset="0"/>
                          <a:ea typeface="Calibri" pitchFamily="34" charset="-122"/>
                          <a:cs typeface="Calibri" pitchFamily="34" charset="-120"/>
                        </a:rPr>
                        <a:t>Offline benchmarking cannot establish engagement retention or effects on career decisions.</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Claims bounded accordingly</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B26B00"/>
                          </a:solidFill>
                          <a:latin typeface="Calibri" pitchFamily="34" charset="0"/>
                          <a:ea typeface="Calibri" pitchFamily="34" charset="-122"/>
                          <a:cs typeface="Calibri" pitchFamily="34" charset="-120"/>
                        </a:rPr>
                        <a:t>Localisation</a:t>
                      </a:r>
                      <a:endParaRPr lang="en-US" sz="11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dirty="0">
                          <a:solidFill>
                            <a:srgbClr val="1B2333"/>
                          </a:solidFill>
                          <a:latin typeface="Calibri" pitchFamily="34" charset="0"/>
                          <a:ea typeface="Calibri" pitchFamily="34" charset="-122"/>
                          <a:cs typeface="Calibri" pitchFamily="34" charset="-120"/>
                        </a:rPr>
                        <a:t>Occupational taxonomies are authored in English for other labour markets and do not map cleanly onto Vietnamese practice.</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050" i="1" dirty="0">
                          <a:solidFill>
                            <a:srgbClr val="6B7585"/>
                          </a:solidFill>
                          <a:latin typeface="Calibri" pitchFamily="34" charset="0"/>
                          <a:ea typeface="Calibri" pitchFamily="34" charset="-122"/>
                          <a:cs typeface="Calibri" pitchFamily="34" charset="-120"/>
                        </a:rPr>
                        <a:t>Expert adaptation, not translation (DR-01)</a:t>
                      </a:r>
                      <a:endParaRPr lang="en-US" sz="10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66928" y="5925312"/>
            <a:ext cx="11055096" cy="292608"/>
          </a:xfrm>
          <a:prstGeom prst="rect">
            <a:avLst/>
          </a:prstGeom>
          <a:noFill/>
          <a:ln/>
        </p:spPr>
        <p:txBody>
          <a:bodyPr wrap="square" lIns="0" tIns="0" rIns="0" bIns="0" rtlCol="0" anchor="ctr"/>
          <a:lstStyle/>
          <a:p>
            <a:pPr indent="0" marL="0">
              <a:buNone/>
            </a:pPr>
            <a:r>
              <a:rPr lang="en-US" sz="1200" b="1" dirty="0">
                <a:solidFill>
                  <a:srgbClr val="B26B00"/>
                </a:solidFill>
                <a:latin typeface="Calibri" pitchFamily="34" charset="0"/>
                <a:ea typeface="Calibri" pitchFamily="34" charset="-122"/>
                <a:cs typeface="Calibri" pitchFamily="34" charset="-120"/>
              </a:rPr>
              <a:t>The two highlighted are the binding ones: expert authoring cost is why phase 1 is a single field, and localisation compounds it.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B26B00"/>
                </a:solidFill>
                <a:latin typeface="Montserrat" pitchFamily="34" charset="0"/>
                <a:ea typeface="Montserrat" pitchFamily="34" charset="-122"/>
                <a:cs typeface="Montserrat" pitchFamily="34" charset="-120"/>
              </a:rPr>
              <a:t>DECISION NEEDED</a:t>
            </a:r>
            <a:endParaRPr lang="en-US" sz="1050" dirty="0"/>
          </a:p>
        </p:txBody>
      </p:sp>
      <p:sp>
        <p:nvSpPr>
          <p:cNvPr id="3" name="Text 1"/>
          <p:cNvSpPr txBox="1"/>
          <p:nvPr/>
        </p:nvSpPr>
        <p:spPr>
          <a:xfrm>
            <a:off x="566928" y="658368"/>
            <a:ext cx="11055096" cy="51206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Forty-three requirements</a:t>
            </a:r>
            <a:endParaRPr lang="en-US" sz="2800" dirty="0"/>
          </a:p>
        </p:txBody>
      </p:sp>
      <p:sp>
        <p:nvSpPr>
          <p:cNvPr id="4" name="Text 2"/>
          <p:cNvSpPr txBox="1"/>
          <p:nvPr/>
        </p:nvSpPr>
        <p:spPr>
          <a:xfrm>
            <a:off x="566928" y="120700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Every requirement carries a priority, a feasibility assessment and a verification method — so each states in advance how we will know it is met.</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25</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755648"/>
          <a:ext cx="5852160" cy="914400"/>
        </p:xfrm>
        <a:graphic>
          <a:graphicData uri="http://schemas.openxmlformats.org/drawingml/2006/table">
            <a:tbl>
              <a:tblPr/>
              <a:tblGrid>
                <a:gridCol w="2377440"/>
                <a:gridCol w="868680"/>
                <a:gridCol w="868680"/>
                <a:gridCol w="868680"/>
                <a:gridCol w="868680"/>
              </a:tblGrid>
              <a:tr h="329184">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Requirement class</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Total</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Must</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Should</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Could</a:t>
                      </a:r>
                      <a:endParaRPr lang="en-US" sz="10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329184">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Functional (FR)</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333"/>
                          </a:solidFill>
                          <a:latin typeface="Montserrat" pitchFamily="34" charset="0"/>
                          <a:ea typeface="Montserrat" pitchFamily="34" charset="-122"/>
                          <a:cs typeface="Montserrat" pitchFamily="34" charset="-120"/>
                        </a:rPr>
                        <a:t>21</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3BA3"/>
                          </a:solidFill>
                          <a:latin typeface="Montserrat" pitchFamily="34" charset="0"/>
                          <a:ea typeface="Montserrat" pitchFamily="34" charset="-122"/>
                          <a:cs typeface="Montserrat" pitchFamily="34" charset="-120"/>
                        </a:rPr>
                        <a:t>13</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333"/>
                          </a:solidFill>
                          <a:latin typeface="Montserrat" pitchFamily="34" charset="0"/>
                          <a:ea typeface="Montserrat" pitchFamily="34" charset="-122"/>
                          <a:cs typeface="Montserrat" pitchFamily="34" charset="-120"/>
                        </a:rPr>
                        <a:t>7</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333"/>
                          </a:solidFill>
                          <a:latin typeface="Montserrat" pitchFamily="34" charset="0"/>
                          <a:ea typeface="Montserrat" pitchFamily="34" charset="-122"/>
                          <a:cs typeface="Montserrat" pitchFamily="34" charset="-120"/>
                        </a:rPr>
                        <a:t>1</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Non-functional (NFR)</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333"/>
                          </a:solidFill>
                          <a:latin typeface="Montserrat" pitchFamily="34" charset="0"/>
                          <a:ea typeface="Montserrat" pitchFamily="34" charset="-122"/>
                          <a:cs typeface="Montserrat" pitchFamily="34" charset="-120"/>
                        </a:rPr>
                        <a:t>12</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3BA3"/>
                          </a:solidFill>
                          <a:latin typeface="Montserrat" pitchFamily="34" charset="0"/>
                          <a:ea typeface="Montserrat" pitchFamily="34" charset="-122"/>
                          <a:cs typeface="Montserrat" pitchFamily="34" charset="-120"/>
                        </a:rPr>
                        <a:t>7</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333"/>
                          </a:solidFill>
                          <a:latin typeface="Montserrat" pitchFamily="34" charset="0"/>
                          <a:ea typeface="Montserrat" pitchFamily="34" charset="-122"/>
                          <a:cs typeface="Montserrat" pitchFamily="34" charset="-120"/>
                        </a:rPr>
                        <a:t>5</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333"/>
                          </a:solidFill>
                          <a:latin typeface="Montserrat" pitchFamily="34" charset="0"/>
                          <a:ea typeface="Montserrat" pitchFamily="34" charset="-122"/>
                          <a:cs typeface="Montserrat" pitchFamily="34" charset="-120"/>
                        </a:rPr>
                        <a:t>0</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Data (DR)</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333"/>
                          </a:solidFill>
                          <a:latin typeface="Montserrat" pitchFamily="34" charset="0"/>
                          <a:ea typeface="Montserrat" pitchFamily="34" charset="-122"/>
                          <a:cs typeface="Montserrat" pitchFamily="34" charset="-120"/>
                        </a:rPr>
                        <a:t>10</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3BA3"/>
                          </a:solidFill>
                          <a:latin typeface="Montserrat" pitchFamily="34" charset="0"/>
                          <a:ea typeface="Montserrat" pitchFamily="34" charset="-122"/>
                          <a:cs typeface="Montserrat" pitchFamily="34" charset="-120"/>
                        </a:rPr>
                        <a:t>7</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333"/>
                          </a:solidFill>
                          <a:latin typeface="Montserrat" pitchFamily="34" charset="0"/>
                          <a:ea typeface="Montserrat" pitchFamily="34" charset="-122"/>
                          <a:cs typeface="Montserrat" pitchFamily="34" charset="-120"/>
                        </a:rPr>
                        <a:t>3</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333"/>
                          </a:solidFill>
                          <a:latin typeface="Montserrat" pitchFamily="34" charset="0"/>
                          <a:ea typeface="Montserrat" pitchFamily="34" charset="-122"/>
                          <a:cs typeface="Montserrat" pitchFamily="34" charset="-120"/>
                        </a:rPr>
                        <a:t>0</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3BA3"/>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333"/>
                          </a:solidFill>
                          <a:latin typeface="Montserrat" pitchFamily="34" charset="0"/>
                          <a:ea typeface="Montserrat" pitchFamily="34" charset="-122"/>
                          <a:cs typeface="Montserrat" pitchFamily="34" charset="-120"/>
                        </a:rPr>
                        <a:t>43</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3BA3"/>
                          </a:solidFill>
                          <a:latin typeface="Montserrat" pitchFamily="34" charset="0"/>
                          <a:ea typeface="Montserrat" pitchFamily="34" charset="-122"/>
                          <a:cs typeface="Montserrat" pitchFamily="34" charset="-120"/>
                        </a:rPr>
                        <a:t>27</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333"/>
                          </a:solidFill>
                          <a:latin typeface="Montserrat" pitchFamily="34" charset="0"/>
                          <a:ea typeface="Montserrat" pitchFamily="34" charset="-122"/>
                          <a:cs typeface="Montserrat" pitchFamily="34" charset="-120"/>
                        </a:rPr>
                        <a:t>15</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333"/>
                          </a:solidFill>
                          <a:latin typeface="Montserrat" pitchFamily="34" charset="0"/>
                          <a:ea typeface="Montserrat" pitchFamily="34" charset="-122"/>
                          <a:cs typeface="Montserrat" pitchFamily="34" charset="-120"/>
                        </a:rPr>
                        <a:t>1</a:t>
                      </a:r>
                      <a:endParaRPr lang="en-US" sz="1200" dirty="0">
                        <a:latin typeface="Montserrat" charset="0"/>
                        <a:ea typeface="Montserrat" charset="0"/>
                        <a:cs typeface="Montserrat" charset="0"/>
                      </a:endParaRPr>
                    </a:p>
                  </a:txBody>
                  <a:tcPr marL="64008" marR="64008" marT="64008" marB="64008" anchor="t">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
        <p:nvSpPr>
          <p:cNvPr id="7" name="Shape 4"/>
          <p:cNvSpPr/>
          <p:nvPr/>
        </p:nvSpPr>
        <p:spPr>
          <a:xfrm>
            <a:off x="6693408" y="1755648"/>
            <a:ext cx="4928616" cy="1737360"/>
          </a:xfrm>
          <a:prstGeom prst="roundRect">
            <a:avLst>
              <a:gd name="adj" fmla="val 4211"/>
            </a:avLst>
          </a:prstGeom>
          <a:solidFill>
            <a:srgbClr val="E4EBFA"/>
          </a:solidFill>
          <a:ln/>
        </p:spPr>
      </p:sp>
      <p:sp>
        <p:nvSpPr>
          <p:cNvPr id="8" name="Text 5"/>
          <p:cNvSpPr txBox="1"/>
          <p:nvPr/>
        </p:nvSpPr>
        <p:spPr>
          <a:xfrm>
            <a:off x="6912864" y="1883664"/>
            <a:ext cx="4489704" cy="256032"/>
          </a:xfrm>
          <a:prstGeom prst="rect">
            <a:avLst/>
          </a:prstGeom>
          <a:noFill/>
          <a:ln/>
        </p:spPr>
        <p:txBody>
          <a:bodyPr wrap="square" lIns="0" tIns="0" rIns="0" bIns="0" rtlCol="0" anchor="ctr"/>
          <a:lstStyle/>
          <a:p>
            <a:pPr indent="0" marL="0">
              <a:buNone/>
            </a:pPr>
            <a:r>
              <a:rPr lang="en-US" sz="1150" b="1" dirty="0">
                <a:solidFill>
                  <a:srgbClr val="003BA3"/>
                </a:solidFill>
                <a:latin typeface="Montserrat" pitchFamily="34" charset="0"/>
                <a:ea typeface="Montserrat" pitchFamily="34" charset="-122"/>
                <a:cs typeface="Montserrat" pitchFamily="34" charset="-120"/>
              </a:rPr>
              <a:t>One row, shown in full</a:t>
            </a:r>
            <a:endParaRPr lang="en-US" sz="1150" dirty="0"/>
          </a:p>
        </p:txBody>
      </p:sp>
      <p:sp>
        <p:nvSpPr>
          <p:cNvPr id="9" name="Text 6"/>
          <p:cNvSpPr txBox="1"/>
          <p:nvPr/>
        </p:nvSpPr>
        <p:spPr>
          <a:xfrm>
            <a:off x="6912864" y="2176272"/>
            <a:ext cx="4489704" cy="1225296"/>
          </a:xfrm>
          <a:prstGeom prst="rect">
            <a:avLst/>
          </a:prstGeom>
          <a:noFill/>
          <a:ln/>
        </p:spPr>
        <p:txBody>
          <a:bodyPr wrap="square" lIns="0" tIns="0" rIns="0" bIns="0" rtlCol="0" anchor="ctr"/>
          <a:lstStyle/>
          <a:p>
            <a:pPr indent="0" marL="0">
              <a:lnSpc>
                <a:spcPct val="108000"/>
              </a:lnSpc>
              <a:buNone/>
            </a:pPr>
            <a:r>
              <a:rPr lang="en-US" sz="1200" b="1" dirty="0">
                <a:solidFill>
                  <a:srgbClr val="4A8CFF"/>
                </a:solidFill>
                <a:latin typeface="Montserrat" pitchFamily="34" charset="0"/>
                <a:ea typeface="Montserrat" pitchFamily="34" charset="-122"/>
                <a:cs typeface="Montserrat" pitchFamily="34" charset="-120"/>
              </a:rPr>
              <a:t>FR-06  </a:t>
            </a:r>
            <a:pPr indent="0" marL="0">
              <a:lnSpc>
                <a:spcPct val="108000"/>
              </a:lnSpc>
              <a:buNone/>
            </a:pPr>
            <a:r>
              <a:rPr lang="en-US" sz="1150" dirty="0">
                <a:solidFill>
                  <a:srgbClr val="1B2333"/>
                </a:solidFill>
                <a:latin typeface="Calibri" pitchFamily="34" charset="0"/>
                <a:ea typeface="Calibri" pitchFamily="34" charset="-122"/>
                <a:cs typeface="Calibri" pitchFamily="34" charset="-120"/>
              </a:rPr>
              <a:t>Accept free-text responses and score them against the seed's rubric.
</a:t>
            </a:r>
            <a:pPr indent="0" marL="0">
              <a:lnSpc>
                <a:spcPct val="108000"/>
              </a:lnSpc>
              <a:buNone/>
            </a:pPr>
            <a:r>
              <a:rPr lang="en-US" sz="1100" dirty="0">
                <a:solidFill>
                  <a:srgbClr val="6B7585"/>
                </a:solidFill>
                <a:latin typeface="Calibri" pitchFamily="34" charset="0"/>
                <a:ea typeface="Calibri" pitchFamily="34" charset="-122"/>
                <a:cs typeface="Calibri" pitchFamily="34" charset="-120"/>
              </a:rPr>
              <a:t>Actor </a:t>
            </a:r>
            <a:pPr indent="0" marL="0">
              <a:lnSpc>
                <a:spcPct val="108000"/>
              </a:lnSpc>
              <a:buNone/>
            </a:pPr>
            <a:r>
              <a:rPr lang="en-US" sz="1100" b="1" dirty="0">
                <a:solidFill>
                  <a:srgbClr val="1B2333"/>
                </a:solidFill>
                <a:latin typeface="Calibri" pitchFamily="34" charset="0"/>
                <a:ea typeface="Calibri" pitchFamily="34" charset="-122"/>
                <a:cs typeface="Calibri" pitchFamily="34" charset="-120"/>
              </a:rPr>
              <a:t>Explorer  ·  </a:t>
            </a:r>
            <a:pPr indent="0" marL="0">
              <a:lnSpc>
                <a:spcPct val="108000"/>
              </a:lnSpc>
              <a:buNone/>
            </a:pPr>
            <a:r>
              <a:rPr lang="en-US" sz="1100" dirty="0">
                <a:solidFill>
                  <a:srgbClr val="6B7585"/>
                </a:solidFill>
                <a:latin typeface="Calibri" pitchFamily="34" charset="0"/>
                <a:ea typeface="Calibri" pitchFamily="34" charset="-122"/>
                <a:cs typeface="Calibri" pitchFamily="34" charset="-120"/>
              </a:rPr>
              <a:t>Priority </a:t>
            </a:r>
            <a:pPr indent="0" marL="0">
              <a:lnSpc>
                <a:spcPct val="108000"/>
              </a:lnSpc>
              <a:buNone/>
            </a:pPr>
            <a:r>
              <a:rPr lang="en-US" sz="1100" b="1" dirty="0">
                <a:solidFill>
                  <a:srgbClr val="1B2333"/>
                </a:solidFill>
                <a:latin typeface="Calibri" pitchFamily="34" charset="0"/>
                <a:ea typeface="Calibri" pitchFamily="34" charset="-122"/>
                <a:cs typeface="Calibri" pitchFamily="34" charset="-120"/>
              </a:rPr>
              <a:t>Must  ·  </a:t>
            </a:r>
            <a:pPr indent="0" marL="0">
              <a:lnSpc>
                <a:spcPct val="108000"/>
              </a:lnSpc>
              <a:buNone/>
            </a:pPr>
            <a:r>
              <a:rPr lang="en-US" sz="1100" dirty="0">
                <a:solidFill>
                  <a:srgbClr val="6B7585"/>
                </a:solidFill>
                <a:latin typeface="Calibri" pitchFamily="34" charset="0"/>
                <a:ea typeface="Calibri" pitchFamily="34" charset="-122"/>
                <a:cs typeface="Calibri" pitchFamily="34" charset="-120"/>
              </a:rPr>
              <a:t>Feasibility </a:t>
            </a:r>
            <a:pPr indent="0" marL="0">
              <a:lnSpc>
                <a:spcPct val="108000"/>
              </a:lnSpc>
              <a:buNone/>
            </a:pPr>
            <a:r>
              <a:rPr lang="en-US" sz="1100" b="1" dirty="0">
                <a:solidFill>
                  <a:srgbClr val="1B2333"/>
                </a:solidFill>
                <a:latin typeface="Calibri" pitchFamily="34" charset="0"/>
                <a:ea typeface="Calibri" pitchFamily="34" charset="-122"/>
                <a:cs typeface="Calibri" pitchFamily="34" charset="-120"/>
              </a:rPr>
              <a:t>Medium
</a:t>
            </a:r>
            <a:pPr indent="0" marL="0">
              <a:lnSpc>
                <a:spcPct val="108000"/>
              </a:lnSpc>
              <a:buNone/>
            </a:pPr>
            <a:r>
              <a:rPr lang="en-US" sz="1100" dirty="0">
                <a:solidFill>
                  <a:srgbClr val="6B7585"/>
                </a:solidFill>
                <a:latin typeface="Calibri" pitchFamily="34" charset="0"/>
                <a:ea typeface="Calibri" pitchFamily="34" charset="-122"/>
                <a:cs typeface="Calibri" pitchFamily="34" charset="-120"/>
              </a:rPr>
              <a:t>Verified by </a:t>
            </a:r>
            <a:pPr indent="0" marL="0">
              <a:lnSpc>
                <a:spcPct val="108000"/>
              </a:lnSpc>
              <a:buNone/>
            </a:pPr>
            <a:r>
              <a:rPr lang="en-US" sz="1100" b="1" dirty="0">
                <a:solidFill>
                  <a:srgbClr val="003BA3"/>
                </a:solidFill>
                <a:latin typeface="Calibri" pitchFamily="34" charset="0"/>
                <a:ea typeface="Calibri" pitchFamily="34" charset="-122"/>
                <a:cs typeface="Calibri" pitchFamily="34" charset="-120"/>
              </a:rPr>
              <a:t>agreement with expert judgment on the reference set (Cohen's κ)</a:t>
            </a:r>
            <a:endParaRPr lang="en-US" sz="1200" dirty="0"/>
          </a:p>
        </p:txBody>
      </p:sp>
      <p:sp>
        <p:nvSpPr>
          <p:cNvPr id="10" name="Text 7"/>
          <p:cNvSpPr txBox="1"/>
          <p:nvPr/>
        </p:nvSpPr>
        <p:spPr>
          <a:xfrm>
            <a:off x="566928" y="3584448"/>
            <a:ext cx="5852160" cy="274320"/>
          </a:xfrm>
          <a:prstGeom prst="rect">
            <a:avLst/>
          </a:prstGeom>
          <a:noFill/>
          <a:ln/>
        </p:spPr>
        <p:txBody>
          <a:bodyPr wrap="square" lIns="0" tIns="0" rIns="0" bIns="0" rtlCol="0" anchor="ctr"/>
          <a:lstStyle/>
          <a:p>
            <a:pPr indent="0" marL="0">
              <a:buNone/>
            </a:pPr>
            <a:r>
              <a:rPr lang="en-US" sz="1250" b="1" dirty="0">
                <a:solidFill>
                  <a:srgbClr val="B26B00"/>
                </a:solidFill>
                <a:latin typeface="Montserrat" pitchFamily="34" charset="0"/>
                <a:ea typeface="Montserrat" pitchFamily="34" charset="-122"/>
                <a:cs typeface="Montserrat" pitchFamily="34" charset="-120"/>
              </a:rPr>
              <a:t>Where we think the risk concentrates</a:t>
            </a:r>
            <a:endParaRPr lang="en-US" sz="1250" dirty="0"/>
          </a:p>
        </p:txBody>
      </p:sp>
      <p:sp>
        <p:nvSpPr>
          <p:cNvPr id="11" name="Text 8"/>
          <p:cNvSpPr txBox="1"/>
          <p:nvPr/>
        </p:nvSpPr>
        <p:spPr>
          <a:xfrm>
            <a:off x="566928" y="3931920"/>
            <a:ext cx="914400" cy="329184"/>
          </a:xfrm>
          <a:prstGeom prst="rect">
            <a:avLst/>
          </a:prstGeom>
          <a:noFill/>
          <a:ln/>
        </p:spPr>
        <p:txBody>
          <a:bodyPr wrap="square" lIns="0" tIns="0" rIns="0" bIns="0" rtlCol="0" anchor="ctr"/>
          <a:lstStyle/>
          <a:p>
            <a:pPr indent="0" marL="0">
              <a:buNone/>
            </a:pPr>
            <a:r>
              <a:rPr lang="en-US" sz="1050" b="1" dirty="0">
                <a:solidFill>
                  <a:srgbClr val="4A8CFF"/>
                </a:solidFill>
                <a:latin typeface="Montserrat" pitchFamily="34" charset="0"/>
                <a:ea typeface="Montserrat" pitchFamily="34" charset="-122"/>
                <a:cs typeface="Montserrat" pitchFamily="34" charset="-120"/>
              </a:rPr>
              <a:t>FR-04</a:t>
            </a:r>
            <a:endParaRPr lang="en-US" sz="1050" dirty="0"/>
          </a:p>
        </p:txBody>
      </p:sp>
      <p:sp>
        <p:nvSpPr>
          <p:cNvPr id="12" name="Text 9"/>
          <p:cNvSpPr txBox="1"/>
          <p:nvPr/>
        </p:nvSpPr>
        <p:spPr>
          <a:xfrm>
            <a:off x="1527048" y="3931920"/>
            <a:ext cx="3291840" cy="329184"/>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Generation preserving required facts</a:t>
            </a:r>
            <a:endParaRPr lang="en-US" sz="1100" dirty="0"/>
          </a:p>
        </p:txBody>
      </p:sp>
      <p:sp>
        <p:nvSpPr>
          <p:cNvPr id="13" name="Text 10"/>
          <p:cNvSpPr txBox="1"/>
          <p:nvPr/>
        </p:nvSpPr>
        <p:spPr>
          <a:xfrm>
            <a:off x="4864608" y="3931920"/>
            <a:ext cx="1554480" cy="329184"/>
          </a:xfrm>
          <a:prstGeom prst="rect">
            <a:avLst/>
          </a:prstGeom>
          <a:noFill/>
          <a:ln/>
        </p:spPr>
        <p:txBody>
          <a:bodyPr wrap="square" lIns="0" tIns="0" rIns="0" bIns="0" rtlCol="0" anchor="ctr"/>
          <a:lstStyle/>
          <a:p>
            <a:pPr algn="r" indent="0" marL="0">
              <a:buNone/>
            </a:pPr>
            <a:r>
              <a:rPr lang="en-US" sz="1050" i="1" dirty="0">
                <a:solidFill>
                  <a:srgbClr val="6B7585"/>
                </a:solidFill>
                <a:latin typeface="Calibri" pitchFamily="34" charset="0"/>
                <a:ea typeface="Calibri" pitchFamily="34" charset="-122"/>
                <a:cs typeface="Calibri" pitchFamily="34" charset="-120"/>
              </a:rPr>
              <a:t>Must · Medium</a:t>
            </a:r>
            <a:endParaRPr lang="en-US" sz="1050" dirty="0"/>
          </a:p>
        </p:txBody>
      </p:sp>
      <p:sp>
        <p:nvSpPr>
          <p:cNvPr id="14" name="Text 11"/>
          <p:cNvSpPr txBox="1"/>
          <p:nvPr/>
        </p:nvSpPr>
        <p:spPr>
          <a:xfrm>
            <a:off x="566928" y="4270248"/>
            <a:ext cx="914400" cy="329184"/>
          </a:xfrm>
          <a:prstGeom prst="rect">
            <a:avLst/>
          </a:prstGeom>
          <a:noFill/>
          <a:ln/>
        </p:spPr>
        <p:txBody>
          <a:bodyPr wrap="square" lIns="0" tIns="0" rIns="0" bIns="0" rtlCol="0" anchor="ctr"/>
          <a:lstStyle/>
          <a:p>
            <a:pPr indent="0" marL="0">
              <a:buNone/>
            </a:pPr>
            <a:r>
              <a:rPr lang="en-US" sz="1050" b="1" dirty="0">
                <a:solidFill>
                  <a:srgbClr val="4A8CFF"/>
                </a:solidFill>
                <a:latin typeface="Montserrat" pitchFamily="34" charset="0"/>
                <a:ea typeface="Montserrat" pitchFamily="34" charset="-122"/>
                <a:cs typeface="Montserrat" pitchFamily="34" charset="-120"/>
              </a:rPr>
              <a:t>FR-06</a:t>
            </a:r>
            <a:endParaRPr lang="en-US" sz="1050" dirty="0"/>
          </a:p>
        </p:txBody>
      </p:sp>
      <p:sp>
        <p:nvSpPr>
          <p:cNvPr id="15" name="Text 12"/>
          <p:cNvSpPr txBox="1"/>
          <p:nvPr/>
        </p:nvSpPr>
        <p:spPr>
          <a:xfrm>
            <a:off x="1527048" y="4270248"/>
            <a:ext cx="3291840" cy="329184"/>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Free-text scoring</a:t>
            </a:r>
            <a:endParaRPr lang="en-US" sz="1100" dirty="0"/>
          </a:p>
        </p:txBody>
      </p:sp>
      <p:sp>
        <p:nvSpPr>
          <p:cNvPr id="16" name="Text 13"/>
          <p:cNvSpPr txBox="1"/>
          <p:nvPr/>
        </p:nvSpPr>
        <p:spPr>
          <a:xfrm>
            <a:off x="4864608" y="4270248"/>
            <a:ext cx="1554480" cy="329184"/>
          </a:xfrm>
          <a:prstGeom prst="rect">
            <a:avLst/>
          </a:prstGeom>
          <a:noFill/>
          <a:ln/>
        </p:spPr>
        <p:txBody>
          <a:bodyPr wrap="square" lIns="0" tIns="0" rIns="0" bIns="0" rtlCol="0" anchor="ctr"/>
          <a:lstStyle/>
          <a:p>
            <a:pPr algn="r" indent="0" marL="0">
              <a:buNone/>
            </a:pPr>
            <a:r>
              <a:rPr lang="en-US" sz="1050" i="1" dirty="0">
                <a:solidFill>
                  <a:srgbClr val="6B7585"/>
                </a:solidFill>
                <a:latin typeface="Calibri" pitchFamily="34" charset="0"/>
                <a:ea typeface="Calibri" pitchFamily="34" charset="-122"/>
                <a:cs typeface="Calibri" pitchFamily="34" charset="-120"/>
              </a:rPr>
              <a:t>Must · Medium</a:t>
            </a:r>
            <a:endParaRPr lang="en-US" sz="1050" dirty="0"/>
          </a:p>
        </p:txBody>
      </p:sp>
      <p:sp>
        <p:nvSpPr>
          <p:cNvPr id="17" name="Text 14"/>
          <p:cNvSpPr txBox="1"/>
          <p:nvPr/>
        </p:nvSpPr>
        <p:spPr>
          <a:xfrm>
            <a:off x="566928" y="4608576"/>
            <a:ext cx="914400" cy="329184"/>
          </a:xfrm>
          <a:prstGeom prst="rect">
            <a:avLst/>
          </a:prstGeom>
          <a:noFill/>
          <a:ln/>
        </p:spPr>
        <p:txBody>
          <a:bodyPr wrap="square" lIns="0" tIns="0" rIns="0" bIns="0" rtlCol="0" anchor="ctr"/>
          <a:lstStyle/>
          <a:p>
            <a:pPr indent="0" marL="0">
              <a:buNone/>
            </a:pPr>
            <a:r>
              <a:rPr lang="en-US" sz="1050" b="1" dirty="0">
                <a:solidFill>
                  <a:srgbClr val="4A8CFF"/>
                </a:solidFill>
                <a:latin typeface="Montserrat" pitchFamily="34" charset="0"/>
                <a:ea typeface="Montserrat" pitchFamily="34" charset="-122"/>
                <a:cs typeface="Montserrat" pitchFamily="34" charset="-120"/>
              </a:rPr>
              <a:t>FR-08</a:t>
            </a:r>
            <a:endParaRPr lang="en-US" sz="1050" dirty="0"/>
          </a:p>
        </p:txBody>
      </p:sp>
      <p:sp>
        <p:nvSpPr>
          <p:cNvPr id="18" name="Text 15"/>
          <p:cNvSpPr txBox="1"/>
          <p:nvPr/>
        </p:nvSpPr>
        <p:spPr>
          <a:xfrm>
            <a:off x="1527048" y="4608576"/>
            <a:ext cx="3291840" cy="329184"/>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Competency recording</a:t>
            </a:r>
            <a:endParaRPr lang="en-US" sz="1100" dirty="0"/>
          </a:p>
        </p:txBody>
      </p:sp>
      <p:sp>
        <p:nvSpPr>
          <p:cNvPr id="19" name="Text 16"/>
          <p:cNvSpPr txBox="1"/>
          <p:nvPr/>
        </p:nvSpPr>
        <p:spPr>
          <a:xfrm>
            <a:off x="4864608" y="4608576"/>
            <a:ext cx="1554480" cy="329184"/>
          </a:xfrm>
          <a:prstGeom prst="rect">
            <a:avLst/>
          </a:prstGeom>
          <a:noFill/>
          <a:ln/>
        </p:spPr>
        <p:txBody>
          <a:bodyPr wrap="square" lIns="0" tIns="0" rIns="0" bIns="0" rtlCol="0" anchor="ctr"/>
          <a:lstStyle/>
          <a:p>
            <a:pPr algn="r" indent="0" marL="0">
              <a:buNone/>
            </a:pPr>
            <a:r>
              <a:rPr lang="en-US" sz="1050" i="1" dirty="0">
                <a:solidFill>
                  <a:srgbClr val="6B7585"/>
                </a:solidFill>
                <a:latin typeface="Calibri" pitchFamily="34" charset="0"/>
                <a:ea typeface="Calibri" pitchFamily="34" charset="-122"/>
                <a:cs typeface="Calibri" pitchFamily="34" charset="-120"/>
              </a:rPr>
              <a:t>Must · Medium</a:t>
            </a:r>
            <a:endParaRPr lang="en-US" sz="1050" dirty="0"/>
          </a:p>
        </p:txBody>
      </p:sp>
      <p:sp>
        <p:nvSpPr>
          <p:cNvPr id="20" name="Text 17"/>
          <p:cNvSpPr txBox="1"/>
          <p:nvPr/>
        </p:nvSpPr>
        <p:spPr>
          <a:xfrm>
            <a:off x="566928" y="4946904"/>
            <a:ext cx="914400" cy="329184"/>
          </a:xfrm>
          <a:prstGeom prst="rect">
            <a:avLst/>
          </a:prstGeom>
          <a:noFill/>
          <a:ln/>
        </p:spPr>
        <p:txBody>
          <a:bodyPr wrap="square" lIns="0" tIns="0" rIns="0" bIns="0" rtlCol="0" anchor="ctr"/>
          <a:lstStyle/>
          <a:p>
            <a:pPr indent="0" marL="0">
              <a:buNone/>
            </a:pPr>
            <a:r>
              <a:rPr lang="en-US" sz="1050" b="1" dirty="0">
                <a:solidFill>
                  <a:srgbClr val="4A8CFF"/>
                </a:solidFill>
                <a:latin typeface="Montserrat" pitchFamily="34" charset="0"/>
                <a:ea typeface="Montserrat" pitchFamily="34" charset="-122"/>
                <a:cs typeface="Montserrat" pitchFamily="34" charset="-120"/>
              </a:rPr>
              <a:t>FR-10</a:t>
            </a:r>
            <a:endParaRPr lang="en-US" sz="1050" dirty="0"/>
          </a:p>
        </p:txBody>
      </p:sp>
      <p:sp>
        <p:nvSpPr>
          <p:cNvPr id="21" name="Text 18"/>
          <p:cNvSpPr txBox="1"/>
          <p:nvPr/>
        </p:nvSpPr>
        <p:spPr>
          <a:xfrm>
            <a:off x="1527048" y="4946904"/>
            <a:ext cx="3291840" cy="329184"/>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Cross-occupation adjacency offers</a:t>
            </a:r>
            <a:endParaRPr lang="en-US" sz="1100" dirty="0"/>
          </a:p>
        </p:txBody>
      </p:sp>
      <p:sp>
        <p:nvSpPr>
          <p:cNvPr id="22" name="Text 19"/>
          <p:cNvSpPr txBox="1"/>
          <p:nvPr/>
        </p:nvSpPr>
        <p:spPr>
          <a:xfrm>
            <a:off x="4864608" y="4946904"/>
            <a:ext cx="1554480" cy="329184"/>
          </a:xfrm>
          <a:prstGeom prst="rect">
            <a:avLst/>
          </a:prstGeom>
          <a:noFill/>
          <a:ln/>
        </p:spPr>
        <p:txBody>
          <a:bodyPr wrap="square" lIns="0" tIns="0" rIns="0" bIns="0" rtlCol="0" anchor="ctr"/>
          <a:lstStyle/>
          <a:p>
            <a:pPr algn="r" indent="0" marL="0">
              <a:buNone/>
            </a:pPr>
            <a:r>
              <a:rPr lang="en-US" sz="1050" i="1" dirty="0">
                <a:solidFill>
                  <a:srgbClr val="6B7585"/>
                </a:solidFill>
                <a:latin typeface="Calibri" pitchFamily="34" charset="0"/>
                <a:ea typeface="Calibri" pitchFamily="34" charset="-122"/>
                <a:cs typeface="Calibri" pitchFamily="34" charset="-120"/>
              </a:rPr>
              <a:t>Should · Medium</a:t>
            </a:r>
            <a:endParaRPr lang="en-US" sz="1050" dirty="0"/>
          </a:p>
        </p:txBody>
      </p:sp>
      <p:sp>
        <p:nvSpPr>
          <p:cNvPr id="23" name="Text 20"/>
          <p:cNvSpPr txBox="1"/>
          <p:nvPr/>
        </p:nvSpPr>
        <p:spPr>
          <a:xfrm>
            <a:off x="566928" y="5285232"/>
            <a:ext cx="914400" cy="329184"/>
          </a:xfrm>
          <a:prstGeom prst="rect">
            <a:avLst/>
          </a:prstGeom>
          <a:noFill/>
          <a:ln/>
        </p:spPr>
        <p:txBody>
          <a:bodyPr wrap="square" lIns="0" tIns="0" rIns="0" bIns="0" rtlCol="0" anchor="ctr"/>
          <a:lstStyle/>
          <a:p>
            <a:pPr indent="0" marL="0">
              <a:buNone/>
            </a:pPr>
            <a:r>
              <a:rPr lang="en-US" sz="1050" b="1" dirty="0">
                <a:solidFill>
                  <a:srgbClr val="4A8CFF"/>
                </a:solidFill>
                <a:latin typeface="Montserrat" pitchFamily="34" charset="0"/>
                <a:ea typeface="Montserrat" pitchFamily="34" charset="-122"/>
                <a:cs typeface="Montserrat" pitchFamily="34" charset="-120"/>
              </a:rPr>
              <a:t>NFR-01/02</a:t>
            </a:r>
            <a:endParaRPr lang="en-US" sz="1050" dirty="0"/>
          </a:p>
        </p:txBody>
      </p:sp>
      <p:sp>
        <p:nvSpPr>
          <p:cNvPr id="24" name="Text 21"/>
          <p:cNvSpPr txBox="1"/>
          <p:nvPr/>
        </p:nvSpPr>
        <p:spPr>
          <a:xfrm>
            <a:off x="1527048" y="5285232"/>
            <a:ext cx="3291840" cy="329184"/>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Latency targets of 5 s and 8 s at the 95th percentile</a:t>
            </a:r>
            <a:endParaRPr lang="en-US" sz="1100" dirty="0"/>
          </a:p>
        </p:txBody>
      </p:sp>
      <p:sp>
        <p:nvSpPr>
          <p:cNvPr id="25" name="Text 22"/>
          <p:cNvSpPr txBox="1"/>
          <p:nvPr/>
        </p:nvSpPr>
        <p:spPr>
          <a:xfrm>
            <a:off x="4864608" y="5285232"/>
            <a:ext cx="1554480" cy="329184"/>
          </a:xfrm>
          <a:prstGeom prst="rect">
            <a:avLst/>
          </a:prstGeom>
          <a:noFill/>
          <a:ln/>
        </p:spPr>
        <p:txBody>
          <a:bodyPr wrap="square" lIns="0" tIns="0" rIns="0" bIns="0" rtlCol="0" anchor="ctr"/>
          <a:lstStyle/>
          <a:p>
            <a:pPr algn="r" indent="0" marL="0">
              <a:buNone/>
            </a:pPr>
            <a:r>
              <a:rPr lang="en-US" sz="1050" i="1" dirty="0">
                <a:solidFill>
                  <a:srgbClr val="6B7585"/>
                </a:solidFill>
                <a:latin typeface="Calibri" pitchFamily="34" charset="0"/>
                <a:ea typeface="Calibri" pitchFamily="34" charset="-122"/>
                <a:cs typeface="Calibri" pitchFamily="34" charset="-120"/>
              </a:rPr>
              <a:t>Must · Medium</a:t>
            </a:r>
            <a:endParaRPr lang="en-US" sz="1050" dirty="0"/>
          </a:p>
        </p:txBody>
      </p:sp>
      <p:sp>
        <p:nvSpPr>
          <p:cNvPr id="26" name="Text 23"/>
          <p:cNvSpPr txBox="1"/>
          <p:nvPr/>
        </p:nvSpPr>
        <p:spPr>
          <a:xfrm>
            <a:off x="6693408" y="3675888"/>
            <a:ext cx="4928616" cy="914400"/>
          </a:xfrm>
          <a:prstGeom prst="rect">
            <a:avLst/>
          </a:prstGeom>
          <a:noFill/>
          <a:ln/>
        </p:spPr>
        <p:txBody>
          <a:bodyPr wrap="square" lIns="0" tIns="0" rIns="0" bIns="0" rtlCol="0" anchor="ctr"/>
          <a:lstStyle/>
          <a:p>
            <a:pPr indent="0" marL="0">
              <a:lnSpc>
                <a:spcPct val="105000"/>
              </a:lnSpc>
              <a:buNone/>
            </a:pPr>
            <a:r>
              <a:rPr lang="en-US" sz="1200" dirty="0">
                <a:solidFill>
                  <a:srgbClr val="1B2333"/>
                </a:solidFill>
                <a:latin typeface="Calibri" pitchFamily="34" charset="0"/>
                <a:ea typeface="Calibri" pitchFamily="34" charset="-122"/>
                <a:cs typeface="Calibri" pitchFamily="34" charset="-120"/>
              </a:rPr>
              <a:t>We would particularly value your view on FR-10, the cross-occupation adjacency offer, currently Should. It is the most visible feature of the whole concept — and it depends on the least settled research problem.</a:t>
            </a:r>
            <a:endParaRPr lang="en-US" sz="1200" dirty="0"/>
          </a:p>
        </p:txBody>
      </p:sp>
      <p:sp>
        <p:nvSpPr>
          <p:cNvPr id="27" name="Shape 24"/>
          <p:cNvSpPr/>
          <p:nvPr/>
        </p:nvSpPr>
        <p:spPr>
          <a:xfrm>
            <a:off x="566928" y="5687568"/>
            <a:ext cx="11055096" cy="566928"/>
          </a:xfrm>
          <a:prstGeom prst="roundRect">
            <a:avLst>
              <a:gd name="adj" fmla="val 9677"/>
            </a:avLst>
          </a:prstGeom>
          <a:solidFill>
            <a:srgbClr val="FFF4E0"/>
          </a:solidFill>
          <a:ln w="12700">
            <a:solidFill>
              <a:srgbClr val="E8C489"/>
            </a:solidFill>
            <a:prstDash val="solid"/>
          </a:ln>
        </p:spPr>
      </p:sp>
      <p:sp>
        <p:nvSpPr>
          <p:cNvPr id="28" name="Text 25"/>
          <p:cNvSpPr txBox="1"/>
          <p:nvPr/>
        </p:nvSpPr>
        <p:spPr>
          <a:xfrm>
            <a:off x="804672" y="5687568"/>
            <a:ext cx="10579608" cy="566928"/>
          </a:xfrm>
          <a:prstGeom prst="rect">
            <a:avLst/>
          </a:prstGeom>
          <a:noFill/>
          <a:ln/>
        </p:spPr>
        <p:txBody>
          <a:bodyPr wrap="square" lIns="0" tIns="0" rIns="0" bIns="0" rtlCol="0" anchor="ctr"/>
          <a:lstStyle/>
          <a:p>
            <a:pPr indent="0" marL="0">
              <a:lnSpc>
                <a:spcPct val="95000"/>
              </a:lnSpc>
              <a:buNone/>
            </a:pPr>
            <a:r>
              <a:rPr lang="en-US" sz="1100" b="1" spc="160" kern="0" dirty="0">
                <a:solidFill>
                  <a:srgbClr val="B26B00"/>
                </a:solidFill>
                <a:latin typeface="Montserrat" pitchFamily="34" charset="0"/>
                <a:ea typeface="Montserrat" pitchFamily="34" charset="-122"/>
                <a:cs typeface="Montserrat" pitchFamily="34" charset="-120"/>
              </a:rPr>
              <a:t>ASK  </a:t>
            </a:r>
            <a:pPr indent="0" marL="0">
              <a:lnSpc>
                <a:spcPct val="95000"/>
              </a:lnSpc>
              <a:buNone/>
            </a:pPr>
            <a:r>
              <a:rPr lang="en-US" sz="1350" b="1" dirty="0">
                <a:solidFill>
                  <a:srgbClr val="4A3000"/>
                </a:solidFill>
                <a:latin typeface="Calibri" pitchFamily="34" charset="0"/>
                <a:ea typeface="Calibri" pitchFamily="34" charset="-122"/>
                <a:cs typeface="Calibri" pitchFamily="34" charset="-120"/>
              </a:rPr>
              <a:t>Is the Must-priority set achievable within this phase, and would you move anything between Must and Should?</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CHAPTER 5 · FIGURE 5.1</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The exploration process</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The primary user-facing process, with three decision points. The full diagram with every branch is in the report.</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26</a:t>
            </a:r>
            <a:endParaRPr lang="en-US" sz="1000" dirty="0"/>
          </a:p>
        </p:txBody>
      </p:sp>
      <p:sp>
        <p:nvSpPr>
          <p:cNvPr id="6" name="Shape 4"/>
          <p:cNvSpPr/>
          <p:nvPr/>
        </p:nvSpPr>
        <p:spPr>
          <a:xfrm>
            <a:off x="566928" y="1847088"/>
            <a:ext cx="2516886" cy="731520"/>
          </a:xfrm>
          <a:prstGeom prst="roundRect">
            <a:avLst>
              <a:gd name="adj" fmla="val 7500"/>
            </a:avLst>
          </a:prstGeom>
          <a:solidFill>
            <a:srgbClr val="F2F6FD"/>
          </a:solidFill>
          <a:ln/>
        </p:spPr>
      </p:sp>
      <p:sp>
        <p:nvSpPr>
          <p:cNvPr id="7" name="Text 5"/>
          <p:cNvSpPr txBox="1"/>
          <p:nvPr/>
        </p:nvSpPr>
        <p:spPr>
          <a:xfrm>
            <a:off x="676656" y="1847088"/>
            <a:ext cx="2297430" cy="73152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Sign in</a:t>
            </a:r>
            <a:endParaRPr lang="en-US" sz="1150" dirty="0"/>
          </a:p>
        </p:txBody>
      </p:sp>
      <p:sp>
        <p:nvSpPr>
          <p:cNvPr id="8" name="Text 6"/>
          <p:cNvSpPr txBox="1"/>
          <p:nvPr/>
        </p:nvSpPr>
        <p:spPr>
          <a:xfrm>
            <a:off x="3083814" y="1847088"/>
            <a:ext cx="329184" cy="73152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3412998" y="1847088"/>
            <a:ext cx="2516886" cy="731520"/>
          </a:xfrm>
          <a:prstGeom prst="roundRect">
            <a:avLst>
              <a:gd name="adj" fmla="val 7500"/>
            </a:avLst>
          </a:prstGeom>
          <a:solidFill>
            <a:srgbClr val="003BA3"/>
          </a:solidFill>
          <a:ln/>
        </p:spPr>
      </p:sp>
      <p:sp>
        <p:nvSpPr>
          <p:cNvPr id="10" name="Text 8"/>
          <p:cNvSpPr txBox="1"/>
          <p:nvPr/>
        </p:nvSpPr>
        <p:spPr>
          <a:xfrm>
            <a:off x="3522726" y="1847088"/>
            <a:ext cx="2297430" cy="73152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Optional orientation</a:t>
            </a:r>
            <a:endParaRPr lang="en-US" sz="1150" dirty="0"/>
          </a:p>
        </p:txBody>
      </p:sp>
      <p:sp>
        <p:nvSpPr>
          <p:cNvPr id="11" name="Text 9"/>
          <p:cNvSpPr txBox="1"/>
          <p:nvPr/>
        </p:nvSpPr>
        <p:spPr>
          <a:xfrm>
            <a:off x="5929884" y="1847088"/>
            <a:ext cx="329184" cy="73152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6259068" y="1847088"/>
            <a:ext cx="2516886" cy="731520"/>
          </a:xfrm>
          <a:prstGeom prst="roundRect">
            <a:avLst>
              <a:gd name="adj" fmla="val 7500"/>
            </a:avLst>
          </a:prstGeom>
          <a:solidFill>
            <a:srgbClr val="F2F6FD"/>
          </a:solidFill>
          <a:ln/>
        </p:spPr>
      </p:sp>
      <p:sp>
        <p:nvSpPr>
          <p:cNvPr id="13" name="Text 11"/>
          <p:cNvSpPr txBox="1"/>
          <p:nvPr/>
        </p:nvSpPr>
        <p:spPr>
          <a:xfrm>
            <a:off x="6368796" y="1847088"/>
            <a:ext cx="2297430" cy="73152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Select occupation and level</a:t>
            </a:r>
            <a:endParaRPr lang="en-US" sz="1150" dirty="0"/>
          </a:p>
        </p:txBody>
      </p:sp>
      <p:sp>
        <p:nvSpPr>
          <p:cNvPr id="14" name="Text 12"/>
          <p:cNvSpPr txBox="1"/>
          <p:nvPr/>
        </p:nvSpPr>
        <p:spPr>
          <a:xfrm>
            <a:off x="8775954" y="1847088"/>
            <a:ext cx="329184" cy="73152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9105138" y="1847088"/>
            <a:ext cx="2516886" cy="731520"/>
          </a:xfrm>
          <a:prstGeom prst="roundRect">
            <a:avLst>
              <a:gd name="adj" fmla="val 7500"/>
            </a:avLst>
          </a:prstGeom>
          <a:solidFill>
            <a:srgbClr val="F2F6FD"/>
          </a:solidFill>
          <a:ln/>
        </p:spPr>
      </p:sp>
      <p:sp>
        <p:nvSpPr>
          <p:cNvPr id="16" name="Text 14"/>
          <p:cNvSpPr txBox="1"/>
          <p:nvPr/>
        </p:nvSpPr>
        <p:spPr>
          <a:xfrm>
            <a:off x="9214866" y="1847088"/>
            <a:ext cx="2297430" cy="73152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Role, team and working context</a:t>
            </a:r>
            <a:endParaRPr lang="en-US" sz="1150" dirty="0"/>
          </a:p>
        </p:txBody>
      </p:sp>
      <p:sp>
        <p:nvSpPr>
          <p:cNvPr id="17" name="Text 15"/>
          <p:cNvSpPr txBox="1"/>
          <p:nvPr/>
        </p:nvSpPr>
        <p:spPr>
          <a:xfrm>
            <a:off x="9105138" y="2578608"/>
            <a:ext cx="2516886" cy="54864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566928" y="3127248"/>
            <a:ext cx="2516886" cy="731520"/>
          </a:xfrm>
          <a:prstGeom prst="roundRect">
            <a:avLst>
              <a:gd name="adj" fmla="val 7500"/>
            </a:avLst>
          </a:prstGeom>
          <a:solidFill>
            <a:srgbClr val="F2F6FD"/>
          </a:solidFill>
          <a:ln/>
        </p:spPr>
      </p:sp>
      <p:sp>
        <p:nvSpPr>
          <p:cNvPr id="19" name="Text 17"/>
          <p:cNvSpPr txBox="1"/>
          <p:nvPr/>
        </p:nvSpPr>
        <p:spPr>
          <a:xfrm>
            <a:off x="676656" y="3127248"/>
            <a:ext cx="2297430" cy="73152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Task scenario</a:t>
            </a:r>
            <a:endParaRPr lang="en-US" sz="1150" dirty="0"/>
          </a:p>
        </p:txBody>
      </p:sp>
      <p:sp>
        <p:nvSpPr>
          <p:cNvPr id="20" name="Text 18"/>
          <p:cNvSpPr txBox="1"/>
          <p:nvPr/>
        </p:nvSpPr>
        <p:spPr>
          <a:xfrm>
            <a:off x="3083814" y="3127248"/>
            <a:ext cx="329184" cy="73152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3412998" y="3127248"/>
            <a:ext cx="2516886" cy="731520"/>
          </a:xfrm>
          <a:prstGeom prst="roundRect">
            <a:avLst>
              <a:gd name="adj" fmla="val 7500"/>
            </a:avLst>
          </a:prstGeom>
          <a:solidFill>
            <a:srgbClr val="003BA3"/>
          </a:solidFill>
          <a:ln/>
        </p:spPr>
      </p:sp>
      <p:sp>
        <p:nvSpPr>
          <p:cNvPr id="22" name="Text 20"/>
          <p:cNvSpPr txBox="1"/>
          <p:nvPr/>
        </p:nvSpPr>
        <p:spPr>
          <a:xfrm>
            <a:off x="3522726" y="3127248"/>
            <a:ext cx="2297430" cy="73152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Structured or free-text response</a:t>
            </a:r>
            <a:endParaRPr lang="en-US" sz="1150" dirty="0"/>
          </a:p>
        </p:txBody>
      </p:sp>
      <p:sp>
        <p:nvSpPr>
          <p:cNvPr id="23" name="Text 21"/>
          <p:cNvSpPr txBox="1"/>
          <p:nvPr/>
        </p:nvSpPr>
        <p:spPr>
          <a:xfrm>
            <a:off x="5929884" y="3127248"/>
            <a:ext cx="329184" cy="73152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6259068" y="3127248"/>
            <a:ext cx="2516886" cy="731520"/>
          </a:xfrm>
          <a:prstGeom prst="roundRect">
            <a:avLst>
              <a:gd name="adj" fmla="val 7500"/>
            </a:avLst>
          </a:prstGeom>
          <a:solidFill>
            <a:srgbClr val="F2F6FD"/>
          </a:solidFill>
          <a:ln/>
        </p:spPr>
      </p:sp>
      <p:sp>
        <p:nvSpPr>
          <p:cNvPr id="25" name="Text 23"/>
          <p:cNvSpPr txBox="1"/>
          <p:nvPr/>
        </p:nvSpPr>
        <p:spPr>
          <a:xfrm>
            <a:off x="6368796" y="3127248"/>
            <a:ext cx="2297430" cy="73152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Score</a:t>
            </a:r>
            <a:endParaRPr lang="en-US" sz="1150" dirty="0"/>
          </a:p>
        </p:txBody>
      </p:sp>
      <p:sp>
        <p:nvSpPr>
          <p:cNvPr id="26" name="Text 24"/>
          <p:cNvSpPr txBox="1"/>
          <p:nvPr/>
        </p:nvSpPr>
        <p:spPr>
          <a:xfrm>
            <a:off x="8775954" y="3127248"/>
            <a:ext cx="329184" cy="73152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9105138" y="3127248"/>
            <a:ext cx="2516886" cy="731520"/>
          </a:xfrm>
          <a:prstGeom prst="roundRect">
            <a:avLst>
              <a:gd name="adj" fmla="val 7500"/>
            </a:avLst>
          </a:prstGeom>
          <a:solidFill>
            <a:srgbClr val="F2F6FD"/>
          </a:solidFill>
          <a:ln/>
        </p:spPr>
      </p:sp>
      <p:sp>
        <p:nvSpPr>
          <p:cNvPr id="28" name="Text 26"/>
          <p:cNvSpPr txBox="1"/>
          <p:nvPr/>
        </p:nvSpPr>
        <p:spPr>
          <a:xfrm>
            <a:off x="9214866" y="3127248"/>
            <a:ext cx="2297430" cy="73152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Record competencies</a:t>
            </a:r>
            <a:endParaRPr lang="en-US" sz="1150" dirty="0"/>
          </a:p>
        </p:txBody>
      </p:sp>
      <p:sp>
        <p:nvSpPr>
          <p:cNvPr id="29" name="Text 27"/>
          <p:cNvSpPr txBox="1"/>
          <p:nvPr/>
        </p:nvSpPr>
        <p:spPr>
          <a:xfrm>
            <a:off x="9105138" y="3858768"/>
            <a:ext cx="2516886" cy="54864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566928" y="4407408"/>
            <a:ext cx="2516886" cy="731520"/>
          </a:xfrm>
          <a:prstGeom prst="roundRect">
            <a:avLst>
              <a:gd name="adj" fmla="val 7500"/>
            </a:avLst>
          </a:prstGeom>
          <a:solidFill>
            <a:srgbClr val="F2F6FD"/>
          </a:solidFill>
          <a:ln/>
        </p:spPr>
      </p:sp>
      <p:sp>
        <p:nvSpPr>
          <p:cNvPr id="31" name="Text 29"/>
          <p:cNvSpPr txBox="1"/>
          <p:nvPr/>
        </p:nvSpPr>
        <p:spPr>
          <a:xfrm>
            <a:off x="676656" y="4407408"/>
            <a:ext cx="2297430" cy="73152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Result, feedback and guidance</a:t>
            </a:r>
            <a:endParaRPr lang="en-US" sz="1150" dirty="0"/>
          </a:p>
        </p:txBody>
      </p:sp>
      <p:sp>
        <p:nvSpPr>
          <p:cNvPr id="32" name="Text 30"/>
          <p:cNvSpPr txBox="1"/>
          <p:nvPr/>
        </p:nvSpPr>
        <p:spPr>
          <a:xfrm>
            <a:off x="3083814" y="4407408"/>
            <a:ext cx="329184" cy="73152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3412998" y="4407408"/>
            <a:ext cx="2516886" cy="731520"/>
          </a:xfrm>
          <a:prstGeom prst="roundRect">
            <a:avLst>
              <a:gd name="adj" fmla="val 7500"/>
            </a:avLst>
          </a:prstGeom>
          <a:solidFill>
            <a:srgbClr val="F2F6FD"/>
          </a:solidFill>
          <a:ln/>
        </p:spPr>
      </p:sp>
      <p:sp>
        <p:nvSpPr>
          <p:cNvPr id="34" name="Text 32"/>
          <p:cNvSpPr txBox="1"/>
          <p:nvPr/>
        </p:nvSpPr>
        <p:spPr>
          <a:xfrm>
            <a:off x="3522726" y="4407408"/>
            <a:ext cx="2297430" cy="73152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More tasks, or award credit</a:t>
            </a:r>
            <a:endParaRPr lang="en-US" sz="1150" dirty="0"/>
          </a:p>
        </p:txBody>
      </p:sp>
      <p:sp>
        <p:nvSpPr>
          <p:cNvPr id="35" name="Text 33"/>
          <p:cNvSpPr txBox="1"/>
          <p:nvPr/>
        </p:nvSpPr>
        <p:spPr>
          <a:xfrm>
            <a:off x="5929884" y="4407408"/>
            <a:ext cx="329184" cy="73152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6259068" y="4407408"/>
            <a:ext cx="2516886" cy="731520"/>
          </a:xfrm>
          <a:prstGeom prst="roundRect">
            <a:avLst>
              <a:gd name="adj" fmla="val 7500"/>
            </a:avLst>
          </a:prstGeom>
          <a:solidFill>
            <a:srgbClr val="003BA3"/>
          </a:solidFill>
          <a:ln/>
        </p:spPr>
      </p:sp>
      <p:sp>
        <p:nvSpPr>
          <p:cNvPr id="37" name="Text 35"/>
          <p:cNvSpPr txBox="1"/>
          <p:nvPr/>
        </p:nvSpPr>
        <p:spPr>
          <a:xfrm>
            <a:off x="6368796" y="4407408"/>
            <a:ext cx="2297430" cy="73152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Unlock evaluation</a:t>
            </a:r>
            <a:endParaRPr lang="en-US" sz="1150" dirty="0"/>
          </a:p>
        </p:txBody>
      </p:sp>
      <p:sp>
        <p:nvSpPr>
          <p:cNvPr id="38" name="Text 36"/>
          <p:cNvSpPr txBox="1"/>
          <p:nvPr/>
        </p:nvSpPr>
        <p:spPr>
          <a:xfrm>
            <a:off x="8775954" y="4407408"/>
            <a:ext cx="329184" cy="73152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39" name="Shape 37"/>
          <p:cNvSpPr/>
          <p:nvPr/>
        </p:nvSpPr>
        <p:spPr>
          <a:xfrm>
            <a:off x="9105138" y="4407408"/>
            <a:ext cx="2516886" cy="731520"/>
          </a:xfrm>
          <a:prstGeom prst="roundRect">
            <a:avLst>
              <a:gd name="adj" fmla="val 7500"/>
            </a:avLst>
          </a:prstGeom>
          <a:solidFill>
            <a:srgbClr val="F2F6FD"/>
          </a:solidFill>
          <a:ln/>
        </p:spPr>
      </p:sp>
      <p:sp>
        <p:nvSpPr>
          <p:cNvPr id="40" name="Text 38"/>
          <p:cNvSpPr txBox="1"/>
          <p:nvPr/>
        </p:nvSpPr>
        <p:spPr>
          <a:xfrm>
            <a:off x="9214866" y="4407408"/>
            <a:ext cx="2297430" cy="73152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Five-attribute rating → aggregate profile</a:t>
            </a:r>
            <a:endParaRPr lang="en-US" sz="1150" dirty="0"/>
          </a:p>
        </p:txBody>
      </p:sp>
      <p:sp>
        <p:nvSpPr>
          <p:cNvPr id="41" name="Text 39"/>
          <p:cNvSpPr txBox="1"/>
          <p:nvPr/>
        </p:nvSpPr>
        <p:spPr>
          <a:xfrm>
            <a:off x="566928" y="5815584"/>
            <a:ext cx="11055096" cy="603504"/>
          </a:xfrm>
          <a:prstGeom prst="rect">
            <a:avLst/>
          </a:prstGeom>
          <a:noFill/>
          <a:ln/>
        </p:spPr>
        <p:txBody>
          <a:bodyPr wrap="square" lIns="0" tIns="0" rIns="0" bIns="0" rtlCol="0" anchor="ctr"/>
          <a:lstStyle/>
          <a:p>
            <a:pPr indent="0" marL="0">
              <a:lnSpc>
                <a:spcPct val="103000"/>
              </a:lnSpc>
              <a:buNone/>
            </a:pPr>
            <a:r>
              <a:rPr lang="en-US" sz="1200" i="1" dirty="0">
                <a:solidFill>
                  <a:srgbClr val="003BA3"/>
                </a:solidFill>
                <a:latin typeface="Calibri" pitchFamily="34" charset="0"/>
                <a:ea typeface="Calibri" pitchFamily="34" charset="-122"/>
                <a:cs typeface="Calibri" pitchFamily="34" charset="-120"/>
              </a:rPr>
              <a:t>Navy blocks are the three decision points: the optional orientation (deliberately not a prerequisite — making it one would turn us back into an assessment instrument), the response type (deterministic or rubric-based scoring), and the unlock evaluation (where BR-02 and BR-03 bite).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CHAPTER 5 · FIGURE 5.2</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The content lifecycle</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This loop is BR-05 made operational — nothing reaches a user without expert validation.</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27</a:t>
            </a:r>
            <a:endParaRPr lang="en-US" sz="1000" dirty="0"/>
          </a:p>
        </p:txBody>
      </p:sp>
      <p:sp>
        <p:nvSpPr>
          <p:cNvPr id="6" name="Shape 4"/>
          <p:cNvSpPr/>
          <p:nvPr/>
        </p:nvSpPr>
        <p:spPr>
          <a:xfrm>
            <a:off x="566928" y="1847088"/>
            <a:ext cx="2530602" cy="868680"/>
          </a:xfrm>
          <a:prstGeom prst="roundRect">
            <a:avLst>
              <a:gd name="adj" fmla="val 6316"/>
            </a:avLst>
          </a:prstGeom>
          <a:solidFill>
            <a:srgbClr val="F2F6FD"/>
          </a:solidFill>
          <a:ln/>
        </p:spPr>
      </p:sp>
      <p:sp>
        <p:nvSpPr>
          <p:cNvPr id="7" name="Text 5"/>
          <p:cNvSpPr txBox="1"/>
          <p:nvPr/>
        </p:nvSpPr>
        <p:spPr>
          <a:xfrm>
            <a:off x="676656" y="1847088"/>
            <a:ext cx="2311146" cy="86868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Administrator commissions</a:t>
            </a:r>
            <a:endParaRPr lang="en-US" sz="1150" dirty="0"/>
          </a:p>
        </p:txBody>
      </p:sp>
      <p:sp>
        <p:nvSpPr>
          <p:cNvPr id="8" name="Shape 6"/>
          <p:cNvSpPr/>
          <p:nvPr/>
        </p:nvSpPr>
        <p:spPr>
          <a:xfrm>
            <a:off x="3408426" y="1847088"/>
            <a:ext cx="2530602" cy="868680"/>
          </a:xfrm>
          <a:prstGeom prst="roundRect">
            <a:avLst>
              <a:gd name="adj" fmla="val 6316"/>
            </a:avLst>
          </a:prstGeom>
          <a:solidFill>
            <a:srgbClr val="F2F6FD"/>
          </a:solidFill>
          <a:ln/>
        </p:spPr>
      </p:sp>
      <p:sp>
        <p:nvSpPr>
          <p:cNvPr id="9" name="Text 7"/>
          <p:cNvSpPr txBox="1"/>
          <p:nvPr/>
        </p:nvSpPr>
        <p:spPr>
          <a:xfrm>
            <a:off x="3518154" y="1847088"/>
            <a:ext cx="2311146" cy="86868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Expert authors seed</a:t>
            </a:r>
            <a:endParaRPr lang="en-US" sz="1150" dirty="0"/>
          </a:p>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(facts, competencies, rubric)</a:t>
            </a:r>
            <a:endParaRPr lang="en-US" sz="1150" dirty="0"/>
          </a:p>
        </p:txBody>
      </p:sp>
      <p:sp>
        <p:nvSpPr>
          <p:cNvPr id="10" name="Shape 8"/>
          <p:cNvSpPr/>
          <p:nvPr/>
        </p:nvSpPr>
        <p:spPr>
          <a:xfrm>
            <a:off x="6249924" y="1847088"/>
            <a:ext cx="2530602" cy="868680"/>
          </a:xfrm>
          <a:prstGeom prst="roundRect">
            <a:avLst>
              <a:gd name="adj" fmla="val 6316"/>
            </a:avLst>
          </a:prstGeom>
          <a:solidFill>
            <a:srgbClr val="F2F6FD"/>
          </a:solidFill>
          <a:ln/>
        </p:spPr>
      </p:sp>
      <p:sp>
        <p:nvSpPr>
          <p:cNvPr id="11" name="Text 9"/>
          <p:cNvSpPr txBox="1"/>
          <p:nvPr/>
        </p:nvSpPr>
        <p:spPr>
          <a:xfrm>
            <a:off x="6359652" y="1847088"/>
            <a:ext cx="2311146" cy="86868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System generates candidates</a:t>
            </a:r>
            <a:endParaRPr lang="en-US" sz="1150" dirty="0"/>
          </a:p>
        </p:txBody>
      </p:sp>
      <p:sp>
        <p:nvSpPr>
          <p:cNvPr id="12" name="Shape 10"/>
          <p:cNvSpPr/>
          <p:nvPr/>
        </p:nvSpPr>
        <p:spPr>
          <a:xfrm>
            <a:off x="9091422" y="1847088"/>
            <a:ext cx="2530602" cy="868680"/>
          </a:xfrm>
          <a:prstGeom prst="roundRect">
            <a:avLst>
              <a:gd name="adj" fmla="val 6316"/>
            </a:avLst>
          </a:prstGeom>
          <a:solidFill>
            <a:srgbClr val="003BA3"/>
          </a:solidFill>
          <a:ln/>
        </p:spPr>
      </p:sp>
      <p:sp>
        <p:nvSpPr>
          <p:cNvPr id="13" name="Text 11"/>
          <p:cNvSpPr txBox="1"/>
          <p:nvPr/>
        </p:nvSpPr>
        <p:spPr>
          <a:xfrm>
            <a:off x="9201150" y="1847088"/>
            <a:ext cx="2311146" cy="86868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Expert reviews</a:t>
            </a:r>
            <a:endParaRPr lang="en-US" sz="1150" dirty="0"/>
          </a:p>
        </p:txBody>
      </p:sp>
      <p:sp>
        <p:nvSpPr>
          <p:cNvPr id="14" name="Shape 12"/>
          <p:cNvSpPr/>
          <p:nvPr/>
        </p:nvSpPr>
        <p:spPr>
          <a:xfrm>
            <a:off x="9091422" y="3282696"/>
            <a:ext cx="2530602" cy="868680"/>
          </a:xfrm>
          <a:prstGeom prst="roundRect">
            <a:avLst>
              <a:gd name="adj" fmla="val 6316"/>
            </a:avLst>
          </a:prstGeom>
          <a:solidFill>
            <a:srgbClr val="003BA3"/>
          </a:solidFill>
          <a:ln/>
        </p:spPr>
      </p:sp>
      <p:sp>
        <p:nvSpPr>
          <p:cNvPr id="15" name="Text 13"/>
          <p:cNvSpPr txBox="1"/>
          <p:nvPr/>
        </p:nvSpPr>
        <p:spPr>
          <a:xfrm>
            <a:off x="9201150" y="3282696"/>
            <a:ext cx="2311146" cy="86868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Expert approves</a:t>
            </a:r>
            <a:endParaRPr lang="en-US" sz="1150" dirty="0"/>
          </a:p>
        </p:txBody>
      </p:sp>
      <p:sp>
        <p:nvSpPr>
          <p:cNvPr id="16" name="Shape 14"/>
          <p:cNvSpPr/>
          <p:nvPr/>
        </p:nvSpPr>
        <p:spPr>
          <a:xfrm>
            <a:off x="6249924" y="3282696"/>
            <a:ext cx="2530602" cy="868680"/>
          </a:xfrm>
          <a:prstGeom prst="roundRect">
            <a:avLst>
              <a:gd name="adj" fmla="val 6316"/>
            </a:avLst>
          </a:prstGeom>
          <a:solidFill>
            <a:srgbClr val="F2F6FD"/>
          </a:solidFill>
          <a:ln/>
        </p:spPr>
      </p:sp>
      <p:sp>
        <p:nvSpPr>
          <p:cNvPr id="17" name="Text 15"/>
          <p:cNvSpPr txBox="1"/>
          <p:nvPr/>
        </p:nvSpPr>
        <p:spPr>
          <a:xfrm>
            <a:off x="6359652" y="3282696"/>
            <a:ext cx="2311146" cy="86868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Administrator publishes</a:t>
            </a:r>
            <a:endParaRPr lang="en-US" sz="1150" dirty="0"/>
          </a:p>
        </p:txBody>
      </p:sp>
      <p:sp>
        <p:nvSpPr>
          <p:cNvPr id="18" name="Shape 16"/>
          <p:cNvSpPr/>
          <p:nvPr/>
        </p:nvSpPr>
        <p:spPr>
          <a:xfrm>
            <a:off x="3408426" y="3282696"/>
            <a:ext cx="2530602" cy="868680"/>
          </a:xfrm>
          <a:prstGeom prst="roundRect">
            <a:avLst>
              <a:gd name="adj" fmla="val 6316"/>
            </a:avLst>
          </a:prstGeom>
          <a:solidFill>
            <a:srgbClr val="F2F6FD"/>
          </a:solidFill>
          <a:ln/>
        </p:spPr>
      </p:sp>
      <p:sp>
        <p:nvSpPr>
          <p:cNvPr id="19" name="Text 17"/>
          <p:cNvSpPr txBox="1"/>
          <p:nvPr/>
        </p:nvSpPr>
        <p:spPr>
          <a:xfrm>
            <a:off x="3518154" y="3282696"/>
            <a:ext cx="2311146" cy="86868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Available to explorers</a:t>
            </a:r>
            <a:endParaRPr lang="en-US" sz="1150" dirty="0"/>
          </a:p>
        </p:txBody>
      </p:sp>
      <p:sp>
        <p:nvSpPr>
          <p:cNvPr id="20" name="Shape 18"/>
          <p:cNvSpPr/>
          <p:nvPr/>
        </p:nvSpPr>
        <p:spPr>
          <a:xfrm>
            <a:off x="566928" y="3282696"/>
            <a:ext cx="2530602" cy="868680"/>
          </a:xfrm>
          <a:prstGeom prst="roundRect">
            <a:avLst>
              <a:gd name="adj" fmla="val 6316"/>
            </a:avLst>
          </a:prstGeom>
          <a:solidFill>
            <a:srgbClr val="F2F6FD"/>
          </a:solidFill>
          <a:ln/>
        </p:spPr>
      </p:sp>
      <p:sp>
        <p:nvSpPr>
          <p:cNvPr id="21" name="Text 19"/>
          <p:cNvSpPr txBox="1"/>
          <p:nvPr/>
        </p:nvSpPr>
        <p:spPr>
          <a:xfrm>
            <a:off x="676656" y="3282696"/>
            <a:ext cx="2311146" cy="868680"/>
          </a:xfrm>
          <a:prstGeom prst="rect">
            <a:avLst/>
          </a:prstGeom>
          <a:noFill/>
          <a:ln/>
        </p:spPr>
        <p:txBody>
          <a:bodyPr wrap="square" lIns="0" tIns="0" rIns="0" bIns="0" rtlCol="0" anchor="ctr"/>
          <a:lstStyle/>
          <a:p>
            <a:pPr algn="ctr" indent="0" marL="0">
              <a:lnSpc>
                <a:spcPct val="100000"/>
              </a:lnSpc>
              <a:buNone/>
            </a:pPr>
            <a:r>
              <a:rPr lang="en-US" sz="1150" dirty="0">
                <a:solidFill>
                  <a:srgbClr val="1B2333"/>
                </a:solidFill>
                <a:latin typeface="Calibri" pitchFamily="34" charset="0"/>
                <a:ea typeface="Calibri" pitchFamily="34" charset="-122"/>
                <a:cs typeface="Calibri" pitchFamily="34" charset="-120"/>
              </a:rPr>
              <a:t>Revalidation due</a:t>
            </a:r>
            <a:endParaRPr lang="en-US" sz="1150" dirty="0"/>
          </a:p>
        </p:txBody>
      </p:sp>
      <p:sp>
        <p:nvSpPr>
          <p:cNvPr id="22" name="Text 20"/>
          <p:cNvSpPr txBox="1"/>
          <p:nvPr/>
        </p:nvSpPr>
        <p:spPr>
          <a:xfrm>
            <a:off x="3097530" y="1847088"/>
            <a:ext cx="310896" cy="86868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23" name="Text 21"/>
          <p:cNvSpPr txBox="1"/>
          <p:nvPr/>
        </p:nvSpPr>
        <p:spPr>
          <a:xfrm>
            <a:off x="3097530" y="3282696"/>
            <a:ext cx="310896" cy="86868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5939028" y="1847088"/>
            <a:ext cx="310896" cy="86868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25" name="Text 23"/>
          <p:cNvSpPr txBox="1"/>
          <p:nvPr/>
        </p:nvSpPr>
        <p:spPr>
          <a:xfrm>
            <a:off x="5939028" y="3282696"/>
            <a:ext cx="310896" cy="86868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8780526" y="1847088"/>
            <a:ext cx="310896" cy="86868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8780526" y="3282696"/>
            <a:ext cx="310896" cy="868680"/>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28" name="Text 26"/>
          <p:cNvSpPr txBox="1"/>
          <p:nvPr/>
        </p:nvSpPr>
        <p:spPr>
          <a:xfrm>
            <a:off x="9091422" y="2715768"/>
            <a:ext cx="2530602" cy="566928"/>
          </a:xfrm>
          <a:prstGeom prst="rect">
            <a:avLst/>
          </a:prstGeom>
          <a:noFill/>
          <a:ln/>
        </p:spPr>
        <p:txBody>
          <a:bodyPr wrap="square" lIns="0" tIns="0" rIns="0" bIns="0" rtlCol="0" anchor="ctr"/>
          <a:lstStyle/>
          <a:p>
            <a:pPr algn="ctr" indent="0" marL="0">
              <a:buNone/>
            </a:pPr>
            <a:r>
              <a:rPr lang="en-US" sz="1400" dirty="0">
                <a:solidFill>
                  <a:srgbClr val="9AAECF"/>
                </a:solidFill>
                <a:latin typeface="Calibri" pitchFamily="34" charset="0"/>
                <a:ea typeface="Calibri" pitchFamily="34" charset="-122"/>
                <a:cs typeface="Calibri" pitchFamily="34" charset="-120"/>
              </a:rPr>
              <a:t>↓</a:t>
            </a:r>
            <a:endParaRPr lang="en-US" sz="1400" dirty="0"/>
          </a:p>
        </p:txBody>
      </p:sp>
      <p:sp>
        <p:nvSpPr>
          <p:cNvPr id="29" name="Text 27"/>
          <p:cNvSpPr txBox="1"/>
          <p:nvPr/>
        </p:nvSpPr>
        <p:spPr>
          <a:xfrm>
            <a:off x="566928" y="2715768"/>
            <a:ext cx="5639562" cy="566928"/>
          </a:xfrm>
          <a:prstGeom prst="rect">
            <a:avLst/>
          </a:prstGeom>
          <a:noFill/>
          <a:ln/>
        </p:spPr>
        <p:txBody>
          <a:bodyPr wrap="square" lIns="0" tIns="0" rIns="0" bIns="0" rtlCol="0" anchor="ctr"/>
          <a:lstStyle/>
          <a:p>
            <a:pPr indent="0" marL="0">
              <a:buNone/>
            </a:pPr>
            <a:r>
              <a:rPr lang="en-US" sz="1100" i="1" dirty="0">
                <a:solidFill>
                  <a:srgbClr val="6B7585"/>
                </a:solidFill>
                <a:latin typeface="Calibri" pitchFamily="34" charset="0"/>
                <a:ea typeface="Calibri" pitchFamily="34" charset="-122"/>
                <a:cs typeface="Calibri" pitchFamily="34" charset="-120"/>
              </a:rPr>
              <a:t>↑  the loop closes: published content returns for revalidation</a:t>
            </a:r>
            <a:endParaRPr lang="en-US" sz="1100" dirty="0"/>
          </a:p>
        </p:txBody>
      </p:sp>
      <p:sp>
        <p:nvSpPr>
          <p:cNvPr id="30" name="Shape 28"/>
          <p:cNvSpPr/>
          <p:nvPr/>
        </p:nvSpPr>
        <p:spPr>
          <a:xfrm>
            <a:off x="566928" y="4809744"/>
            <a:ext cx="5440680" cy="914400"/>
          </a:xfrm>
          <a:prstGeom prst="roundRect">
            <a:avLst>
              <a:gd name="adj" fmla="val 6000"/>
            </a:avLst>
          </a:prstGeom>
          <a:solidFill>
            <a:srgbClr val="FFF4E0"/>
          </a:solidFill>
          <a:ln/>
        </p:spPr>
      </p:sp>
      <p:sp>
        <p:nvSpPr>
          <p:cNvPr id="31" name="Text 29"/>
          <p:cNvSpPr txBox="1"/>
          <p:nvPr/>
        </p:nvSpPr>
        <p:spPr>
          <a:xfrm>
            <a:off x="786384" y="4809744"/>
            <a:ext cx="5001768" cy="914400"/>
          </a:xfrm>
          <a:prstGeom prst="rect">
            <a:avLst/>
          </a:prstGeom>
          <a:noFill/>
          <a:ln/>
        </p:spPr>
        <p:txBody>
          <a:bodyPr wrap="square" lIns="0" tIns="0" rIns="0" bIns="0" rtlCol="0" anchor="ctr"/>
          <a:lstStyle/>
          <a:p>
            <a:pPr indent="0" marL="0">
              <a:lnSpc>
                <a:spcPct val="103000"/>
              </a:lnSpc>
              <a:buNone/>
            </a:pPr>
            <a:r>
              <a:rPr lang="en-US" sz="1150" b="1" dirty="0">
                <a:solidFill>
                  <a:srgbClr val="B26B00"/>
                </a:solidFill>
                <a:latin typeface="Montserrat" pitchFamily="34" charset="0"/>
                <a:ea typeface="Montserrat" pitchFamily="34" charset="-122"/>
                <a:cs typeface="Montserrat" pitchFamily="34" charset="-120"/>
              </a:rPr>
              <a:t>The rejection path branches.  </a:t>
            </a:r>
            <a:pPr indent="0" marL="0">
              <a:lnSpc>
                <a:spcPct val="103000"/>
              </a:lnSpc>
              <a:buNone/>
            </a:pPr>
            <a:r>
              <a:rPr lang="en-US" sz="1150" dirty="0">
                <a:solidFill>
                  <a:srgbClr val="4A3000"/>
                </a:solidFill>
                <a:latin typeface="Calibri" pitchFamily="34" charset="0"/>
                <a:ea typeface="Calibri" pitchFamily="34" charset="-122"/>
                <a:cs typeface="Calibri" pitchFamily="34" charset="-120"/>
              </a:rPr>
              <a:t>An expert may reject a single generated scenario, or correct the seed — in which case every prior generation from that seed is invalidated and regenerated. The seed is where the required facts live.</a:t>
            </a:r>
            <a:endParaRPr lang="en-US" sz="1150" dirty="0"/>
          </a:p>
        </p:txBody>
      </p:sp>
      <p:sp>
        <p:nvSpPr>
          <p:cNvPr id="32" name="Shape 30"/>
          <p:cNvSpPr/>
          <p:nvPr/>
        </p:nvSpPr>
        <p:spPr>
          <a:xfrm>
            <a:off x="6181344" y="4809744"/>
            <a:ext cx="5440680" cy="914400"/>
          </a:xfrm>
          <a:prstGeom prst="roundRect">
            <a:avLst>
              <a:gd name="adj" fmla="val 6000"/>
            </a:avLst>
          </a:prstGeom>
          <a:solidFill>
            <a:srgbClr val="003BA3"/>
          </a:solidFill>
          <a:ln/>
        </p:spPr>
      </p:sp>
      <p:sp>
        <p:nvSpPr>
          <p:cNvPr id="33" name="Text 31"/>
          <p:cNvSpPr txBox="1"/>
          <p:nvPr/>
        </p:nvSpPr>
        <p:spPr>
          <a:xfrm>
            <a:off x="6400800" y="4809744"/>
            <a:ext cx="5001768" cy="914400"/>
          </a:xfrm>
          <a:prstGeom prst="rect">
            <a:avLst/>
          </a:prstGeom>
          <a:noFill/>
          <a:ln/>
        </p:spPr>
        <p:txBody>
          <a:bodyPr wrap="square" lIns="0" tIns="0" rIns="0" bIns="0" rtlCol="0" anchor="ctr"/>
          <a:lstStyle/>
          <a:p>
            <a:pPr indent="0" marL="0">
              <a:lnSpc>
                <a:spcPct val="103000"/>
              </a:lnSpc>
              <a:buNone/>
            </a:pPr>
            <a:r>
              <a:rPr lang="en-US" sz="1150" b="1" dirty="0">
                <a:solidFill>
                  <a:srgbClr val="FFD27A"/>
                </a:solidFill>
                <a:latin typeface="Montserrat" pitchFamily="34" charset="0"/>
                <a:ea typeface="Montserrat" pitchFamily="34" charset="-122"/>
                <a:cs typeface="Montserrat" pitchFamily="34" charset="-120"/>
              </a:rPr>
              <a:t>Where the cost constraint lives.  </a:t>
            </a:r>
            <a:pPr indent="0" marL="0">
              <a:lnSpc>
                <a:spcPct val="103000"/>
              </a:lnSpc>
              <a:buNone/>
            </a:pPr>
            <a:r>
              <a:rPr lang="en-US" sz="1150" dirty="0">
                <a:solidFill>
                  <a:srgbClr val="FFFFFF"/>
                </a:solidFill>
                <a:latin typeface="Calibri" pitchFamily="34" charset="0"/>
                <a:ea typeface="Calibri" pitchFamily="34" charset="-122"/>
                <a:cs typeface="Calibri" pitchFamily="34" charset="-120"/>
              </a:rPr>
              <a:t>Expert time limits how many occupations we can cover — which is exactly why phase 1 is one field.</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CHAPTER 5 · FIGURE 5.3</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Use cases and traceability</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Thirteen use cases. Two of them carry the research.</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Traceability matrix maps all 43 requirements to the use case realising them — no requirement unrealised, no use case introducing unspecified behaviour. Remaining nine use cases are specified in the same tabular form in Appendix 1.</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28</a:t>
            </a:r>
            <a:endParaRPr lang="en-US" sz="1000" dirty="0"/>
          </a:p>
        </p:txBody>
      </p:sp>
      <p:sp>
        <p:nvSpPr>
          <p:cNvPr id="7" name="Shape 5"/>
          <p:cNvSpPr/>
          <p:nvPr/>
        </p:nvSpPr>
        <p:spPr>
          <a:xfrm>
            <a:off x="566928" y="1847088"/>
            <a:ext cx="5120640" cy="3566160"/>
          </a:xfrm>
          <a:prstGeom prst="roundRect">
            <a:avLst>
              <a:gd name="adj" fmla="val 2051"/>
            </a:avLst>
          </a:prstGeom>
          <a:solidFill>
            <a:srgbClr val="F2F6FD"/>
          </a:solidFill>
          <a:ln/>
        </p:spPr>
      </p:sp>
      <p:sp>
        <p:nvSpPr>
          <p:cNvPr id="8" name="Text 6"/>
          <p:cNvSpPr txBox="1"/>
          <p:nvPr/>
        </p:nvSpPr>
        <p:spPr>
          <a:xfrm>
            <a:off x="786384" y="1993392"/>
            <a:ext cx="4663440" cy="256032"/>
          </a:xfrm>
          <a:prstGeom prst="rect">
            <a:avLst/>
          </a:prstGeom>
          <a:noFill/>
          <a:ln/>
        </p:spPr>
        <p:txBody>
          <a:bodyPr wrap="square" lIns="0" tIns="0" rIns="0" bIns="0" rtlCol="0" anchor="ctr"/>
          <a:lstStyle/>
          <a:p>
            <a:pPr indent="0" marL="0">
              <a:buNone/>
            </a:pPr>
            <a:r>
              <a:rPr lang="en-US" sz="1250" b="1" dirty="0">
                <a:solidFill>
                  <a:srgbClr val="003BA3"/>
                </a:solidFill>
                <a:latin typeface="Montserrat" pitchFamily="34" charset="0"/>
                <a:ea typeface="Montserrat" pitchFamily="34" charset="-122"/>
                <a:cs typeface="Montserrat" pitchFamily="34" charset="-120"/>
              </a:rPr>
              <a:t>The model</a:t>
            </a:r>
            <a:endParaRPr lang="en-US" sz="1250" dirty="0"/>
          </a:p>
        </p:txBody>
      </p:sp>
      <p:sp>
        <p:nvSpPr>
          <p:cNvPr id="9" name="Text 7"/>
          <p:cNvSpPr txBox="1"/>
          <p:nvPr/>
        </p:nvSpPr>
        <p:spPr>
          <a:xfrm>
            <a:off x="786384" y="2304288"/>
            <a:ext cx="4663440" cy="2926080"/>
          </a:xfrm>
          <a:prstGeom prst="rect">
            <a:avLst/>
          </a:prstGeom>
          <a:noFill/>
          <a:ln/>
        </p:spPr>
        <p:txBody>
          <a:bodyPr wrap="square" lIns="0" tIns="0" rIns="0" bIns="0" rtlCol="0" anchor="t"/>
          <a:lstStyle/>
          <a:p>
            <a:pPr indent="0" marL="0">
              <a:lnSpc>
                <a:spcPct val="112000"/>
              </a:lnSpc>
              <a:buNone/>
            </a:pPr>
            <a:r>
              <a:rPr lang="en-US" sz="1200" b="1" dirty="0">
                <a:solidFill>
                  <a:srgbClr val="1B2333"/>
                </a:solidFill>
                <a:latin typeface="Calibri" pitchFamily="34" charset="0"/>
                <a:ea typeface="Calibri" pitchFamily="34" charset="-122"/>
                <a:cs typeface="Calibri" pitchFamily="34" charset="-120"/>
              </a:rPr>
              <a:t>4 actors</a:t>
            </a:r>
            <a:endParaRPr lang="en-US" sz="1200" dirty="0"/>
          </a:p>
          <a:p>
            <a:pPr indent="0" marL="0">
              <a:lnSpc>
                <a:spcPct val="112000"/>
              </a:lnSpc>
              <a:buNone/>
            </a:pPr>
            <a:r>
              <a:rPr lang="en-US" sz="1200" dirty="0">
                <a:solidFill>
                  <a:srgbClr val="1B2333"/>
                </a:solidFill>
                <a:latin typeface="Calibri" pitchFamily="34" charset="0"/>
                <a:ea typeface="Calibri" pitchFamily="34" charset="-122"/>
                <a:cs typeface="Calibri" pitchFamily="34" charset="-120"/>
              </a:rPr>
              <a:t>Explorer · Domain expert · Content administrator · System administrator</a:t>
            </a:r>
            <a:endParaRPr lang="en-US" sz="1200" dirty="0"/>
          </a:p>
          <a:p>
            <a:pPr indent="0" marL="0">
              <a:lnSpc>
                <a:spcPct val="112000"/>
              </a:lnSpc>
              <a:buNone/>
            </a:pPr>
            <a:r>
              <a:rPr lang="en-US" sz="1200" b="1" dirty="0">
                <a:solidFill>
                  <a:srgbClr val="1B2333"/>
                </a:solidFill>
                <a:latin typeface="Calibri" pitchFamily="34" charset="0"/>
                <a:ea typeface="Calibri" pitchFamily="34" charset="-122"/>
                <a:cs typeface="Calibri" pitchFamily="34" charset="-120"/>
              </a:rPr>
              <a:t>2 external systems</a:t>
            </a:r>
            <a:endParaRPr lang="en-US" sz="1200" dirty="0"/>
          </a:p>
          <a:p>
            <a:pPr indent="0" marL="0">
              <a:lnSpc>
                <a:spcPct val="112000"/>
              </a:lnSpc>
              <a:buNone/>
            </a:pPr>
            <a:r>
              <a:rPr lang="en-US" sz="1200" dirty="0">
                <a:solidFill>
                  <a:srgbClr val="1B2333"/>
                </a:solidFill>
                <a:latin typeface="Calibri" pitchFamily="34" charset="0"/>
                <a:ea typeface="Calibri" pitchFamily="34" charset="-122"/>
                <a:cs typeface="Calibri" pitchFamily="34" charset="-120"/>
              </a:rPr>
              <a:t>Model provider · Occupational data source</a:t>
            </a:r>
            <a:endParaRPr lang="en-US" sz="1200" dirty="0"/>
          </a:p>
          <a:p>
            <a:pPr indent="0" marL="0">
              <a:lnSpc>
                <a:spcPct val="112000"/>
              </a:lnSpc>
              <a:buNone/>
            </a:pPr>
            <a:r>
              <a:rPr lang="en-US" sz="1200" b="1" dirty="0">
                <a:solidFill>
                  <a:srgbClr val="1B2333"/>
                </a:solidFill>
                <a:latin typeface="Calibri" pitchFamily="34" charset="0"/>
                <a:ea typeface="Calibri" pitchFamily="34" charset="-122"/>
                <a:cs typeface="Calibri" pitchFamily="34" charset="-120"/>
              </a:rPr>
              <a:t>13 use cases</a:t>
            </a:r>
            <a:endParaRPr lang="en-US" sz="1200" dirty="0"/>
          </a:p>
          <a:p>
            <a:pPr indent="0" marL="0">
              <a:lnSpc>
                <a:spcPct val="112000"/>
              </a:lnSpc>
              <a:buNone/>
            </a:pPr>
            <a:r>
              <a:rPr lang="en-US" sz="1200" dirty="0">
                <a:solidFill>
                  <a:srgbClr val="1B2333"/>
                </a:solidFill>
                <a:latin typeface="Calibri" pitchFamily="34" charset="0"/>
                <a:ea typeface="Calibri" pitchFamily="34" charset="-122"/>
                <a:cs typeface="Calibri" pitchFamily="34" charset="-120"/>
              </a:rPr>
              <a:t>UC-03 Perform a task scenario and UC-08 Validate generated scenario are the two the research problems depend on.</a:t>
            </a:r>
            <a:endParaRPr lang="en-US" sz="1200" dirty="0"/>
          </a:p>
        </p:txBody>
      </p:sp>
      <p:sp>
        <p:nvSpPr>
          <p:cNvPr id="10" name="Shape 8"/>
          <p:cNvSpPr/>
          <p:nvPr/>
        </p:nvSpPr>
        <p:spPr>
          <a:xfrm>
            <a:off x="5961888" y="1847088"/>
            <a:ext cx="5660136" cy="1691640"/>
          </a:xfrm>
          <a:prstGeom prst="roundRect">
            <a:avLst>
              <a:gd name="adj" fmla="val 4324"/>
            </a:avLst>
          </a:prstGeom>
          <a:solidFill>
            <a:srgbClr val="003BA3"/>
          </a:solidFill>
          <a:ln/>
        </p:spPr>
      </p:sp>
      <p:sp>
        <p:nvSpPr>
          <p:cNvPr id="11" name="Text 9"/>
          <p:cNvSpPr txBox="1"/>
          <p:nvPr/>
        </p:nvSpPr>
        <p:spPr>
          <a:xfrm>
            <a:off x="6199632" y="2011680"/>
            <a:ext cx="5184648" cy="274320"/>
          </a:xfrm>
          <a:prstGeom prst="rect">
            <a:avLst/>
          </a:prstGeom>
          <a:noFill/>
          <a:ln/>
        </p:spPr>
        <p:txBody>
          <a:bodyPr wrap="square" lIns="0" tIns="0" rIns="0" bIns="0" rtlCol="0" anchor="ctr"/>
          <a:lstStyle/>
          <a:p>
            <a:pPr indent="0" marL="0">
              <a:buNone/>
            </a:pPr>
            <a:r>
              <a:rPr lang="en-US" sz="1250" b="1" dirty="0">
                <a:solidFill>
                  <a:srgbClr val="FFD27A"/>
                </a:solidFill>
                <a:latin typeface="Montserrat" pitchFamily="34" charset="0"/>
                <a:ea typeface="Montserrat" pitchFamily="34" charset="-122"/>
                <a:cs typeface="Montserrat" pitchFamily="34" charset="-120"/>
              </a:rPr>
              <a:t>UC-03  exception flow</a:t>
            </a:r>
            <a:endParaRPr lang="en-US" sz="1250" dirty="0"/>
          </a:p>
        </p:txBody>
      </p:sp>
      <p:sp>
        <p:nvSpPr>
          <p:cNvPr id="12" name="Text 10"/>
          <p:cNvSpPr txBox="1"/>
          <p:nvPr/>
        </p:nvSpPr>
        <p:spPr>
          <a:xfrm>
            <a:off x="6199632" y="2359152"/>
            <a:ext cx="5184648" cy="1042416"/>
          </a:xfrm>
          <a:prstGeom prst="rect">
            <a:avLst/>
          </a:prstGeom>
          <a:noFill/>
          <a:ln/>
        </p:spPr>
        <p:txBody>
          <a:bodyPr wrap="square" lIns="0" tIns="0" rIns="0" bIns="0" rtlCol="0" anchor="ctr"/>
          <a:lstStyle/>
          <a:p>
            <a:pPr indent="0" marL="0">
              <a:lnSpc>
                <a:spcPct val="105000"/>
              </a:lnSpc>
              <a:buNone/>
            </a:pPr>
            <a:r>
              <a:rPr lang="en-US" sz="1200" dirty="0">
                <a:solidFill>
                  <a:srgbClr val="FFFFFF"/>
                </a:solidFill>
                <a:latin typeface="Calibri" pitchFamily="34" charset="0"/>
                <a:ea typeface="Calibri" pitchFamily="34" charset="-122"/>
                <a:cs typeface="Calibri" pitchFamily="34" charset="-120"/>
              </a:rPr>
              <a:t>If generation fails or violates seed constraints, the system retries — then serves a previously validated scenario instance rather than an unvalidated one.</a:t>
            </a:r>
            <a:endParaRPr lang="en-US" sz="1200" dirty="0"/>
          </a:p>
        </p:txBody>
      </p:sp>
      <p:sp>
        <p:nvSpPr>
          <p:cNvPr id="13" name="Shape 11"/>
          <p:cNvSpPr/>
          <p:nvPr/>
        </p:nvSpPr>
        <p:spPr>
          <a:xfrm>
            <a:off x="5961888" y="3721608"/>
            <a:ext cx="5660136" cy="1691640"/>
          </a:xfrm>
          <a:prstGeom prst="roundRect">
            <a:avLst>
              <a:gd name="adj" fmla="val 4324"/>
            </a:avLst>
          </a:prstGeom>
          <a:solidFill>
            <a:srgbClr val="003BA3"/>
          </a:solidFill>
          <a:ln/>
        </p:spPr>
      </p:sp>
      <p:sp>
        <p:nvSpPr>
          <p:cNvPr id="14" name="Text 12"/>
          <p:cNvSpPr txBox="1"/>
          <p:nvPr/>
        </p:nvSpPr>
        <p:spPr>
          <a:xfrm>
            <a:off x="6199632" y="3886200"/>
            <a:ext cx="5184648" cy="274320"/>
          </a:xfrm>
          <a:prstGeom prst="rect">
            <a:avLst/>
          </a:prstGeom>
          <a:noFill/>
          <a:ln/>
        </p:spPr>
        <p:txBody>
          <a:bodyPr wrap="square" lIns="0" tIns="0" rIns="0" bIns="0" rtlCol="0" anchor="ctr"/>
          <a:lstStyle/>
          <a:p>
            <a:pPr indent="0" marL="0">
              <a:buNone/>
            </a:pPr>
            <a:r>
              <a:rPr lang="en-US" sz="1250" b="1" dirty="0">
                <a:solidFill>
                  <a:srgbClr val="FFD27A"/>
                </a:solidFill>
                <a:latin typeface="Montserrat" pitchFamily="34" charset="0"/>
                <a:ea typeface="Montserrat" pitchFamily="34" charset="-122"/>
                <a:cs typeface="Montserrat" pitchFamily="34" charset="-120"/>
              </a:rPr>
              <a:t>UC-08  exception flow</a:t>
            </a:r>
            <a:endParaRPr lang="en-US" sz="1250" dirty="0"/>
          </a:p>
        </p:txBody>
      </p:sp>
      <p:sp>
        <p:nvSpPr>
          <p:cNvPr id="15" name="Text 13"/>
          <p:cNvSpPr txBox="1"/>
          <p:nvPr/>
        </p:nvSpPr>
        <p:spPr>
          <a:xfrm>
            <a:off x="6199632" y="4233672"/>
            <a:ext cx="5184648" cy="1042416"/>
          </a:xfrm>
          <a:prstGeom prst="rect">
            <a:avLst/>
          </a:prstGeom>
          <a:noFill/>
          <a:ln/>
        </p:spPr>
        <p:txBody>
          <a:bodyPr wrap="square" lIns="0" tIns="0" rIns="0" bIns="0" rtlCol="0" anchor="ctr"/>
          <a:lstStyle/>
          <a:p>
            <a:pPr indent="0" marL="0">
              <a:lnSpc>
                <a:spcPct val="105000"/>
              </a:lnSpc>
              <a:buNone/>
            </a:pPr>
            <a:r>
              <a:rPr lang="en-US" sz="1200" dirty="0">
                <a:solidFill>
                  <a:srgbClr val="FFFFFF"/>
                </a:solidFill>
                <a:latin typeface="Calibri" pitchFamily="34" charset="0"/>
                <a:ea typeface="Calibri" pitchFamily="34" charset="-122"/>
                <a:cs typeface="Calibri" pitchFamily="34" charset="-120"/>
              </a:rPr>
              <a:t>If the expert judges a scenario passable without the target competency, the seed returns for revision — because the evidence model would otherwise be invalid.</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B26B00"/>
                </a:solidFill>
                <a:latin typeface="Montserrat" pitchFamily="34" charset="0"/>
                <a:ea typeface="Montserrat" pitchFamily="34" charset="-122"/>
                <a:cs typeface="Montserrat" pitchFamily="34" charset="-120"/>
              </a:rPr>
              <a:t>DECISION NEEDED</a:t>
            </a:r>
            <a:endParaRPr lang="en-US" sz="1050" dirty="0"/>
          </a:p>
        </p:txBody>
      </p:sp>
      <p:sp>
        <p:nvSpPr>
          <p:cNvPr id="3" name="Text 1"/>
          <p:cNvSpPr txBox="1"/>
          <p:nvPr/>
        </p:nvSpPr>
        <p:spPr>
          <a:xfrm>
            <a:off x="566928" y="658368"/>
            <a:ext cx="11055096" cy="51206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How we will prove it works</a:t>
            </a:r>
            <a:endParaRPr lang="en-US" sz="2800" dirty="0"/>
          </a:p>
        </p:txBody>
      </p:sp>
      <p:sp>
        <p:nvSpPr>
          <p:cNvPr id="4" name="Text 2"/>
          <p:cNvSpPr txBox="1"/>
          <p:nvPr/>
        </p:nvSpPr>
        <p:spPr>
          <a:xfrm>
            <a:off x="566928" y="120700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Two constructs, measured separately, against an expert-built reference set — offline.</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29</a:t>
            </a:r>
            <a:endParaRPr lang="en-US" sz="1000" dirty="0"/>
          </a:p>
        </p:txBody>
      </p:sp>
      <p:sp>
        <p:nvSpPr>
          <p:cNvPr id="6" name="Shape 4"/>
          <p:cNvSpPr/>
          <p:nvPr/>
        </p:nvSpPr>
        <p:spPr>
          <a:xfrm>
            <a:off x="566928" y="1755648"/>
            <a:ext cx="3526536" cy="3291840"/>
          </a:xfrm>
          <a:prstGeom prst="roundRect">
            <a:avLst>
              <a:gd name="adj" fmla="val 2222"/>
            </a:avLst>
          </a:prstGeom>
          <a:solidFill>
            <a:srgbClr val="F2F6FD"/>
          </a:solidFill>
          <a:ln w="6350">
            <a:solidFill>
              <a:srgbClr val="F2F6FD"/>
            </a:solidFill>
            <a:prstDash val="solid"/>
          </a:ln>
        </p:spPr>
      </p:sp>
      <p:sp>
        <p:nvSpPr>
          <p:cNvPr id="7" name="Shape 5"/>
          <p:cNvSpPr/>
          <p:nvPr/>
        </p:nvSpPr>
        <p:spPr>
          <a:xfrm>
            <a:off x="786384" y="1956816"/>
            <a:ext cx="329184" cy="329184"/>
          </a:xfrm>
          <a:prstGeom prst="ellipse">
            <a:avLst/>
          </a:prstGeom>
          <a:solidFill>
            <a:srgbClr val="003BA3"/>
          </a:solidFill>
          <a:ln/>
        </p:spPr>
      </p:sp>
      <p:sp>
        <p:nvSpPr>
          <p:cNvPr id="8" name="Text 6"/>
          <p:cNvSpPr txBox="1"/>
          <p:nvPr/>
        </p:nvSpPr>
        <p:spPr>
          <a:xfrm>
            <a:off x="786384" y="19568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9" name="Text 7"/>
          <p:cNvSpPr txBox="1"/>
          <p:nvPr/>
        </p:nvSpPr>
        <p:spPr>
          <a:xfrm>
            <a:off x="786384" y="239572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The reference set</a:t>
            </a:r>
            <a:endParaRPr lang="en-US" sz="1300" dirty="0"/>
          </a:p>
        </p:txBody>
      </p:sp>
      <p:sp>
        <p:nvSpPr>
          <p:cNvPr id="10" name="Text 8"/>
          <p:cNvSpPr txBox="1"/>
          <p:nvPr/>
        </p:nvSpPr>
        <p:spPr>
          <a:xfrm>
            <a:off x="786384" y="2889504"/>
            <a:ext cx="3087624" cy="199339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Expert-authored scenarios paired with gold-standard judgments, stratified by difficulty, with inter-expert agreement recorded (DR-09). Contains no personal data and is retained as a research asset.</a:t>
            </a:r>
            <a:endParaRPr lang="en-US" sz="1100" dirty="0"/>
          </a:p>
        </p:txBody>
      </p:sp>
      <p:sp>
        <p:nvSpPr>
          <p:cNvPr id="11" name="Shape 9"/>
          <p:cNvSpPr/>
          <p:nvPr/>
        </p:nvSpPr>
        <p:spPr>
          <a:xfrm>
            <a:off x="4331208" y="1755648"/>
            <a:ext cx="3526536" cy="3291840"/>
          </a:xfrm>
          <a:prstGeom prst="roundRect">
            <a:avLst>
              <a:gd name="adj" fmla="val 2222"/>
            </a:avLst>
          </a:prstGeom>
          <a:solidFill>
            <a:srgbClr val="F2F6FD"/>
          </a:solidFill>
          <a:ln w="6350">
            <a:solidFill>
              <a:srgbClr val="F2F6FD"/>
            </a:solidFill>
            <a:prstDash val="solid"/>
          </a:ln>
        </p:spPr>
      </p:sp>
      <p:sp>
        <p:nvSpPr>
          <p:cNvPr id="12" name="Shape 10"/>
          <p:cNvSpPr/>
          <p:nvPr/>
        </p:nvSpPr>
        <p:spPr>
          <a:xfrm>
            <a:off x="4550664" y="1956816"/>
            <a:ext cx="329184" cy="329184"/>
          </a:xfrm>
          <a:prstGeom prst="ellipse">
            <a:avLst/>
          </a:prstGeom>
          <a:solidFill>
            <a:srgbClr val="003BA3"/>
          </a:solidFill>
          <a:ln/>
        </p:spPr>
      </p:sp>
      <p:sp>
        <p:nvSpPr>
          <p:cNvPr id="13" name="Text 11"/>
          <p:cNvSpPr txBox="1"/>
          <p:nvPr/>
        </p:nvSpPr>
        <p:spPr>
          <a:xfrm>
            <a:off x="4550664" y="19568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4" name="Text 12"/>
          <p:cNvSpPr txBox="1"/>
          <p:nvPr/>
        </p:nvSpPr>
        <p:spPr>
          <a:xfrm>
            <a:off x="4550664" y="239572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What we measure, separately</a:t>
            </a:r>
            <a:endParaRPr lang="en-US" sz="1300" dirty="0"/>
          </a:p>
        </p:txBody>
      </p:sp>
      <p:sp>
        <p:nvSpPr>
          <p:cNvPr id="15" name="Text 13"/>
          <p:cNvSpPr txBox="1"/>
          <p:nvPr/>
        </p:nvSpPr>
        <p:spPr>
          <a:xfrm>
            <a:off x="4550664" y="2889504"/>
            <a:ext cx="3087624" cy="199339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Generation quality — does produced content preserve the seed's required facts and elicit the intended constructs? Assessed by expert review against specified criteria.</a:t>
            </a:r>
            <a:endParaRPr lang="en-US" sz="1100" dirty="0"/>
          </a:p>
          <a:p>
            <a:pPr indent="0" marL="0">
              <a:lnSpc>
                <a:spcPct val="103000"/>
              </a:lnSpc>
              <a:buNone/>
            </a:pPr>
            <a:endParaRPr lang="en-US" sz="1100" dirty="0"/>
          </a:p>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Assessment accuracy — agreement between automated and expert judgment of the same response, reported as Cohen's κ, stratified by item difficulty, alongside test–retest consistency.</a:t>
            </a:r>
            <a:endParaRPr lang="en-US" sz="1100" dirty="0"/>
          </a:p>
        </p:txBody>
      </p:sp>
      <p:sp>
        <p:nvSpPr>
          <p:cNvPr id="16" name="Shape 14"/>
          <p:cNvSpPr/>
          <p:nvPr/>
        </p:nvSpPr>
        <p:spPr>
          <a:xfrm>
            <a:off x="8095488" y="1755648"/>
            <a:ext cx="3526536" cy="3291840"/>
          </a:xfrm>
          <a:prstGeom prst="roundRect">
            <a:avLst>
              <a:gd name="adj" fmla="val 2222"/>
            </a:avLst>
          </a:prstGeom>
          <a:solidFill>
            <a:srgbClr val="F2F6FD"/>
          </a:solidFill>
          <a:ln w="6350">
            <a:solidFill>
              <a:srgbClr val="F2F6FD"/>
            </a:solidFill>
            <a:prstDash val="solid"/>
          </a:ln>
        </p:spPr>
      </p:sp>
      <p:sp>
        <p:nvSpPr>
          <p:cNvPr id="17" name="Shape 15"/>
          <p:cNvSpPr/>
          <p:nvPr/>
        </p:nvSpPr>
        <p:spPr>
          <a:xfrm>
            <a:off x="8314944" y="1956816"/>
            <a:ext cx="329184" cy="329184"/>
          </a:xfrm>
          <a:prstGeom prst="ellipse">
            <a:avLst/>
          </a:prstGeom>
          <a:solidFill>
            <a:srgbClr val="003BA3"/>
          </a:solidFill>
          <a:ln/>
        </p:spPr>
      </p:sp>
      <p:sp>
        <p:nvSpPr>
          <p:cNvPr id="18" name="Text 16"/>
          <p:cNvSpPr txBox="1"/>
          <p:nvPr/>
        </p:nvSpPr>
        <p:spPr>
          <a:xfrm>
            <a:off x="8314944" y="19568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9" name="Text 17"/>
          <p:cNvSpPr txBox="1"/>
          <p:nvPr/>
        </p:nvSpPr>
        <p:spPr>
          <a:xfrm>
            <a:off x="8314944" y="239572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Why separately</a:t>
            </a:r>
            <a:endParaRPr lang="en-US" sz="1300" dirty="0"/>
          </a:p>
        </p:txBody>
      </p:sp>
      <p:sp>
        <p:nvSpPr>
          <p:cNvPr id="20" name="Text 18"/>
          <p:cNvSpPr txBox="1"/>
          <p:nvPr/>
        </p:nvSpPr>
        <p:spPr>
          <a:xfrm>
            <a:off x="8314944" y="2889504"/>
            <a:ext cx="3087624" cy="199339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There are three distinct failure modes: biased judgment, unstable judgment, and judgment failing selectively on hard items. They are separately diagnosable only when reported separately — a single accuracy figure hides which one occurred.</a:t>
            </a:r>
            <a:endParaRPr lang="en-US" sz="1100" dirty="0"/>
          </a:p>
        </p:txBody>
      </p:sp>
      <p:sp>
        <p:nvSpPr>
          <p:cNvPr id="21" name="Shape 19"/>
          <p:cNvSpPr/>
          <p:nvPr/>
        </p:nvSpPr>
        <p:spPr>
          <a:xfrm>
            <a:off x="566928" y="5276088"/>
            <a:ext cx="11055096" cy="566928"/>
          </a:xfrm>
          <a:prstGeom prst="roundRect">
            <a:avLst>
              <a:gd name="adj" fmla="val 9677"/>
            </a:avLst>
          </a:prstGeom>
          <a:solidFill>
            <a:srgbClr val="FFF4E0"/>
          </a:solidFill>
          <a:ln w="12700">
            <a:solidFill>
              <a:srgbClr val="E8C489"/>
            </a:solidFill>
            <a:prstDash val="solid"/>
          </a:ln>
        </p:spPr>
      </p:sp>
      <p:sp>
        <p:nvSpPr>
          <p:cNvPr id="22" name="Text 20"/>
          <p:cNvSpPr txBox="1"/>
          <p:nvPr/>
        </p:nvSpPr>
        <p:spPr>
          <a:xfrm>
            <a:off x="804672" y="5276088"/>
            <a:ext cx="10579608" cy="566928"/>
          </a:xfrm>
          <a:prstGeom prst="rect">
            <a:avLst/>
          </a:prstGeom>
          <a:noFill/>
          <a:ln/>
        </p:spPr>
        <p:txBody>
          <a:bodyPr wrap="square" lIns="0" tIns="0" rIns="0" bIns="0" rtlCol="0" anchor="ctr"/>
          <a:lstStyle/>
          <a:p>
            <a:pPr indent="0" marL="0">
              <a:lnSpc>
                <a:spcPct val="95000"/>
              </a:lnSpc>
              <a:buNone/>
            </a:pPr>
            <a:r>
              <a:rPr lang="en-US" sz="1100" b="1" spc="160" kern="0" dirty="0">
                <a:solidFill>
                  <a:srgbClr val="B26B00"/>
                </a:solidFill>
                <a:latin typeface="Montserrat" pitchFamily="34" charset="0"/>
                <a:ea typeface="Montserrat" pitchFamily="34" charset="-122"/>
                <a:cs typeface="Montserrat" pitchFamily="34" charset="-120"/>
              </a:rPr>
              <a:t>ASK  </a:t>
            </a:r>
            <a:pPr indent="0" marL="0">
              <a:lnSpc>
                <a:spcPct val="95000"/>
              </a:lnSpc>
              <a:buNone/>
            </a:pPr>
            <a:r>
              <a:rPr lang="en-US" sz="1350" b="1" dirty="0">
                <a:solidFill>
                  <a:srgbClr val="4A3000"/>
                </a:solidFill>
                <a:latin typeface="Calibri" pitchFamily="34" charset="0"/>
                <a:ea typeface="Calibri" pitchFamily="34" charset="-122"/>
                <a:cs typeface="Calibri" pitchFamily="34" charset="-120"/>
              </a:rPr>
              <a:t>Do you approve this offline evaluation design?</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EXPECTATIONS, SET HONESTLY</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What the numbers will realistically look like</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Moderate correlations are the realistic expectation. Near-zero correlation with prior attainment is a result, not a failure.</a:t>
            </a:r>
            <a:endParaRPr lang="en-US" sz="1500" dirty="0"/>
          </a:p>
        </p:txBody>
      </p:sp>
      <p:sp>
        <p:nvSpPr>
          <p:cNvPr id="5" name="Text 3"/>
          <p:cNvSpPr txBox="1"/>
          <p:nvPr/>
        </p:nvSpPr>
        <p:spPr>
          <a:xfrm>
            <a:off x="566928" y="6327648"/>
            <a:ext cx="10506456" cy="274320"/>
          </a:xfrm>
          <a:prstGeom prst="rect">
            <a:avLst/>
          </a:prstGeom>
          <a:noFill/>
          <a:ln/>
        </p:spPr>
        <p:txBody>
          <a:bodyPr wrap="square" lIns="0" tIns="0" rIns="0" bIns="0" rtlCol="0" anchor="ctr"/>
          <a:lstStyle/>
          <a:p>
            <a:pPr indent="0" marL="0">
              <a:buNone/>
            </a:pPr>
            <a:r>
              <a:rPr lang="en-US" sz="950" dirty="0">
                <a:solidFill>
                  <a:srgbClr val="6B7585"/>
                </a:solidFill>
                <a:latin typeface="Calibri" pitchFamily="34" charset="0"/>
                <a:ea typeface="Calibri" pitchFamily="34" charset="-122"/>
                <a:cs typeface="Calibri" pitchFamily="34" charset="-120"/>
              </a:rPr>
              <a:t>[56] Multi-agent architecture performing unobtrusive assessment in a serious game — the closest methodological precedent.</a:t>
            </a:r>
            <a:endParaRPr lang="en-US" sz="950" dirty="0"/>
          </a:p>
        </p:txBody>
      </p:sp>
      <p:sp>
        <p:nvSpPr>
          <p:cNvPr id="6" name="Text 4"/>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6B7585"/>
                </a:solidFill>
                <a:latin typeface="Calibri" pitchFamily="34" charset="0"/>
                <a:ea typeface="Calibri" pitchFamily="34" charset="-122"/>
                <a:cs typeface="Calibri" pitchFamily="34" charset="-120"/>
              </a:rPr>
              <a:t>30</a:t>
            </a:r>
            <a:endParaRPr lang="en-US" sz="1000" dirty="0"/>
          </a:p>
        </p:txBody>
      </p:sp>
      <p:sp>
        <p:nvSpPr>
          <p:cNvPr id="7" name="Shape 5"/>
          <p:cNvSpPr/>
          <p:nvPr/>
        </p:nvSpPr>
        <p:spPr>
          <a:xfrm>
            <a:off x="566928" y="1847088"/>
            <a:ext cx="5669280" cy="3520440"/>
          </a:xfrm>
          <a:prstGeom prst="roundRect">
            <a:avLst>
              <a:gd name="adj" fmla="val 2078"/>
            </a:avLst>
          </a:prstGeom>
          <a:solidFill>
            <a:srgbClr val="003BA3"/>
          </a:solidFill>
          <a:ln/>
        </p:spPr>
      </p:sp>
      <p:sp>
        <p:nvSpPr>
          <p:cNvPr id="8" name="Text 6"/>
          <p:cNvSpPr txBox="1"/>
          <p:nvPr/>
        </p:nvSpPr>
        <p:spPr>
          <a:xfrm>
            <a:off x="822960" y="2011680"/>
            <a:ext cx="5157216" cy="274320"/>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The closest methodological precedent</a:t>
            </a:r>
            <a:endParaRPr lang="en-US" sz="1300" dirty="0"/>
          </a:p>
        </p:txBody>
      </p:sp>
      <p:sp>
        <p:nvSpPr>
          <p:cNvPr id="9" name="Text 7"/>
          <p:cNvSpPr txBox="1"/>
          <p:nvPr/>
        </p:nvSpPr>
        <p:spPr>
          <a:xfrm>
            <a:off x="822960" y="2395728"/>
            <a:ext cx="2377440" cy="731520"/>
          </a:xfrm>
          <a:prstGeom prst="rect">
            <a:avLst/>
          </a:prstGeom>
          <a:noFill/>
          <a:ln/>
        </p:spPr>
        <p:txBody>
          <a:bodyPr wrap="square" lIns="0" tIns="0" rIns="0" bIns="0" rtlCol="0" anchor="ctr"/>
          <a:lstStyle/>
          <a:p>
            <a:pPr algn="l" indent="0" marL="0">
              <a:buNone/>
            </a:pPr>
            <a:r>
              <a:rPr lang="en-US" sz="3000" b="1" dirty="0">
                <a:solidFill>
                  <a:srgbClr val="FFD27A"/>
                </a:solidFill>
                <a:latin typeface="Montserrat" pitchFamily="34" charset="0"/>
                <a:ea typeface="Montserrat" pitchFamily="34" charset="-122"/>
                <a:cs typeface="Montserrat" pitchFamily="34" charset="-120"/>
              </a:rPr>
              <a:t>0.28–0.33</a:t>
            </a:r>
            <a:endParaRPr lang="en-US" sz="3000" dirty="0"/>
          </a:p>
        </p:txBody>
      </p:sp>
      <p:sp>
        <p:nvSpPr>
          <p:cNvPr id="10" name="Text 8"/>
          <p:cNvSpPr txBox="1"/>
          <p:nvPr/>
        </p:nvSpPr>
        <p:spPr>
          <a:xfrm>
            <a:off x="822960" y="3108960"/>
            <a:ext cx="2377440" cy="731520"/>
          </a:xfrm>
          <a:prstGeom prst="rect">
            <a:avLst/>
          </a:prstGeom>
          <a:noFill/>
          <a:ln/>
        </p:spPr>
        <p:txBody>
          <a:bodyPr wrap="square" lIns="0" tIns="0" rIns="0" bIns="0" rtlCol="0" anchor="t"/>
          <a:lstStyle/>
          <a:p>
            <a:pPr algn="l" indent="0" marL="0">
              <a:lnSpc>
                <a:spcPct val="100000"/>
              </a:lnSpc>
              <a:buNone/>
            </a:pPr>
            <a:r>
              <a:rPr lang="en-US" sz="1100" dirty="0">
                <a:solidFill>
                  <a:srgbClr val="CFE0FF"/>
                </a:solidFill>
                <a:latin typeface="Calibri" pitchFamily="34" charset="0"/>
                <a:ea typeface="Calibri" pitchFamily="34" charset="-122"/>
                <a:cs typeface="Calibri" pitchFamily="34" charset="-120"/>
              </a:rPr>
              <a:t>correlation between behavioural estimates and external outcomes [56]</a:t>
            </a:r>
            <a:endParaRPr lang="en-US" sz="1100" dirty="0"/>
          </a:p>
        </p:txBody>
      </p:sp>
      <p:sp>
        <p:nvSpPr>
          <p:cNvPr id="11" name="Text 9"/>
          <p:cNvSpPr txBox="1"/>
          <p:nvPr/>
        </p:nvSpPr>
        <p:spPr>
          <a:xfrm>
            <a:off x="3493008" y="2395728"/>
            <a:ext cx="246888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Montserrat" pitchFamily="34" charset="0"/>
                <a:ea typeface="Montserrat" pitchFamily="34" charset="-122"/>
                <a:cs typeface="Montserrat" pitchFamily="34" charset="-120"/>
              </a:rPr>
              <a:t>≈ 0</a:t>
            </a:r>
            <a:endParaRPr lang="en-US" sz="3000" dirty="0"/>
          </a:p>
        </p:txBody>
      </p:sp>
      <p:sp>
        <p:nvSpPr>
          <p:cNvPr id="12" name="Text 10"/>
          <p:cNvSpPr txBox="1"/>
          <p:nvPr/>
        </p:nvSpPr>
        <p:spPr>
          <a:xfrm>
            <a:off x="3493008" y="3108960"/>
            <a:ext cx="2468880" cy="731520"/>
          </a:xfrm>
          <a:prstGeom prst="rect">
            <a:avLst/>
          </a:prstGeom>
          <a:noFill/>
          <a:ln/>
        </p:spPr>
        <p:txBody>
          <a:bodyPr wrap="square" lIns="0" tIns="0" rIns="0" bIns="0" rtlCol="0" anchor="t"/>
          <a:lstStyle/>
          <a:p>
            <a:pPr algn="l" indent="0" marL="0">
              <a:lnSpc>
                <a:spcPct val="100000"/>
              </a:lnSpc>
              <a:buNone/>
            </a:pPr>
            <a:r>
              <a:rPr lang="en-US" sz="1100" dirty="0">
                <a:solidFill>
                  <a:srgbClr val="CFE0FF"/>
                </a:solidFill>
                <a:latin typeface="Calibri" pitchFamily="34" charset="0"/>
                <a:ea typeface="Calibri" pitchFamily="34" charset="-122"/>
                <a:cs typeface="Calibri" pitchFamily="34" charset="-120"/>
              </a:rPr>
              <a:t>correlation against prior attainment — evidence of discriminant validity [56]</a:t>
            </a:r>
            <a:endParaRPr lang="en-US" sz="1100" dirty="0"/>
          </a:p>
        </p:txBody>
      </p:sp>
      <p:sp>
        <p:nvSpPr>
          <p:cNvPr id="13" name="Text 11"/>
          <p:cNvSpPr txBox="1"/>
          <p:nvPr/>
        </p:nvSpPr>
        <p:spPr>
          <a:xfrm>
            <a:off x="822960" y="4315968"/>
            <a:ext cx="5157216" cy="914400"/>
          </a:xfrm>
          <a:prstGeom prst="rect">
            <a:avLst/>
          </a:prstGeom>
          <a:noFill/>
          <a:ln/>
        </p:spPr>
        <p:txBody>
          <a:bodyPr wrap="square" lIns="0" tIns="0" rIns="0" bIns="0" rtlCol="0" anchor="ctr"/>
          <a:lstStyle/>
          <a:p>
            <a:pPr indent="0" marL="0">
              <a:lnSpc>
                <a:spcPct val="105000"/>
              </a:lnSpc>
              <a:buNone/>
            </a:pPr>
            <a:r>
              <a:rPr lang="en-US" sz="1200" dirty="0">
                <a:solidFill>
                  <a:srgbClr val="FFFFFF"/>
                </a:solidFill>
                <a:latin typeface="Calibri" pitchFamily="34" charset="0"/>
                <a:ea typeface="Calibri" pitchFamily="34" charset="-122"/>
                <a:cs typeface="Calibri" pitchFamily="34" charset="-120"/>
              </a:rPr>
              <a:t>The second figure is as informative as the first: it shows the measure is not simply re-measuring prior ability. If we came back with 0.8, I would suspect our reference set rather than celebrate.</a:t>
            </a:r>
            <a:endParaRPr lang="en-US" sz="1200" dirty="0"/>
          </a:p>
        </p:txBody>
      </p:sp>
      <p:sp>
        <p:nvSpPr>
          <p:cNvPr id="14" name="Shape 12"/>
          <p:cNvSpPr/>
          <p:nvPr/>
        </p:nvSpPr>
        <p:spPr>
          <a:xfrm>
            <a:off x="6510528" y="1847088"/>
            <a:ext cx="5111496" cy="3520440"/>
          </a:xfrm>
          <a:prstGeom prst="roundRect">
            <a:avLst>
              <a:gd name="adj" fmla="val 2078"/>
            </a:avLst>
          </a:prstGeom>
          <a:solidFill>
            <a:srgbClr val="F7F8FA"/>
          </a:solidFill>
          <a:ln/>
        </p:spPr>
      </p:sp>
      <p:sp>
        <p:nvSpPr>
          <p:cNvPr id="15" name="Text 13"/>
          <p:cNvSpPr txBox="1"/>
          <p:nvPr/>
        </p:nvSpPr>
        <p:spPr>
          <a:xfrm>
            <a:off x="6766560" y="2011680"/>
            <a:ext cx="4599432" cy="274320"/>
          </a:xfrm>
          <a:prstGeom prst="rect">
            <a:avLst/>
          </a:prstGeom>
          <a:noFill/>
          <a:ln/>
        </p:spPr>
        <p:txBody>
          <a:bodyPr wrap="square" lIns="0" tIns="0" rIns="0" bIns="0" rtlCol="0" anchor="ctr"/>
          <a:lstStyle/>
          <a:p>
            <a:pPr indent="0" marL="0">
              <a:buNone/>
            </a:pPr>
            <a:r>
              <a:rPr lang="en-US" sz="1300" b="1" dirty="0">
                <a:solidFill>
                  <a:srgbClr val="8A3A3A"/>
                </a:solidFill>
                <a:latin typeface="Montserrat" pitchFamily="34" charset="0"/>
                <a:ea typeface="Montserrat" pitchFamily="34" charset="-122"/>
                <a:cs typeface="Montserrat" pitchFamily="34" charset="-120"/>
              </a:rPr>
              <a:t>What offline evaluation cannot establish</a:t>
            </a:r>
            <a:endParaRPr lang="en-US" sz="1300" dirty="0"/>
          </a:p>
        </p:txBody>
      </p:sp>
      <p:sp>
        <p:nvSpPr>
          <p:cNvPr id="16" name="Text 14"/>
          <p:cNvSpPr txBox="1"/>
          <p:nvPr/>
        </p:nvSpPr>
        <p:spPr>
          <a:xfrm>
            <a:off x="6766560" y="2468880"/>
            <a:ext cx="274320" cy="274320"/>
          </a:xfrm>
          <a:prstGeom prst="rect">
            <a:avLst/>
          </a:prstGeom>
          <a:noFill/>
          <a:ln/>
        </p:spPr>
        <p:txBody>
          <a:bodyPr wrap="square" lIns="0" tIns="0" rIns="0" bIns="0" rtlCol="0" anchor="ctr"/>
          <a:lstStyle/>
          <a:p>
            <a:pPr indent="0" marL="0">
              <a:buNone/>
            </a:pPr>
            <a:r>
              <a:rPr lang="en-US" sz="1300" b="1" dirty="0">
                <a:solidFill>
                  <a:srgbClr val="B3261E"/>
                </a:solidFill>
                <a:latin typeface="Calibri" pitchFamily="34" charset="0"/>
                <a:ea typeface="Calibri" pitchFamily="34" charset="-122"/>
                <a:cs typeface="Calibri" pitchFamily="34" charset="-120"/>
              </a:rPr>
              <a:t>✕</a:t>
            </a:r>
            <a:endParaRPr lang="en-US" sz="1300" dirty="0"/>
          </a:p>
        </p:txBody>
      </p:sp>
      <p:sp>
        <p:nvSpPr>
          <p:cNvPr id="17" name="Text 15"/>
          <p:cNvSpPr txBox="1"/>
          <p:nvPr/>
        </p:nvSpPr>
        <p:spPr>
          <a:xfrm>
            <a:off x="7095744" y="2432304"/>
            <a:ext cx="4270248" cy="548640"/>
          </a:xfrm>
          <a:prstGeom prst="rect">
            <a:avLst/>
          </a:prstGeom>
          <a:noFill/>
          <a:ln/>
        </p:spPr>
        <p:txBody>
          <a:bodyPr wrap="square" lIns="0" tIns="0" rIns="0" bIns="0" rtlCol="0" anchor="ctr"/>
          <a:lstStyle/>
          <a:p>
            <a:pPr indent="0" marL="0">
              <a:lnSpc>
                <a:spcPct val="100000"/>
              </a:lnSpc>
              <a:buNone/>
            </a:pPr>
            <a:r>
              <a:rPr lang="en-US" sz="1250" dirty="0">
                <a:solidFill>
                  <a:srgbClr val="1B2333"/>
                </a:solidFill>
                <a:latin typeface="Calibri" pitchFamily="34" charset="0"/>
                <a:ea typeface="Calibri" pitchFamily="34" charset="-122"/>
                <a:cs typeface="Calibri" pitchFamily="34" charset="-120"/>
              </a:rPr>
              <a:t>Engagement retention over time</a:t>
            </a:r>
            <a:endParaRPr lang="en-US" sz="1250" dirty="0"/>
          </a:p>
        </p:txBody>
      </p:sp>
      <p:sp>
        <p:nvSpPr>
          <p:cNvPr id="18" name="Text 16"/>
          <p:cNvSpPr txBox="1"/>
          <p:nvPr/>
        </p:nvSpPr>
        <p:spPr>
          <a:xfrm>
            <a:off x="6766560" y="3154680"/>
            <a:ext cx="274320" cy="274320"/>
          </a:xfrm>
          <a:prstGeom prst="rect">
            <a:avLst/>
          </a:prstGeom>
          <a:noFill/>
          <a:ln/>
        </p:spPr>
        <p:txBody>
          <a:bodyPr wrap="square" lIns="0" tIns="0" rIns="0" bIns="0" rtlCol="0" anchor="ctr"/>
          <a:lstStyle/>
          <a:p>
            <a:pPr indent="0" marL="0">
              <a:buNone/>
            </a:pPr>
            <a:r>
              <a:rPr lang="en-US" sz="1300" b="1" dirty="0">
                <a:solidFill>
                  <a:srgbClr val="B3261E"/>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7095744" y="3118104"/>
            <a:ext cx="4270248" cy="548640"/>
          </a:xfrm>
          <a:prstGeom prst="rect">
            <a:avLst/>
          </a:prstGeom>
          <a:noFill/>
          <a:ln/>
        </p:spPr>
        <p:txBody>
          <a:bodyPr wrap="square" lIns="0" tIns="0" rIns="0" bIns="0" rtlCol="0" anchor="ctr"/>
          <a:lstStyle/>
          <a:p>
            <a:pPr indent="0" marL="0">
              <a:lnSpc>
                <a:spcPct val="100000"/>
              </a:lnSpc>
              <a:buNone/>
            </a:pPr>
            <a:r>
              <a:rPr lang="en-US" sz="1250" dirty="0">
                <a:solidFill>
                  <a:srgbClr val="1B2333"/>
                </a:solidFill>
                <a:latin typeface="Calibri" pitchFamily="34" charset="0"/>
                <a:ea typeface="Calibri" pitchFamily="34" charset="-122"/>
                <a:cs typeface="Calibri" pitchFamily="34" charset="-120"/>
              </a:rPr>
              <a:t>Effects on actual career decisions</a:t>
            </a:r>
            <a:endParaRPr lang="en-US" sz="1250" dirty="0"/>
          </a:p>
        </p:txBody>
      </p:sp>
      <p:sp>
        <p:nvSpPr>
          <p:cNvPr id="20" name="Text 18"/>
          <p:cNvSpPr txBox="1"/>
          <p:nvPr/>
        </p:nvSpPr>
        <p:spPr>
          <a:xfrm>
            <a:off x="6766560" y="3840480"/>
            <a:ext cx="274320" cy="274320"/>
          </a:xfrm>
          <a:prstGeom prst="rect">
            <a:avLst/>
          </a:prstGeom>
          <a:noFill/>
          <a:ln/>
        </p:spPr>
        <p:txBody>
          <a:bodyPr wrap="square" lIns="0" tIns="0" rIns="0" bIns="0" rtlCol="0" anchor="ctr"/>
          <a:lstStyle/>
          <a:p>
            <a:pPr indent="0" marL="0">
              <a:buNone/>
            </a:pPr>
            <a:r>
              <a:rPr lang="en-US" sz="1300" b="1" dirty="0">
                <a:solidFill>
                  <a:srgbClr val="B3261E"/>
                </a:solidFill>
                <a:latin typeface="Calibri" pitchFamily="34" charset="0"/>
                <a:ea typeface="Calibri" pitchFamily="34" charset="-122"/>
                <a:cs typeface="Calibri" pitchFamily="34" charset="-120"/>
              </a:rPr>
              <a:t>✕</a:t>
            </a:r>
            <a:endParaRPr lang="en-US" sz="1300" dirty="0"/>
          </a:p>
        </p:txBody>
      </p:sp>
      <p:sp>
        <p:nvSpPr>
          <p:cNvPr id="21" name="Text 19"/>
          <p:cNvSpPr txBox="1"/>
          <p:nvPr/>
        </p:nvSpPr>
        <p:spPr>
          <a:xfrm>
            <a:off x="7095744" y="3803904"/>
            <a:ext cx="4270248" cy="548640"/>
          </a:xfrm>
          <a:prstGeom prst="rect">
            <a:avLst/>
          </a:prstGeom>
          <a:noFill/>
          <a:ln/>
        </p:spPr>
        <p:txBody>
          <a:bodyPr wrap="square" lIns="0" tIns="0" rIns="0" bIns="0" rtlCol="0" anchor="ctr"/>
          <a:lstStyle/>
          <a:p>
            <a:pPr indent="0" marL="0">
              <a:lnSpc>
                <a:spcPct val="100000"/>
              </a:lnSpc>
              <a:buNone/>
            </a:pPr>
            <a:r>
              <a:rPr lang="en-US" sz="1250" dirty="0">
                <a:solidFill>
                  <a:srgbClr val="1B2333"/>
                </a:solidFill>
                <a:latin typeface="Calibri" pitchFamily="34" charset="0"/>
                <a:ea typeface="Calibri" pitchFamily="34" charset="-122"/>
                <a:cs typeface="Calibri" pitchFamily="34" charset="-120"/>
              </a:rPr>
              <a:t>Whether simulated experience transfers to workplace performance</a:t>
            </a:r>
            <a:endParaRPr lang="en-US" sz="1250" dirty="0"/>
          </a:p>
        </p:txBody>
      </p:sp>
      <p:sp>
        <p:nvSpPr>
          <p:cNvPr id="22" name="Text 20"/>
          <p:cNvSpPr txBox="1"/>
          <p:nvPr/>
        </p:nvSpPr>
        <p:spPr>
          <a:xfrm>
            <a:off x="6766560" y="4544568"/>
            <a:ext cx="4599432" cy="731520"/>
          </a:xfrm>
          <a:prstGeom prst="rect">
            <a:avLst/>
          </a:prstGeom>
          <a:noFill/>
          <a:ln/>
        </p:spPr>
        <p:txBody>
          <a:bodyPr wrap="square" lIns="0" tIns="0" rIns="0" bIns="0" rtlCol="0" anchor="ctr"/>
          <a:lstStyle/>
          <a:p>
            <a:pPr indent="0" marL="0">
              <a:lnSpc>
                <a:spcPct val="105000"/>
              </a:lnSpc>
              <a:buNone/>
            </a:pPr>
            <a:r>
              <a:rPr lang="en-US" sz="1200" i="1" dirty="0">
                <a:solidFill>
                  <a:srgbClr val="003BA3"/>
                </a:solidFill>
                <a:latin typeface="Calibri" pitchFamily="34" charset="0"/>
                <a:ea typeface="Calibri" pitchFamily="34" charset="-122"/>
                <a:cs typeface="Calibri" pitchFamily="34" charset="-120"/>
              </a:rPr>
              <a:t>Each requires longitudinal study beyond this project's horizon. We would rather state that boundary in the report than have it asked at the defence.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3BA3"/>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SUMMARY</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FFFFFF"/>
                </a:solidFill>
                <a:latin typeface="Montserrat" pitchFamily="34" charset="0"/>
                <a:ea typeface="Montserrat" pitchFamily="34" charset="-122"/>
                <a:cs typeface="Montserrat" pitchFamily="34" charset="-120"/>
              </a:rPr>
              <a:t>Where we are, what is next, and the three asks</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EFEFEF"/>
                </a:solidFill>
                <a:latin typeface="Calibri" pitchFamily="34" charset="0"/>
                <a:ea typeface="Calibri" pitchFamily="34" charset="-122"/>
                <a:cs typeface="Calibri" pitchFamily="34" charset="-120"/>
              </a:rPr>
              <a:t>Chapters 1 through 5.1 are complete and internally consistent.</a:t>
            </a:r>
            <a:endParaRPr lang="en-US" sz="1500" dirty="0"/>
          </a:p>
        </p:txBody>
      </p:sp>
      <p:sp>
        <p:nvSpPr>
          <p:cNvPr id="5" name="Text 3"/>
          <p:cNvSpPr txBox="1"/>
          <p:nvPr/>
        </p:nvSpPr>
        <p:spPr>
          <a:xfrm>
            <a:off x="11164824" y="6327648"/>
            <a:ext cx="457200" cy="274320"/>
          </a:xfrm>
          <a:prstGeom prst="rect">
            <a:avLst/>
          </a:prstGeom>
          <a:noFill/>
          <a:ln/>
        </p:spPr>
        <p:txBody>
          <a:bodyPr wrap="square" lIns="0" tIns="0" rIns="0" bIns="0" rtlCol="0" anchor="ctr"/>
          <a:lstStyle/>
          <a:p>
            <a:pPr algn="r" indent="0" marL="0">
              <a:buNone/>
            </a:pPr>
            <a:r>
              <a:rPr lang="en-US" sz="1000" dirty="0">
                <a:solidFill>
                  <a:srgbClr val="AFC4EA"/>
                </a:solidFill>
                <a:latin typeface="Calibri" pitchFamily="34" charset="0"/>
                <a:ea typeface="Calibri" pitchFamily="34" charset="-122"/>
                <a:cs typeface="Calibri" pitchFamily="34" charset="-120"/>
              </a:rPr>
              <a:t>31</a:t>
            </a:r>
            <a:endParaRPr lang="en-US" sz="1000" dirty="0"/>
          </a:p>
        </p:txBody>
      </p:sp>
      <p:sp>
        <p:nvSpPr>
          <p:cNvPr id="6" name="Shape 4"/>
          <p:cNvSpPr/>
          <p:nvPr/>
        </p:nvSpPr>
        <p:spPr>
          <a:xfrm>
            <a:off x="566928" y="1847088"/>
            <a:ext cx="3520440" cy="3291840"/>
          </a:xfrm>
          <a:prstGeom prst="roundRect">
            <a:avLst>
              <a:gd name="adj" fmla="val 2222"/>
            </a:avLst>
          </a:prstGeom>
          <a:solidFill>
            <a:srgbClr val="0A4BBE"/>
          </a:solidFill>
          <a:ln/>
        </p:spPr>
      </p:sp>
      <p:sp>
        <p:nvSpPr>
          <p:cNvPr id="7" name="Text 5"/>
          <p:cNvSpPr txBox="1"/>
          <p:nvPr/>
        </p:nvSpPr>
        <p:spPr>
          <a:xfrm>
            <a:off x="786384" y="1993392"/>
            <a:ext cx="3081528" cy="274320"/>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Delivered</a:t>
            </a:r>
            <a:endParaRPr lang="en-US" sz="1300" dirty="0"/>
          </a:p>
        </p:txBody>
      </p:sp>
      <p:sp>
        <p:nvSpPr>
          <p:cNvPr id="8" name="Text 6"/>
          <p:cNvSpPr txBox="1"/>
          <p:nvPr/>
        </p:nvSpPr>
        <p:spPr>
          <a:xfrm>
            <a:off x="841248" y="2340864"/>
            <a:ext cx="2971800" cy="26517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CFE0FF"/>
                </a:solidFill>
                <a:latin typeface="Calibri" pitchFamily="34" charset="0"/>
                <a:ea typeface="Calibri" pitchFamily="34" charset="-122"/>
                <a:cs typeface="Calibri" pitchFamily="34" charset="-120"/>
              </a:rPr>
              <a:t>Evidence base (Ch 2)</a:t>
            </a:r>
            <a:endParaRPr lang="en-US" sz="1200" dirty="0"/>
          </a:p>
          <a:p>
            <a:pPr marL="342900" indent="-342900">
              <a:spcAft>
                <a:spcPts val="700"/>
              </a:spcAft>
              <a:buSzPct val="100000"/>
              <a:buChar char="•"/>
            </a:pPr>
            <a:r>
              <a:rPr lang="en-US" sz="1200" dirty="0">
                <a:solidFill>
                  <a:srgbClr val="CFE0FF"/>
                </a:solidFill>
                <a:latin typeface="Calibri" pitchFamily="34" charset="0"/>
                <a:ea typeface="Calibri" pitchFamily="34" charset="-122"/>
                <a:cs typeface="Calibri" pitchFamily="34" charset="-120"/>
              </a:rPr>
              <a:t>Related work with derived criteria (Ch 3)</a:t>
            </a:r>
            <a:endParaRPr lang="en-US" sz="1200" dirty="0"/>
          </a:p>
          <a:p>
            <a:pPr marL="342900" indent="-342900">
              <a:spcAft>
                <a:spcPts val="700"/>
              </a:spcAft>
              <a:buSzPct val="100000"/>
              <a:buChar char="•"/>
            </a:pPr>
            <a:r>
              <a:rPr lang="en-US" sz="1200" dirty="0">
                <a:solidFill>
                  <a:srgbClr val="CFE0FF"/>
                </a:solidFill>
                <a:latin typeface="Calibri" pitchFamily="34" charset="0"/>
                <a:ea typeface="Calibri" pitchFamily="34" charset="-122"/>
                <a:cs typeface="Calibri" pitchFamily="34" charset="-120"/>
              </a:rPr>
              <a:t>System specification — 9 rules, 43 requirements (Ch 4)</a:t>
            </a:r>
            <a:endParaRPr lang="en-US" sz="1200" dirty="0"/>
          </a:p>
          <a:p>
            <a:pPr marL="342900" indent="-342900">
              <a:spcAft>
                <a:spcPts val="700"/>
              </a:spcAft>
              <a:buSzPct val="100000"/>
              <a:buChar char="•"/>
            </a:pPr>
            <a:r>
              <a:rPr lang="en-US" sz="1200" dirty="0">
                <a:solidFill>
                  <a:srgbClr val="CFE0FF"/>
                </a:solidFill>
                <a:latin typeface="Calibri" pitchFamily="34" charset="0"/>
                <a:ea typeface="Calibri" pitchFamily="34" charset="-122"/>
                <a:cs typeface="Calibri" pitchFamily="34" charset="-120"/>
              </a:rPr>
              <a:t>Process and use case models with traceability (Ch 5.1)</a:t>
            </a:r>
            <a:endParaRPr lang="en-US" sz="1200" dirty="0"/>
          </a:p>
        </p:txBody>
      </p:sp>
      <p:sp>
        <p:nvSpPr>
          <p:cNvPr id="9" name="Shape 7"/>
          <p:cNvSpPr/>
          <p:nvPr/>
        </p:nvSpPr>
        <p:spPr>
          <a:xfrm>
            <a:off x="4315968" y="1847088"/>
            <a:ext cx="3520440" cy="3291840"/>
          </a:xfrm>
          <a:prstGeom prst="roundRect">
            <a:avLst>
              <a:gd name="adj" fmla="val 2222"/>
            </a:avLst>
          </a:prstGeom>
          <a:solidFill>
            <a:srgbClr val="0A4BBE"/>
          </a:solidFill>
          <a:ln/>
        </p:spPr>
      </p:sp>
      <p:sp>
        <p:nvSpPr>
          <p:cNvPr id="10" name="Text 8"/>
          <p:cNvSpPr txBox="1"/>
          <p:nvPr/>
        </p:nvSpPr>
        <p:spPr>
          <a:xfrm>
            <a:off x="4535424" y="1993392"/>
            <a:ext cx="3081528" cy="274320"/>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Next</a:t>
            </a:r>
            <a:endParaRPr lang="en-US" sz="1300" dirty="0"/>
          </a:p>
        </p:txBody>
      </p:sp>
      <p:sp>
        <p:nvSpPr>
          <p:cNvPr id="11" name="Text 9"/>
          <p:cNvSpPr txBox="1"/>
          <p:nvPr/>
        </p:nvSpPr>
        <p:spPr>
          <a:xfrm>
            <a:off x="4590288" y="2340864"/>
            <a:ext cx="2971800" cy="26517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CFE0FF"/>
                </a:solidFill>
                <a:latin typeface="Calibri" pitchFamily="34" charset="0"/>
                <a:ea typeface="Calibri" pitchFamily="34" charset="-122"/>
                <a:cs typeface="Calibri" pitchFamily="34" charset="-120"/>
              </a:rPr>
              <a:t>Complete the Chapter 5 design sections</a:t>
            </a:r>
            <a:endParaRPr lang="en-US" sz="1200" dirty="0"/>
          </a:p>
          <a:p>
            <a:pPr marL="342900" indent="-342900">
              <a:spcAft>
                <a:spcPts val="600"/>
              </a:spcAft>
              <a:buSzPct val="100000"/>
              <a:buChar char="•"/>
            </a:pPr>
            <a:r>
              <a:rPr lang="en-US" sz="1200" dirty="0">
                <a:solidFill>
                  <a:srgbClr val="CFE0FF"/>
                </a:solidFill>
                <a:latin typeface="Calibri" pitchFamily="34" charset="0"/>
                <a:ea typeface="Calibri" pitchFamily="34" charset="-122"/>
                <a:cs typeface="Calibri" pitchFamily="34" charset="-120"/>
              </a:rPr>
              <a:t>Finalise the task-format-to-judging mapping</a:t>
            </a:r>
            <a:endParaRPr lang="en-US" sz="1200" dirty="0"/>
          </a:p>
          <a:p>
            <a:pPr marL="342900" indent="-342900">
              <a:spcAft>
                <a:spcPts val="600"/>
              </a:spcAft>
              <a:buSzPct val="100000"/>
              <a:buChar char="•"/>
            </a:pPr>
            <a:r>
              <a:rPr lang="en-US" sz="1200" dirty="0">
                <a:solidFill>
                  <a:srgbClr val="CFE0FF"/>
                </a:solidFill>
                <a:latin typeface="Calibri" pitchFamily="34" charset="0"/>
                <a:ea typeface="Calibri" pitchFamily="34" charset="-122"/>
                <a:cs typeface="Calibri" pitchFamily="34" charset="-120"/>
              </a:rPr>
              <a:t>Build the expert reference set with difficulty strata</a:t>
            </a:r>
            <a:endParaRPr lang="en-US" sz="1200" dirty="0"/>
          </a:p>
          <a:p>
            <a:pPr marL="342900" indent="-342900">
              <a:spcAft>
                <a:spcPts val="600"/>
              </a:spcAft>
              <a:buSzPct val="100000"/>
              <a:buChar char="•"/>
            </a:pPr>
            <a:r>
              <a:rPr lang="en-US" sz="1200" dirty="0">
                <a:solidFill>
                  <a:srgbClr val="CFE0FF"/>
                </a:solidFill>
                <a:latin typeface="Calibri" pitchFamily="34" charset="0"/>
                <a:ea typeface="Calibri" pitchFamily="34" charset="-122"/>
                <a:cs typeface="Calibri" pitchFamily="34" charset="-120"/>
              </a:rPr>
              <a:t>Implement the authoring interface as a first-class component</a:t>
            </a:r>
            <a:endParaRPr lang="en-US" sz="1200" dirty="0"/>
          </a:p>
          <a:p>
            <a:pPr marL="342900" indent="-342900">
              <a:spcAft>
                <a:spcPts val="600"/>
              </a:spcAft>
              <a:buSzPct val="100000"/>
              <a:buChar char="•"/>
            </a:pPr>
            <a:r>
              <a:rPr lang="en-US" sz="1200" dirty="0">
                <a:solidFill>
                  <a:srgbClr val="CFE0FF"/>
                </a:solidFill>
                <a:latin typeface="Calibri" pitchFamily="34" charset="0"/>
                <a:ea typeface="Calibri" pitchFamily="34" charset="-122"/>
                <a:cs typeface="Calibri" pitchFamily="34" charset="-120"/>
              </a:rPr>
              <a:t>Re-verify the Vietnamese market claim close to submission</a:t>
            </a:r>
            <a:endParaRPr lang="en-US" sz="1200" dirty="0"/>
          </a:p>
        </p:txBody>
      </p:sp>
      <p:sp>
        <p:nvSpPr>
          <p:cNvPr id="12" name="Shape 10"/>
          <p:cNvSpPr/>
          <p:nvPr/>
        </p:nvSpPr>
        <p:spPr>
          <a:xfrm>
            <a:off x="8065008" y="1847088"/>
            <a:ext cx="3557016" cy="3291840"/>
          </a:xfrm>
          <a:prstGeom prst="roundRect">
            <a:avLst>
              <a:gd name="adj" fmla="val 2222"/>
            </a:avLst>
          </a:prstGeom>
          <a:solidFill>
            <a:srgbClr val="FFF4E0"/>
          </a:solidFill>
          <a:ln/>
        </p:spPr>
      </p:sp>
      <p:sp>
        <p:nvSpPr>
          <p:cNvPr id="13" name="Text 11"/>
          <p:cNvSpPr txBox="1"/>
          <p:nvPr/>
        </p:nvSpPr>
        <p:spPr>
          <a:xfrm>
            <a:off x="8284464" y="1993392"/>
            <a:ext cx="3118104" cy="274320"/>
          </a:xfrm>
          <a:prstGeom prst="rect">
            <a:avLst/>
          </a:prstGeom>
          <a:noFill/>
          <a:ln/>
        </p:spPr>
        <p:txBody>
          <a:bodyPr wrap="square" lIns="0" tIns="0" rIns="0" bIns="0" rtlCol="0" anchor="ctr"/>
          <a:lstStyle/>
          <a:p>
            <a:pPr indent="0" marL="0">
              <a:buNone/>
            </a:pPr>
            <a:r>
              <a:rPr lang="en-US" sz="1300" b="1" dirty="0">
                <a:solidFill>
                  <a:srgbClr val="B26B00"/>
                </a:solidFill>
                <a:latin typeface="Montserrat" pitchFamily="34" charset="0"/>
                <a:ea typeface="Montserrat" pitchFamily="34" charset="-122"/>
                <a:cs typeface="Montserrat" pitchFamily="34" charset="-120"/>
              </a:rPr>
              <a:t>The three asks</a:t>
            </a:r>
            <a:endParaRPr lang="en-US" sz="1300" dirty="0"/>
          </a:p>
        </p:txBody>
      </p:sp>
      <p:sp>
        <p:nvSpPr>
          <p:cNvPr id="14" name="Shape 12"/>
          <p:cNvSpPr/>
          <p:nvPr/>
        </p:nvSpPr>
        <p:spPr>
          <a:xfrm>
            <a:off x="8284464" y="2532888"/>
            <a:ext cx="329184" cy="329184"/>
          </a:xfrm>
          <a:prstGeom prst="ellipse">
            <a:avLst/>
          </a:prstGeom>
          <a:solidFill>
            <a:srgbClr val="B26B00"/>
          </a:solidFill>
          <a:ln/>
        </p:spPr>
      </p:sp>
      <p:sp>
        <p:nvSpPr>
          <p:cNvPr id="15" name="Text 13"/>
          <p:cNvSpPr txBox="1"/>
          <p:nvPr/>
        </p:nvSpPr>
        <p:spPr>
          <a:xfrm>
            <a:off x="8284464" y="25328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16" name="Text 14"/>
          <p:cNvSpPr txBox="1"/>
          <p:nvPr/>
        </p:nvSpPr>
        <p:spPr>
          <a:xfrm>
            <a:off x="8723376" y="2496312"/>
            <a:ext cx="2679192" cy="548640"/>
          </a:xfrm>
          <a:prstGeom prst="rect">
            <a:avLst/>
          </a:prstGeom>
          <a:noFill/>
          <a:ln/>
        </p:spPr>
        <p:txBody>
          <a:bodyPr wrap="square" lIns="0" tIns="0" rIns="0" bIns="0" rtlCol="0" anchor="ctr"/>
          <a:lstStyle/>
          <a:p>
            <a:pPr indent="0" marL="0">
              <a:lnSpc>
                <a:spcPct val="100000"/>
              </a:lnSpc>
              <a:buNone/>
            </a:pPr>
            <a:r>
              <a:rPr lang="en-US" sz="1250" b="1" dirty="0">
                <a:solidFill>
                  <a:srgbClr val="4A3000"/>
                </a:solidFill>
                <a:latin typeface="Calibri" pitchFamily="34" charset="0"/>
                <a:ea typeface="Calibri" pitchFamily="34" charset="-122"/>
                <a:cs typeface="Calibri" pitchFamily="34" charset="-120"/>
              </a:rPr>
              <a:t>Criteria set and ratings (Ch 3)</a:t>
            </a:r>
            <a:endParaRPr lang="en-US" sz="1250" dirty="0"/>
          </a:p>
        </p:txBody>
      </p:sp>
      <p:sp>
        <p:nvSpPr>
          <p:cNvPr id="17" name="Shape 15"/>
          <p:cNvSpPr/>
          <p:nvPr/>
        </p:nvSpPr>
        <p:spPr>
          <a:xfrm>
            <a:off x="8284464" y="3355848"/>
            <a:ext cx="329184" cy="329184"/>
          </a:xfrm>
          <a:prstGeom prst="ellipse">
            <a:avLst/>
          </a:prstGeom>
          <a:solidFill>
            <a:srgbClr val="B26B00"/>
          </a:solidFill>
          <a:ln/>
        </p:spPr>
      </p:sp>
      <p:sp>
        <p:nvSpPr>
          <p:cNvPr id="18" name="Text 16"/>
          <p:cNvSpPr txBox="1"/>
          <p:nvPr/>
        </p:nvSpPr>
        <p:spPr>
          <a:xfrm>
            <a:off x="8284464" y="33558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9" name="Text 17"/>
          <p:cNvSpPr txBox="1"/>
          <p:nvPr/>
        </p:nvSpPr>
        <p:spPr>
          <a:xfrm>
            <a:off x="8723376" y="3319272"/>
            <a:ext cx="2679192" cy="548640"/>
          </a:xfrm>
          <a:prstGeom prst="rect">
            <a:avLst/>
          </a:prstGeom>
          <a:noFill/>
          <a:ln/>
        </p:spPr>
        <p:txBody>
          <a:bodyPr wrap="square" lIns="0" tIns="0" rIns="0" bIns="0" rtlCol="0" anchor="ctr"/>
          <a:lstStyle/>
          <a:p>
            <a:pPr indent="0" marL="0">
              <a:lnSpc>
                <a:spcPct val="100000"/>
              </a:lnSpc>
              <a:buNone/>
            </a:pPr>
            <a:r>
              <a:rPr lang="en-US" sz="1250" b="1" dirty="0">
                <a:solidFill>
                  <a:srgbClr val="4A3000"/>
                </a:solidFill>
                <a:latin typeface="Calibri" pitchFamily="34" charset="0"/>
                <a:ea typeface="Calibri" pitchFamily="34" charset="-122"/>
                <a:cs typeface="Calibri" pitchFamily="34" charset="-120"/>
              </a:rPr>
              <a:t>Must-priority scope (Ch 4)</a:t>
            </a:r>
            <a:endParaRPr lang="en-US" sz="1250" dirty="0"/>
          </a:p>
        </p:txBody>
      </p:sp>
      <p:sp>
        <p:nvSpPr>
          <p:cNvPr id="20" name="Shape 18"/>
          <p:cNvSpPr/>
          <p:nvPr/>
        </p:nvSpPr>
        <p:spPr>
          <a:xfrm>
            <a:off x="8284464" y="4178808"/>
            <a:ext cx="329184" cy="329184"/>
          </a:xfrm>
          <a:prstGeom prst="ellipse">
            <a:avLst/>
          </a:prstGeom>
          <a:solidFill>
            <a:srgbClr val="B26B00"/>
          </a:solidFill>
          <a:ln/>
        </p:spPr>
      </p:sp>
      <p:sp>
        <p:nvSpPr>
          <p:cNvPr id="21" name="Text 19"/>
          <p:cNvSpPr txBox="1"/>
          <p:nvPr/>
        </p:nvSpPr>
        <p:spPr>
          <a:xfrm>
            <a:off x="8284464" y="41788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22" name="Text 20"/>
          <p:cNvSpPr txBox="1"/>
          <p:nvPr/>
        </p:nvSpPr>
        <p:spPr>
          <a:xfrm>
            <a:off x="8723376" y="4142232"/>
            <a:ext cx="2679192" cy="548640"/>
          </a:xfrm>
          <a:prstGeom prst="rect">
            <a:avLst/>
          </a:prstGeom>
          <a:noFill/>
          <a:ln/>
        </p:spPr>
        <p:txBody>
          <a:bodyPr wrap="square" lIns="0" tIns="0" rIns="0" bIns="0" rtlCol="0" anchor="ctr"/>
          <a:lstStyle/>
          <a:p>
            <a:pPr indent="0" marL="0">
              <a:lnSpc>
                <a:spcPct val="100000"/>
              </a:lnSpc>
              <a:buNone/>
            </a:pPr>
            <a:r>
              <a:rPr lang="en-US" sz="1250" b="1" dirty="0">
                <a:solidFill>
                  <a:srgbClr val="4A3000"/>
                </a:solidFill>
                <a:latin typeface="Calibri" pitchFamily="34" charset="0"/>
                <a:ea typeface="Calibri" pitchFamily="34" charset="-122"/>
                <a:cs typeface="Calibri" pitchFamily="34" charset="-120"/>
              </a:rPr>
              <a:t>Offline evaluation design (Ch 5)</a:t>
            </a:r>
            <a:endParaRPr lang="en-US" sz="1250" dirty="0"/>
          </a:p>
        </p:txBody>
      </p:sp>
      <p:sp>
        <p:nvSpPr>
          <p:cNvPr id="23" name="Text 21"/>
          <p:cNvSpPr txBox="1"/>
          <p:nvPr/>
        </p:nvSpPr>
        <p:spPr>
          <a:xfrm>
            <a:off x="566928" y="5321808"/>
            <a:ext cx="11055096" cy="365760"/>
          </a:xfrm>
          <a:prstGeom prst="rect">
            <a:avLst/>
          </a:prstGeom>
          <a:noFill/>
          <a:ln/>
        </p:spPr>
        <p:txBody>
          <a:bodyPr wrap="square" lIns="0" tIns="0" rIns="0" bIns="0" rtlCol="0" anchor="ctr"/>
          <a:lstStyle/>
          <a:p>
            <a:pPr algn="ctr" indent="0" marL="0">
              <a:buNone/>
            </a:pPr>
            <a:r>
              <a:rPr lang="en-US" sz="1500" i="1" dirty="0">
                <a:solidFill>
                  <a:srgbClr val="4A8CFF"/>
                </a:solidFill>
                <a:latin typeface="Calibri" pitchFamily="34" charset="0"/>
                <a:ea typeface="Calibri" pitchFamily="34" charset="-122"/>
                <a:cs typeface="Calibri" pitchFamily="34" charset="-120"/>
              </a:rPr>
              <a:t>“Try the job before you pick the career.”</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3BA3"/>
        </a:solidFill>
      </p:bgPr>
    </p:bg>
    <p:spTree>
      <p:nvGrpSpPr>
        <p:cNvPr id="1" name=""/>
        <p:cNvGrpSpPr/>
        <p:nvPr/>
      </p:nvGrpSpPr>
      <p:grpSpPr>
        <a:xfrm>
          <a:off x="0" y="0"/>
          <a:ext cx="0" cy="0"/>
          <a:chOff x="0" y="0"/>
          <a:chExt cx="0" cy="0"/>
        </a:xfrm>
      </p:grpSpPr>
      <p:sp>
        <p:nvSpPr>
          <p:cNvPr id="2" name="Shape 0"/>
          <p:cNvSpPr/>
          <p:nvPr/>
        </p:nvSpPr>
        <p:spPr>
          <a:xfrm>
            <a:off x="9692640" y="3657600"/>
            <a:ext cx="3291840" cy="3291840"/>
          </a:xfrm>
          <a:prstGeom prst="ellipse">
            <a:avLst/>
          </a:prstGeom>
          <a:solidFill>
            <a:srgbClr val="0A4BBE"/>
          </a:solidFill>
          <a:ln/>
        </p:spPr>
      </p:sp>
      <p:sp>
        <p:nvSpPr>
          <p:cNvPr id="3" name="Text 1"/>
          <p:cNvSpPr txBox="1"/>
          <p:nvPr/>
        </p:nvSpPr>
        <p:spPr>
          <a:xfrm>
            <a:off x="566928" y="2651760"/>
            <a:ext cx="8229600" cy="310896"/>
          </a:xfrm>
          <a:prstGeom prst="rect">
            <a:avLst/>
          </a:prstGeom>
          <a:noFill/>
          <a:ln/>
        </p:spPr>
        <p:txBody>
          <a:bodyPr wrap="square" lIns="0" tIns="0" rIns="0" bIns="0" rtlCol="0" anchor="ctr"/>
          <a:lstStyle/>
          <a:p>
            <a:pPr indent="0" marL="0">
              <a:buNone/>
            </a:pPr>
            <a:r>
              <a:rPr lang="en-US" sz="1200" b="1" spc="240" kern="0" dirty="0">
                <a:solidFill>
                  <a:srgbClr val="4A8CFF"/>
                </a:solidFill>
                <a:latin typeface="Montserrat" pitchFamily="34" charset="0"/>
                <a:ea typeface="Montserrat" pitchFamily="34" charset="-122"/>
                <a:cs typeface="Montserrat" pitchFamily="34" charset="-120"/>
              </a:rPr>
              <a:t>APPENDIX</a:t>
            </a:r>
            <a:endParaRPr lang="en-US" sz="1200" dirty="0"/>
          </a:p>
        </p:txBody>
      </p:sp>
      <p:sp>
        <p:nvSpPr>
          <p:cNvPr id="4" name="Text 2"/>
          <p:cNvSpPr txBox="1"/>
          <p:nvPr/>
        </p:nvSpPr>
        <p:spPr>
          <a:xfrm>
            <a:off x="566928" y="2971800"/>
            <a:ext cx="8229600" cy="731520"/>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Not presented — held for questions</a:t>
            </a:r>
            <a:endParaRPr lang="en-US" sz="3200" dirty="0"/>
          </a:p>
        </p:txBody>
      </p:sp>
      <p:sp>
        <p:nvSpPr>
          <p:cNvPr id="5" name="Text 3"/>
          <p:cNvSpPr txBox="1"/>
          <p:nvPr/>
        </p:nvSpPr>
        <p:spPr>
          <a:xfrm>
            <a:off x="566928" y="3794760"/>
            <a:ext cx="8778240" cy="640080"/>
          </a:xfrm>
          <a:prstGeom prst="rect">
            <a:avLst/>
          </a:prstGeom>
          <a:noFill/>
          <a:ln/>
        </p:spPr>
        <p:txBody>
          <a:bodyPr wrap="square" lIns="0" tIns="0" rIns="0" bIns="0" rtlCol="0" anchor="ctr"/>
          <a:lstStyle/>
          <a:p>
            <a:pPr indent="0" marL="0">
              <a:lnSpc>
                <a:spcPct val="110000"/>
              </a:lnSpc>
              <a:buNone/>
            </a:pPr>
            <a:r>
              <a:rPr lang="en-US" sz="1300" dirty="0">
                <a:solidFill>
                  <a:srgbClr val="CFE0FF"/>
                </a:solidFill>
                <a:latin typeface="Calibri" pitchFamily="34" charset="0"/>
                <a:ea typeface="Calibri" pitchFamily="34" charset="-122"/>
                <a:cs typeface="Calibri" pitchFamily="34" charset="-120"/>
              </a:rPr>
              <a:t>A1 Table 3.1 in full  ·  A2–A3 Functional requirements  ·  A4 Non-functional  ·  A5 Data  ·  A6 Use cases  ·  A7 Traceability  ·  A8 References  ·  A9 Abbreviations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APPENDIX A1</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Table 3.1 — the comparison in full</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Ratings reflect the systems as surveyed and would require revision as products change.</a:t>
            </a:r>
            <a:endParaRPr lang="en-US" sz="15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847088"/>
          <a:ext cx="11055096" cy="914400"/>
        </p:xfrm>
        <a:graphic>
          <a:graphicData uri="http://schemas.openxmlformats.org/drawingml/2006/table">
            <a:tbl>
              <a:tblPr/>
              <a:tblGrid>
                <a:gridCol w="2276856"/>
                <a:gridCol w="1755648"/>
                <a:gridCol w="1755648"/>
                <a:gridCol w="1755648"/>
                <a:gridCol w="1755648"/>
                <a:gridCol w="1755648"/>
              </a:tblGrid>
              <a:tr h="457200">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Criterion</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Authored simulation</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(Forage)</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Generated simulation</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(EntryLevel, Anthropos)</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Interview practice</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(careersim.ai etc.)</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Generative narrative</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(Hidden Door etc.)</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Assessment &amp; orientation</a:t>
                      </a:r>
                      <a:endParaRPr lang="en-US" sz="850" dirty="0">
                        <a:latin typeface="Montserrat" charset="0"/>
                        <a:ea typeface="Montserrat" charset="0"/>
                        <a:cs typeface="Montserrat" charset="0"/>
                      </a:endParaRPr>
                    </a:p>
                    <a:p>
                      <a:pPr algn="ctr" indent="0" marL="0">
                        <a:buNone/>
                      </a:pPr>
                      <a:r>
                        <a:rPr lang="en-US" sz="850" b="1" dirty="0">
                          <a:solidFill>
                            <a:srgbClr val="FFFFFF"/>
                          </a:solidFill>
                          <a:latin typeface="Montserrat" pitchFamily="34" charset="0"/>
                          <a:ea typeface="Montserrat" pitchFamily="34" charset="-122"/>
                          <a:cs typeface="Montserrat" pitchFamily="34" charset="-120"/>
                        </a:rPr>
                        <a:t>(O*NET, VN market)</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384048">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C1 Task authenticity</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employer-authored real work products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generated role tasks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B26B00"/>
                          </a:solidFill>
                          <a:latin typeface="Calibri" pitchFamily="34" charset="0"/>
                          <a:ea typeface="Calibri" pitchFamily="34" charset="-122"/>
                          <a:cs typeface="Calibri" pitchFamily="34" charset="-120"/>
                        </a:rPr>
                        <a:t>◐ interview talk, not work</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fictional worlds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inventory only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C2 Candour of representation</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includes unglamorous tasks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B26B00"/>
                          </a:solidFill>
                          <a:latin typeface="Calibri" pitchFamily="34" charset="0"/>
                          <a:ea typeface="Calibri" pitchFamily="34" charset="-122"/>
                          <a:cs typeface="Calibri" pitchFamily="34" charset="-120"/>
                        </a:rPr>
                        <a:t>◐ varies by generation</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not its purpose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no real occupations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B26B00"/>
                          </a:solidFill>
                          <a:latin typeface="Calibri" pitchFamily="34" charset="0"/>
                          <a:ea typeface="Calibri" pitchFamily="34" charset="-122"/>
                          <a:cs typeface="Calibri" pitchFamily="34" charset="-120"/>
                        </a:rPr>
                        <a:t>◐ text lists difficulties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C3 Adaptivity to the learner</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fixed content, identical on repeat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parameterised generation</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adaptive personas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fully generative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B26B00"/>
                          </a:solidFill>
                          <a:latin typeface="Calibri" pitchFamily="34" charset="0"/>
                          <a:ea typeface="Calibri" pitchFamily="34" charset="-122"/>
                          <a:cs typeface="Calibri" pitchFamily="34" charset="-120"/>
                        </a:rPr>
                        <a:t>◐ branching by score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C4 Validity of competence measurement</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model answer, no judgment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B26B00"/>
                          </a:solidFill>
                          <a:latin typeface="Calibri" pitchFamily="34" charset="0"/>
                          <a:ea typeface="Calibri" pitchFamily="34" charset="-122"/>
                          <a:cs typeface="Calibri" pitchFamily="34" charset="-120"/>
                        </a:rPr>
                        <a:t>◐ behavioural evidence, unvalidated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B26B00"/>
                          </a:solidFill>
                          <a:latin typeface="Calibri" pitchFamily="34" charset="0"/>
                          <a:ea typeface="Calibri" pitchFamily="34" charset="-122"/>
                          <a:cs typeface="Calibri" pitchFamily="34" charset="-120"/>
                        </a:rPr>
                        <a:t>◐ scored, conversational only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none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self-report only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C5 Quality of feedback and guidance</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B26B00"/>
                          </a:solidFill>
                          <a:latin typeface="Calibri" pitchFamily="34" charset="0"/>
                          <a:ea typeface="Calibri" pitchFamily="34" charset="-122"/>
                          <a:cs typeface="Calibri" pitchFamily="34" charset="-120"/>
                        </a:rPr>
                        <a:t>◐ exemplar, not response-specific</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B26B00"/>
                          </a:solidFill>
                          <a:latin typeface="Calibri" pitchFamily="34" charset="0"/>
                          <a:ea typeface="Calibri" pitchFamily="34" charset="-122"/>
                          <a:cs typeface="Calibri" pitchFamily="34" charset="-120"/>
                        </a:rPr>
                        <a:t>◐ automated tutor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per-dimension coaching</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none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B26B00"/>
                          </a:solidFill>
                          <a:latin typeface="Calibri" pitchFamily="34" charset="0"/>
                          <a:ea typeface="Calibri" pitchFamily="34" charset="-122"/>
                          <a:cs typeface="Calibri" pitchFamily="34" charset="-120"/>
                        </a:rPr>
                        <a:t>◐ generic occupation reports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C6 Sustained engagement</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one-pass certificate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discrete projects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practice utility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high replayability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single sitting</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C7 Support for pathway navigation</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isolated simulations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unconnected projects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single-role focus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B26B00"/>
                          </a:solidFill>
                          <a:latin typeface="Calibri" pitchFamily="34" charset="0"/>
                          <a:ea typeface="Calibri" pitchFamily="34" charset="-122"/>
                          <a:cs typeface="Calibri" pitchFamily="34" charset="-120"/>
                        </a:rPr>
                        <a:t>◐ world, not career, traversal</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ranked occupational lists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C8 Scalability and currency</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8A9099"/>
                          </a:solidFill>
                          <a:latin typeface="Calibri" pitchFamily="34" charset="0"/>
                          <a:ea typeface="Calibri" pitchFamily="34" charset="-122"/>
                          <a:cs typeface="Calibri" pitchFamily="34" charset="-120"/>
                        </a:rPr>
                        <a:t>○ commissioned per employer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generated on demand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generated on demand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7F4B"/>
                          </a:solidFill>
                          <a:latin typeface="Calibri" pitchFamily="34" charset="0"/>
                          <a:ea typeface="Calibri" pitchFamily="34" charset="-122"/>
                          <a:cs typeface="Calibri" pitchFamily="34" charset="-120"/>
                        </a:rPr>
                        <a:t>● generated on demand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B26B00"/>
                          </a:solidFill>
                          <a:latin typeface="Calibri" pitchFamily="34" charset="0"/>
                          <a:ea typeface="Calibri" pitchFamily="34" charset="-122"/>
                          <a:cs typeface="Calibri" pitchFamily="34" charset="-120"/>
                        </a:rPr>
                        <a:t>◐ periodic database updates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66928" y="5522976"/>
            <a:ext cx="11055096" cy="457200"/>
          </a:xfrm>
          <a:prstGeom prst="rect">
            <a:avLst/>
          </a:prstGeom>
          <a:noFill/>
          <a:ln/>
        </p:spPr>
        <p:txBody>
          <a:bodyPr wrap="square" lIns="0" tIns="0" rIns="0" bIns="0" rtlCol="0" anchor="ctr"/>
          <a:lstStyle/>
          <a:p>
            <a:pPr indent="0" marL="0">
              <a:lnSpc>
                <a:spcPct val="105000"/>
              </a:lnSpc>
              <a:buNone/>
            </a:pPr>
            <a:r>
              <a:rPr lang="en-US" sz="900" dirty="0">
                <a:solidFill>
                  <a:srgbClr val="6B7585"/>
                </a:solidFill>
                <a:latin typeface="Calibri" pitchFamily="34" charset="0"/>
                <a:ea typeface="Calibri" pitchFamily="34" charset="-122"/>
                <a:cs typeface="Calibri" pitchFamily="34" charset="-120"/>
              </a:rPr>
              <a:t>● Full — a core designed property.   ◐ Partial — limited in scope, incidental, or a by-product of another objective.   ○ Absent. The report's Table 3.1 additionally carries a JobQuest column; cells marked ● there denote design intent and cells marked ◐ are targeted but not yet empirically established.</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APPENDIX A2</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Functional requirements (Table 4.2) — FR-01 to FR-11</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5096" cy="914400"/>
        </p:xfrm>
        <a:graphic>
          <a:graphicData uri="http://schemas.openxmlformats.org/drawingml/2006/table">
            <a:tbl>
              <a:tblPr/>
              <a:tblGrid>
                <a:gridCol w="685800"/>
                <a:gridCol w="3931920"/>
                <a:gridCol w="1051560"/>
                <a:gridCol w="731520"/>
                <a:gridCol w="868680"/>
                <a:gridCol w="3785616"/>
              </a:tblGrid>
              <a:tr h="384048">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ID</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Requirement</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Group</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Priority</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Feasibility</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Verification method</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FR-01</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Register and authenticate a user account</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Account creation and sign-in succeed; unauthenticated access to progress is refused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FR-02</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Present the entry level of any published occupation without prerequisite</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Entry level reachable for a new account with zero credit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FR-03</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Present role, team and working context before the first task of a level</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Context screen precedes first task in every level</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FR-04</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Generate a task scenario from a published seed, preserving its required facts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Expert review of sampled generations against the seed's fact list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FR-05</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Accept structured responses and score them against an answer key</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Known-input tests produce expected scores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FR-06</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Accept free-text responses and score them against the seed's rubric</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Agreement with expert judgment on the reference set (Cohen's κ)</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FR-07</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Return result, response-specific feedback and forward guidance as distinct elements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All three present and distinguishable for every assessed response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FR-08</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Record competencies evidenced by each assessed response</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Competence records correspond to rubric criteria for sampled sessions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FR-09</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Award competence credit on level completion and unlock levels per BR-02</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Threshold boundary tests unlock at and only at the specified credit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FR-10</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Offer entry to adjacent occupations when overlap conditions are met per BR-03</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Offered set matches taxonomy-derived expectation for seeded profiles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FR-11</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Conduct an optional orientation conversation producing candidate occupations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Conversation completes and yields a non-empty ranked candidate set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APPENDIX A3</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Functional requirements (Table 4.2) — FR-12 to FR-21</a:t>
            </a:r>
            <a:endParaRPr lang="en-US" sz="2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5096" cy="914400"/>
        </p:xfrm>
        <a:graphic>
          <a:graphicData uri="http://schemas.openxmlformats.org/drawingml/2006/table">
            <a:tbl>
              <a:tblPr/>
              <a:tblGrid>
                <a:gridCol w="685800"/>
                <a:gridCol w="3931920"/>
                <a:gridCol w="1051560"/>
                <a:gridCol w="731520"/>
                <a:gridCol w="868680"/>
                <a:gridCol w="3785616"/>
              </a:tblGrid>
              <a:tr h="384048">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ID</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Requirement</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Group</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Priority</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Feasibility</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Verification method</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FR-12</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Collect a five-attribute rating on completion and display aggregates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Rating accepted only after completion; aggregate updates; suppression below threshold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FR-13</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Present a private record of attempted occupations, competencies and awards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Record reflects session history for a seeded account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FR-14</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Introduce probabilistic career and life events affecting subsequent exploration</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Could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Events occur within configured probability bounds across repeated runs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FR-15</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Author and edit a seed with required facts, target competencies and rubric</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Expert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Seed persists and is retrievable with all three components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FR-16</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Review, approve, reject or correct generated scenarios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Expert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Unapproved scenarios are not served to explorers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FR-17</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Report disagreements between automated and expert judgment</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Expert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Disagreement list matches recomputation over the reference set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FR-18</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Manage occupation lifecycle: create, track status, publish, retire</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Administrator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State transitions follow the defined lifecycle; publication requires completed review</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FR-19</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Report catalogue coverage and last-validated dates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Administrator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Report matches stored metadata</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FR-20</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Configure generation and assessment model providers, enforcing separation</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Administrator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Configuration rejects identical provider for both roles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FR-21</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Monitor usage, cost and error rates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Administrator</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Metrics present and consistent with generated load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APPENDIX A4</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Non-functional requirements (Table 4.3)</a:t>
            </a:r>
            <a:endParaRPr lang="en-US" sz="2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55096" cy="914400"/>
        </p:xfrm>
        <a:graphic>
          <a:graphicData uri="http://schemas.openxmlformats.org/drawingml/2006/table">
            <a:tbl>
              <a:tblPr/>
              <a:tblGrid>
                <a:gridCol w="777240"/>
                <a:gridCol w="3840480"/>
                <a:gridCol w="1234440"/>
                <a:gridCol w="731520"/>
                <a:gridCol w="868680"/>
                <a:gridCol w="3602736"/>
              </a:tblGrid>
              <a:tr h="365760">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ID</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Requirement</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Category</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Priority</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Feasibility</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Verification method</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NFR-01</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Scenario generation completes within 5 s at the 95th percentile; a progress indicator is shown beyond 2 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Performance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Latency distribution over ≥ 200 sampled generations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NFR-02</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Assessment of a free-text response completes within 8 s at the 95th percentile</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Performance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Latency distribution over ≥ 200 sampled assessments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NFR-03</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Session progress survives interruption and resumes without loss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Reliability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Forced interruption tests resume at the recorded position</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NFR-04</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On model provider failure, no committed progress is lost and the user is notified within 10 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Reliability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Fault injection; zero progress-record loss across injected failures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NFR-05</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Personal data is collected only as required, stored encrypted and deletable on request</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Security and privacy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Data inventory review; deletion request removes records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NFR-06</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Aggregate statistics apply a minimum-population suppression threshold</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Security and privacy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Aggregates below threshold are withheld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NFR-07</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Machine generation and machine assessment are disclosed to the user</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Transparency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Disclosure present at the point of use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NFR-08</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Interface language and occupational content support Vietnamese and English</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Usability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Both locales render complete content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NFR-09</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At least 80% of representative readers correctly state a task's objective after reading its scenario</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Usability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Comprehension check with a minimum of 20 representative readers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NFR-10</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Adding an occupation requires no code modification</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Maintainability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A new occupation is published through the authoring interface alone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NFR-11</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Mean model cost per completed session remains within the configured ceiling, with per-session cost recorded</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Cost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Cost telemetry aggregated per session against the configured ceiling</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NFR-12</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Model provider is replaceable without changes to seeds or rubrics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Portability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Provider substitution test with unchanged content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APPENDIX A5</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Data requirements (Table 4.4)</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Personal data within DR-06, DR-07 and DR-08 is subject to the policies in §4.1.4. DR-09 contains no personal data and is retained as a research asset.</a:t>
            </a:r>
            <a:endParaRPr lang="en-US" sz="15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847088"/>
          <a:ext cx="11055096" cy="914400"/>
        </p:xfrm>
        <a:graphic>
          <a:graphicData uri="http://schemas.openxmlformats.org/drawingml/2006/table">
            <a:tbl>
              <a:tblPr/>
              <a:tblGrid>
                <a:gridCol w="731520"/>
                <a:gridCol w="3566160"/>
                <a:gridCol w="2194560"/>
                <a:gridCol w="731520"/>
                <a:gridCol w="868680"/>
                <a:gridCol w="2962656"/>
              </a:tblGrid>
              <a:tr h="384048">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ID</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Data requirement</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Source</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Priority</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Feasibility</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00" b="1" dirty="0">
                          <a:solidFill>
                            <a:srgbClr val="FFFFFF"/>
                          </a:solidFill>
                          <a:latin typeface="Montserrat" pitchFamily="34" charset="0"/>
                          <a:ea typeface="Montserrat" pitchFamily="34" charset="-122"/>
                          <a:cs typeface="Montserrat" pitchFamily="34" charset="-120"/>
                        </a:rPr>
                        <a:t>Verification method</a:t>
                      </a:r>
                      <a:endParaRPr lang="en-US" sz="90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DR-01</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Occupational reference data: occupations, constituent tasks, work activities and skills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O*NET and ESCO, adapted for Vietnamese practice by domain experts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Imported records resolve against source identifiers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DR-02</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Competency taxonomy with definitions and observable indicators, distinguishing soft and technical competencies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Derived from DR-01 under expert adaptation</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Every rubric criterion resolves to a taxonomy entry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DR-03</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Occupational adjacency relations with overlap measures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Computed from DR-01 / DR-02</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Computed adjacency reviewed by experts for plausibility</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DR-04</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Scenario seeds: required facts, target competencies, narrative skeleton, rubric</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Domain experts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Seed schema validation; expert sign-off recorded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DR-05</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Generated scenario instances with provenance linking to seed and model version</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System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Every served scenario carries resolvable provenance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DR-06</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User profile and progress: competence credit, unlocked levels, occupation history</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System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Progress reconstructs from stored records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DR-07</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Assessment records: response, score, competencies evidenced, feedback, guidance</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System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Records complete for every assessed response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DR-08</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Occupation ratings on five attributes, with completion precondition enforced</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Explorers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Ratings exist only for completed occupations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DR-09</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Expert reference set: scenarios with gold-standard judgments, stratified by difficulty</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Domain experts</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3BA3"/>
                          </a:solidFill>
                          <a:latin typeface="Calibri" pitchFamily="34" charset="0"/>
                          <a:ea typeface="Calibri" pitchFamily="34" charset="-122"/>
                          <a:cs typeface="Calibri" pitchFamily="34" charset="-120"/>
                        </a:rPr>
                        <a:t>Must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26B00"/>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Set covers defined strata with recorded inter-expert agreement</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4A8CFF"/>
                          </a:solidFill>
                          <a:latin typeface="Montserrat" pitchFamily="34" charset="0"/>
                          <a:ea typeface="Montserrat" pitchFamily="34" charset="-122"/>
                          <a:cs typeface="Montserrat" pitchFamily="34" charset="-120"/>
                        </a:rPr>
                        <a:t>DR-10</a:t>
                      </a:r>
                      <a:endParaRPr lang="en-US" sz="8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00" dirty="0">
                          <a:solidFill>
                            <a:srgbClr val="1B2333"/>
                          </a:solidFill>
                          <a:latin typeface="Calibri" pitchFamily="34" charset="0"/>
                          <a:ea typeface="Calibri" pitchFamily="34" charset="-122"/>
                          <a:cs typeface="Calibri" pitchFamily="34" charset="-120"/>
                        </a:rPr>
                        <a:t>Operational telemetry: latency, cost, error rates, model versions</a:t>
                      </a:r>
                      <a:endParaRPr lang="en-US" sz="90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6B7585"/>
                          </a:solidFill>
                          <a:latin typeface="Calibri" pitchFamily="34" charset="0"/>
                          <a:ea typeface="Calibri" pitchFamily="34" charset="-122"/>
                          <a:cs typeface="Calibri" pitchFamily="34" charset="-120"/>
                        </a:rPr>
                        <a:t>System</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Should</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B7585"/>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850" dirty="0">
                          <a:solidFill>
                            <a:srgbClr val="1B2333"/>
                          </a:solidFill>
                          <a:latin typeface="Calibri" pitchFamily="34" charset="0"/>
                          <a:ea typeface="Calibri" pitchFamily="34" charset="-122"/>
                          <a:cs typeface="Calibri" pitchFamily="34" charset="-120"/>
                        </a:rPr>
                        <a:t>Telemetry present and queryable</a:t>
                      </a:r>
                      <a:endParaRPr lang="en-US" sz="8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APPENDIX A6</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Use cases — the exception flows</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Full tabular specifications: Tables 5.1–5.5 in the report; the remaining nine use cases in Appendix 1 of the report.</a:t>
            </a:r>
            <a:endParaRPr lang="en-US" sz="1500" dirty="0"/>
          </a:p>
        </p:txBody>
      </p:sp>
      <p:sp>
        <p:nvSpPr>
          <p:cNvPr id="5" name="Shape 3"/>
          <p:cNvSpPr/>
          <p:nvPr/>
        </p:nvSpPr>
        <p:spPr>
          <a:xfrm>
            <a:off x="566928" y="1847088"/>
            <a:ext cx="3526536" cy="3657600"/>
          </a:xfrm>
          <a:prstGeom prst="roundRect">
            <a:avLst>
              <a:gd name="adj" fmla="val 2074"/>
            </a:avLst>
          </a:prstGeom>
          <a:solidFill>
            <a:srgbClr val="F2F6FD"/>
          </a:solidFill>
          <a:ln w="6350">
            <a:solidFill>
              <a:srgbClr val="F2F6FD"/>
            </a:solidFill>
            <a:prstDash val="solid"/>
          </a:ln>
        </p:spPr>
      </p:sp>
      <p:sp>
        <p:nvSpPr>
          <p:cNvPr id="6" name="Shape 4"/>
          <p:cNvSpPr/>
          <p:nvPr/>
        </p:nvSpPr>
        <p:spPr>
          <a:xfrm>
            <a:off x="786384" y="2048256"/>
            <a:ext cx="329184" cy="329184"/>
          </a:xfrm>
          <a:prstGeom prst="ellipse">
            <a:avLst/>
          </a:prstGeom>
          <a:solidFill>
            <a:srgbClr val="003BA3"/>
          </a:solidFill>
          <a:ln/>
        </p:spPr>
      </p:sp>
      <p:sp>
        <p:nvSpPr>
          <p:cNvPr id="7" name="Text 5"/>
          <p:cNvSpPr txBox="1"/>
          <p:nvPr/>
        </p:nvSpPr>
        <p:spPr>
          <a:xfrm>
            <a:off x="78638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8" name="Text 6"/>
          <p:cNvSpPr txBox="1"/>
          <p:nvPr/>
        </p:nvSpPr>
        <p:spPr>
          <a:xfrm>
            <a:off x="786384" y="248716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UC-03  Perform a task scenario</a:t>
            </a:r>
            <a:endParaRPr lang="en-US" sz="1300" dirty="0"/>
          </a:p>
        </p:txBody>
      </p:sp>
      <p:sp>
        <p:nvSpPr>
          <p:cNvPr id="9" name="Text 7"/>
          <p:cNvSpPr txBox="1"/>
          <p:nvPr/>
        </p:nvSpPr>
        <p:spPr>
          <a:xfrm>
            <a:off x="786384" y="2980944"/>
            <a:ext cx="3087624" cy="235915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Exception flow — if generation fails or violates seed constraints, the system retries, then serves a previously validated scenario instance rather than an unvalidated one.</a:t>
            </a:r>
            <a:endParaRPr lang="en-US" sz="1100" dirty="0"/>
          </a:p>
          <a:p>
            <a:pPr indent="0" marL="0">
              <a:lnSpc>
                <a:spcPct val="103000"/>
              </a:lnSpc>
              <a:buNone/>
            </a:pPr>
            <a:endParaRPr lang="en-US" sz="1100" dirty="0"/>
          </a:p>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Requirements: FR-03, FR-04, FR-05, FR-06, FR-07, FR-08 · NFR-01–04, NFR-07 · DR-04, DR-05, DR-07</a:t>
            </a:r>
            <a:endParaRPr lang="en-US" sz="1100" dirty="0"/>
          </a:p>
        </p:txBody>
      </p:sp>
      <p:sp>
        <p:nvSpPr>
          <p:cNvPr id="10" name="Shape 8"/>
          <p:cNvSpPr/>
          <p:nvPr/>
        </p:nvSpPr>
        <p:spPr>
          <a:xfrm>
            <a:off x="4331208" y="1847088"/>
            <a:ext cx="3526536" cy="3657600"/>
          </a:xfrm>
          <a:prstGeom prst="roundRect">
            <a:avLst>
              <a:gd name="adj" fmla="val 2074"/>
            </a:avLst>
          </a:prstGeom>
          <a:solidFill>
            <a:srgbClr val="F2F6FD"/>
          </a:solidFill>
          <a:ln w="6350">
            <a:solidFill>
              <a:srgbClr val="F2F6FD"/>
            </a:solidFill>
            <a:prstDash val="solid"/>
          </a:ln>
        </p:spPr>
      </p:sp>
      <p:sp>
        <p:nvSpPr>
          <p:cNvPr id="11" name="Shape 9"/>
          <p:cNvSpPr/>
          <p:nvPr/>
        </p:nvSpPr>
        <p:spPr>
          <a:xfrm>
            <a:off x="4550664" y="2048256"/>
            <a:ext cx="329184" cy="329184"/>
          </a:xfrm>
          <a:prstGeom prst="ellipse">
            <a:avLst/>
          </a:prstGeom>
          <a:solidFill>
            <a:srgbClr val="003BA3"/>
          </a:solidFill>
          <a:ln/>
        </p:spPr>
      </p:sp>
      <p:sp>
        <p:nvSpPr>
          <p:cNvPr id="12" name="Text 10"/>
          <p:cNvSpPr txBox="1"/>
          <p:nvPr/>
        </p:nvSpPr>
        <p:spPr>
          <a:xfrm>
            <a:off x="455066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3" name="Text 11"/>
          <p:cNvSpPr txBox="1"/>
          <p:nvPr/>
        </p:nvSpPr>
        <p:spPr>
          <a:xfrm>
            <a:off x="4550664" y="248716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UC-08  Validate generated scenario</a:t>
            </a:r>
            <a:endParaRPr lang="en-US" sz="1300" dirty="0"/>
          </a:p>
        </p:txBody>
      </p:sp>
      <p:sp>
        <p:nvSpPr>
          <p:cNvPr id="14" name="Text 12"/>
          <p:cNvSpPr txBox="1"/>
          <p:nvPr/>
        </p:nvSpPr>
        <p:spPr>
          <a:xfrm>
            <a:off x="4550664" y="2980944"/>
            <a:ext cx="3087624" cy="235915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Exception flow — if the expert judges a scenario passable without the target competency, the seed returns for revision, because the evidence model would otherwise be invalid.</a:t>
            </a:r>
            <a:endParaRPr lang="en-US" sz="1100" dirty="0"/>
          </a:p>
          <a:p>
            <a:pPr indent="0" marL="0">
              <a:lnSpc>
                <a:spcPct val="103000"/>
              </a:lnSpc>
              <a:buNone/>
            </a:pPr>
            <a:endParaRPr lang="en-US" sz="1100" dirty="0"/>
          </a:p>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Requirements: FR-16 · NFR-10 · DR-04, DR-05.  Business rule: BR-05</a:t>
            </a:r>
            <a:endParaRPr lang="en-US" sz="1100" dirty="0"/>
          </a:p>
        </p:txBody>
      </p:sp>
      <p:sp>
        <p:nvSpPr>
          <p:cNvPr id="15" name="Shape 13"/>
          <p:cNvSpPr/>
          <p:nvPr/>
        </p:nvSpPr>
        <p:spPr>
          <a:xfrm>
            <a:off x="8095488" y="1847088"/>
            <a:ext cx="3526536" cy="3657600"/>
          </a:xfrm>
          <a:prstGeom prst="roundRect">
            <a:avLst>
              <a:gd name="adj" fmla="val 2074"/>
            </a:avLst>
          </a:prstGeom>
          <a:solidFill>
            <a:srgbClr val="F2F6FD"/>
          </a:solidFill>
          <a:ln w="6350">
            <a:solidFill>
              <a:srgbClr val="F2F6FD"/>
            </a:solidFill>
            <a:prstDash val="solid"/>
          </a:ln>
        </p:spPr>
      </p:sp>
      <p:sp>
        <p:nvSpPr>
          <p:cNvPr id="16" name="Shape 14"/>
          <p:cNvSpPr/>
          <p:nvPr/>
        </p:nvSpPr>
        <p:spPr>
          <a:xfrm>
            <a:off x="8314944" y="2048256"/>
            <a:ext cx="329184" cy="329184"/>
          </a:xfrm>
          <a:prstGeom prst="ellipse">
            <a:avLst/>
          </a:prstGeom>
          <a:solidFill>
            <a:srgbClr val="003BA3"/>
          </a:solidFill>
          <a:ln/>
        </p:spPr>
      </p:sp>
      <p:sp>
        <p:nvSpPr>
          <p:cNvPr id="17" name="Text 15"/>
          <p:cNvSpPr txBox="1"/>
          <p:nvPr/>
        </p:nvSpPr>
        <p:spPr>
          <a:xfrm>
            <a:off x="8314944" y="20482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8" name="Text 16"/>
          <p:cNvSpPr txBox="1"/>
          <p:nvPr/>
        </p:nvSpPr>
        <p:spPr>
          <a:xfrm>
            <a:off x="8314944" y="2487168"/>
            <a:ext cx="3087624" cy="457200"/>
          </a:xfrm>
          <a:prstGeom prst="rect">
            <a:avLst/>
          </a:prstGeom>
          <a:noFill/>
          <a:ln/>
        </p:spPr>
        <p:txBody>
          <a:bodyPr wrap="square" lIns="0" tIns="0" rIns="0" bIns="0" rtlCol="0" anchor="t"/>
          <a:lstStyle/>
          <a:p>
            <a:pPr indent="0" marL="0">
              <a:lnSpc>
                <a:spcPct val="100000"/>
              </a:lnSpc>
              <a:buNone/>
            </a:pPr>
            <a:r>
              <a:rPr lang="en-US" sz="1300" b="1" dirty="0">
                <a:solidFill>
                  <a:srgbClr val="003BA3"/>
                </a:solidFill>
                <a:latin typeface="Montserrat" pitchFamily="34" charset="0"/>
                <a:ea typeface="Montserrat" pitchFamily="34" charset="-122"/>
                <a:cs typeface="Montserrat" pitchFamily="34" charset="-120"/>
              </a:rPr>
              <a:t>UC-05  Rate a completed occupation</a:t>
            </a:r>
            <a:endParaRPr lang="en-US" sz="1300" dirty="0"/>
          </a:p>
        </p:txBody>
      </p:sp>
      <p:sp>
        <p:nvSpPr>
          <p:cNvPr id="19" name="Text 17"/>
          <p:cNvSpPr txBox="1"/>
          <p:nvPr/>
        </p:nvSpPr>
        <p:spPr>
          <a:xfrm>
            <a:off x="8314944" y="2980944"/>
            <a:ext cx="3087624" cy="2359152"/>
          </a:xfrm>
          <a:prstGeom prst="rect">
            <a:avLst/>
          </a:prstGeom>
          <a:noFill/>
          <a:ln/>
        </p:spPr>
        <p:txBody>
          <a:bodyPr wrap="square" lIns="0" tIns="0" rIns="0" bIns="0" rtlCol="0" anchor="t"/>
          <a:lstStyle/>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Precondition: the user has completed the occupation (BR-04).</a:t>
            </a:r>
            <a:endParaRPr lang="en-US" sz="1100" dirty="0"/>
          </a:p>
          <a:p>
            <a:pPr indent="0" marL="0">
              <a:lnSpc>
                <a:spcPct val="103000"/>
              </a:lnSpc>
              <a:buNone/>
            </a:pPr>
            <a:endParaRPr lang="en-US" sz="1100" dirty="0"/>
          </a:p>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Exception flow — population below the suppression threshold: the aggregate is withheld and the condition is stated rather than displaying an unfounded figure.</a:t>
            </a:r>
            <a:endParaRPr lang="en-US" sz="1100" dirty="0"/>
          </a:p>
          <a:p>
            <a:pPr indent="0" marL="0">
              <a:lnSpc>
                <a:spcPct val="103000"/>
              </a:lnSpc>
              <a:buNone/>
            </a:pPr>
            <a:endParaRPr lang="en-US" sz="1100" dirty="0"/>
          </a:p>
          <a:p>
            <a:pPr indent="0" marL="0">
              <a:lnSpc>
                <a:spcPct val="103000"/>
              </a:lnSpc>
              <a:buNone/>
            </a:pPr>
            <a:r>
              <a:rPr lang="en-US" sz="1100" dirty="0">
                <a:solidFill>
                  <a:srgbClr val="1B2333"/>
                </a:solidFill>
                <a:latin typeface="Calibri" pitchFamily="34" charset="0"/>
                <a:ea typeface="Calibri" pitchFamily="34" charset="-122"/>
                <a:cs typeface="Calibri" pitchFamily="34" charset="-120"/>
              </a:rPr>
              <a:t>Requirements: FR-12 · NFR-06 · DR-08.  Business rules: BR-04, BR-08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APPENDIX A7</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Traceability from requirements to use cases (Table 5.6)</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Every requirement is realised somewhere; no use case introduces behaviour the requirements do not specify.</a:t>
            </a:r>
            <a:endParaRPr lang="en-US" sz="15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847088"/>
          <a:ext cx="11055096" cy="914400"/>
        </p:xfrm>
        <a:graphic>
          <a:graphicData uri="http://schemas.openxmlformats.org/drawingml/2006/table">
            <a:tbl>
              <a:tblPr/>
              <a:tblGrid>
                <a:gridCol w="2926080"/>
                <a:gridCol w="3291840"/>
                <a:gridCol w="2926080"/>
                <a:gridCol w="1911096"/>
              </a:tblGrid>
              <a:tr h="301752">
                <a:tc>
                  <a:txBody>
                    <a:bodyPr/>
                    <a:lstStyle/>
                    <a:p>
                      <a:pPr algn="l" indent="0" marL="0">
                        <a:buNone/>
                      </a:pPr>
                      <a:r>
                        <a:rPr lang="en-US" sz="950" b="1" dirty="0">
                          <a:solidFill>
                            <a:srgbClr val="FFFFFF"/>
                          </a:solidFill>
                          <a:latin typeface="Montserrat" pitchFamily="34" charset="0"/>
                          <a:ea typeface="Montserrat" pitchFamily="34" charset="-122"/>
                          <a:cs typeface="Montserrat" pitchFamily="34" charset="-120"/>
                        </a:rPr>
                        <a:t>Use case</a:t>
                      </a:r>
                      <a:endParaRPr lang="en-US" sz="9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50" b="1" dirty="0">
                          <a:solidFill>
                            <a:srgbClr val="FFFFFF"/>
                          </a:solidFill>
                          <a:latin typeface="Montserrat" pitchFamily="34" charset="0"/>
                          <a:ea typeface="Montserrat" pitchFamily="34" charset="-122"/>
                          <a:cs typeface="Montserrat" pitchFamily="34" charset="-120"/>
                        </a:rPr>
                        <a:t>Functional</a:t>
                      </a:r>
                      <a:endParaRPr lang="en-US" sz="9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50" b="1" dirty="0">
                          <a:solidFill>
                            <a:srgbClr val="FFFFFF"/>
                          </a:solidFill>
                          <a:latin typeface="Montserrat" pitchFamily="34" charset="0"/>
                          <a:ea typeface="Montserrat" pitchFamily="34" charset="-122"/>
                          <a:cs typeface="Montserrat" pitchFamily="34" charset="-120"/>
                        </a:rPr>
                        <a:t>Non-functional</a:t>
                      </a:r>
                      <a:endParaRPr lang="en-US" sz="9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c>
                  <a:txBody>
                    <a:bodyPr/>
                    <a:lstStyle/>
                    <a:p>
                      <a:pPr algn="l" indent="0" marL="0">
                        <a:buNone/>
                      </a:pPr>
                      <a:r>
                        <a:rPr lang="en-US" sz="950" b="1" dirty="0">
                          <a:solidFill>
                            <a:srgbClr val="FFFFFF"/>
                          </a:solidFill>
                          <a:latin typeface="Montserrat" pitchFamily="34" charset="0"/>
                          <a:ea typeface="Montserrat" pitchFamily="34" charset="-122"/>
                          <a:cs typeface="Montserrat" pitchFamily="34" charset="-120"/>
                        </a:rPr>
                        <a:t>Data</a:t>
                      </a:r>
                      <a:endParaRPr lang="en-US" sz="950" dirty="0">
                        <a:latin typeface="Montserrat" charset="0"/>
                        <a:ea typeface="Montserrat" charset="0"/>
                        <a:cs typeface="Montserrat"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003BA3"/>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UC-01 Explore catalogue</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FR-02</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NFR-08, NFR-09</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DR-01</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UC-02 Orientation conversation</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FR-11</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NFR-01, NFR-07</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DR-01, DR-06</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UC-03 Perform task scenario</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FR-03, FR-04, FR-05, FR-06, FR-07, FR-08</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NFR-01, NFR-02, NFR-03, NFR-04, NFR-07</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DR-04, DR-05, DR-07</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UC-04 Progress further</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FR-09, FR-10, FR-14</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DR-02, DR-03, DR-06</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UC-05 Rate occupation</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FR-12</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NFR-06</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DR-08</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UC-06 Review personal record</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FR-13</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NFR-05</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DR-06, DR-07</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UC-07 Author seed and rubric</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FR-15</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NFR-10</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DR-01, DR-02, DR-04</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UC-08 Validate scenario</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FR-16</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NFR-10</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DR-04, DR-05</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UC-09 Review disagreements</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FR-17</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DR-07, DR-09</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UC-10 Manage lifecycle</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FR-18</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NFR-10</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DR-04</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UC-11 Monitor coverage</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FR-19</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DR-04</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UC-12 Configure models</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FR-20</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NFR-11, NFR-12</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DR-05</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UC-13 Monitor operation</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FR-21</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NFR-11</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DR-10</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003BA3"/>
                          </a:solidFill>
                          <a:latin typeface="Calibri" pitchFamily="34" charset="0"/>
                          <a:ea typeface="Calibri" pitchFamily="34" charset="-122"/>
                          <a:cs typeface="Calibri" pitchFamily="34" charset="-120"/>
                        </a:rPr>
                        <a:t>Account management</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FR-01</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NFR-05</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950" dirty="0">
                          <a:solidFill>
                            <a:srgbClr val="1B2333"/>
                          </a:solidFill>
                          <a:latin typeface="Calibri" pitchFamily="34" charset="0"/>
                          <a:ea typeface="Calibri" pitchFamily="34" charset="-122"/>
                          <a:cs typeface="Calibri" pitchFamily="34" charset="-120"/>
                        </a:rPr>
                        <a:t>DR-06</a:t>
                      </a:r>
                      <a:endParaRPr lang="en-US" sz="950" dirty="0">
                        <a:latin typeface="Calibri" charset="0"/>
                        <a:ea typeface="Calibri" charset="0"/>
                        <a:cs typeface="Calibri" charset="0"/>
                      </a:endParaRPr>
                    </a:p>
                  </a:txBody>
                  <a:tcPr marL="64008" marR="64008" marT="64008" marB="64008" anchor="ctr">
                    <a:lnL w="6350" cap="flat" cmpd="sng" algn="ctr">
                      <a:solidFill>
                        <a:srgbClr val="D5DEEF"/>
                      </a:solidFill>
                      <a:prstDash val="solid"/>
                      <a:round/>
                      <a:headEnd type="none" w="med" len="med"/>
                      <a:tailEnd type="none" w="med" len="med"/>
                    </a:lnL>
                    <a:lnR w="6350" cap="flat" cmpd="sng" algn="ctr">
                      <a:solidFill>
                        <a:srgbClr val="D5DEEF"/>
                      </a:solidFill>
                      <a:prstDash val="solid"/>
                      <a:round/>
                      <a:headEnd type="none" w="med" len="med"/>
                      <a:tailEnd type="none" w="med" len="med"/>
                    </a:lnR>
                    <a:lnT w="6350" cap="flat" cmpd="sng" algn="ctr">
                      <a:solidFill>
                        <a:srgbClr val="D5DEEF"/>
                      </a:solidFill>
                      <a:prstDash val="solid"/>
                      <a:round/>
                      <a:headEnd type="none" w="med" len="med"/>
                      <a:tailEnd type="none" w="med" len="med"/>
                    </a:lnT>
                    <a:lnB w="6350" cap="flat" cmpd="sng" algn="ctr">
                      <a:solidFill>
                        <a:srgbClr val="D5DEE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APPENDIX A8</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References cited in this deck</a:t>
            </a:r>
            <a:endParaRPr lang="en-US" sz="2800" dirty="0"/>
          </a:p>
        </p:txBody>
      </p:sp>
      <p:sp>
        <p:nvSpPr>
          <p:cNvPr id="4" name="Text 2"/>
          <p:cNvSpPr txBox="1"/>
          <p:nvPr/>
        </p:nvSpPr>
        <p:spPr>
          <a:xfrm>
            <a:off x="566928" y="1298448"/>
            <a:ext cx="11055096" cy="384048"/>
          </a:xfrm>
          <a:prstGeom prst="rect">
            <a:avLst/>
          </a:prstGeom>
          <a:noFill/>
          <a:ln/>
        </p:spPr>
        <p:txBody>
          <a:bodyPr wrap="square" lIns="0" tIns="0" rIns="0" bIns="0" rtlCol="0" anchor="t"/>
          <a:lstStyle/>
          <a:p>
            <a:pPr indent="0" marL="0">
              <a:lnSpc>
                <a:spcPct val="105000"/>
              </a:lnSpc>
              <a:buNone/>
            </a:pPr>
            <a:r>
              <a:rPr lang="en-US" sz="1500" i="1" dirty="0">
                <a:solidFill>
                  <a:srgbClr val="1B2333"/>
                </a:solidFill>
                <a:latin typeface="Calibri" pitchFamily="34" charset="0"/>
                <a:ea typeface="Calibri" pitchFamily="34" charset="-122"/>
                <a:cs typeface="Calibri" pitchFamily="34" charset="-120"/>
              </a:rPr>
              <a:t>Numbering matches the report's bibliography. Entries [1]–[5] are given in full; the remainder are short forms.</a:t>
            </a:r>
            <a:endParaRPr lang="en-US" sz="1500" dirty="0"/>
          </a:p>
        </p:txBody>
      </p:sp>
      <p:sp>
        <p:nvSpPr>
          <p:cNvPr id="5" name="Text 3"/>
          <p:cNvSpPr txBox="1"/>
          <p:nvPr/>
        </p:nvSpPr>
        <p:spPr>
          <a:xfrm>
            <a:off x="566928" y="1847088"/>
            <a:ext cx="5760720" cy="658368"/>
          </a:xfrm>
          <a:prstGeom prst="rect">
            <a:avLst/>
          </a:prstGeom>
          <a:noFill/>
          <a:ln/>
        </p:spPr>
        <p:txBody>
          <a:bodyPr wrap="square" lIns="0" tIns="0" rIns="0" bIns="0" rtlCol="0" anchor="ctr"/>
          <a:lstStyle/>
          <a:p>
            <a:pPr indent="0" marL="0">
              <a:lnSpc>
                <a:spcPct val="103000"/>
              </a:lnSpc>
              <a:buNone/>
            </a:pPr>
            <a:r>
              <a:rPr lang="en-US" sz="950" dirty="0">
                <a:solidFill>
                  <a:srgbClr val="1B2333"/>
                </a:solidFill>
                <a:latin typeface="Calibri" pitchFamily="34" charset="0"/>
                <a:ea typeface="Calibri" pitchFamily="34" charset="-122"/>
                <a:cs typeface="Calibri" pitchFamily="34" charset="-120"/>
              </a:rPr>
              <a:t>[1]  I. Gati, M. Krausz and S. H. Osipow, “A taxonomy of difficulties in career decision making,” Journal of Counseling Psychology, vol. 43, no. 4, pp. 510–526, 1996. Cross-country validation: N. Levin et al., “The structure of the CDDQ across 13 countries,” Journal of Career Assessment, 2023.</a:t>
            </a:r>
            <a:endParaRPr lang="en-US" sz="950" dirty="0"/>
          </a:p>
        </p:txBody>
      </p:sp>
      <p:sp>
        <p:nvSpPr>
          <p:cNvPr id="6" name="Text 4"/>
          <p:cNvSpPr txBox="1"/>
          <p:nvPr/>
        </p:nvSpPr>
        <p:spPr>
          <a:xfrm>
            <a:off x="566928" y="2560320"/>
            <a:ext cx="5760720" cy="658368"/>
          </a:xfrm>
          <a:prstGeom prst="rect">
            <a:avLst/>
          </a:prstGeom>
          <a:noFill/>
          <a:ln/>
        </p:spPr>
        <p:txBody>
          <a:bodyPr wrap="square" lIns="0" tIns="0" rIns="0" bIns="0" rtlCol="0" anchor="ctr"/>
          <a:lstStyle/>
          <a:p>
            <a:pPr indent="0" marL="0">
              <a:lnSpc>
                <a:spcPct val="103000"/>
              </a:lnSpc>
              <a:buNone/>
            </a:pPr>
            <a:r>
              <a:rPr lang="en-US" sz="950" dirty="0">
                <a:solidFill>
                  <a:srgbClr val="1B2333"/>
                </a:solidFill>
                <a:latin typeface="Calibri" pitchFamily="34" charset="0"/>
                <a:ea typeface="Calibri" pitchFamily="34" charset="-122"/>
                <a:cs typeface="Calibri" pitchFamily="34" charset="-120"/>
              </a:rPr>
              <a:t>[3]  “Nearly 20% of university students lack career direction, survey shows,” VietnamNet, 23 May 2026. Grey literature; survey of ~9,200 students across 10 Vietnamese universities, reported at the “Building Happy Universities in Vietnam” seminar.</a:t>
            </a:r>
            <a:endParaRPr lang="en-US" sz="950" dirty="0"/>
          </a:p>
        </p:txBody>
      </p:sp>
      <p:sp>
        <p:nvSpPr>
          <p:cNvPr id="7" name="Text 5"/>
          <p:cNvSpPr txBox="1"/>
          <p:nvPr/>
        </p:nvSpPr>
        <p:spPr>
          <a:xfrm>
            <a:off x="566928" y="3273552"/>
            <a:ext cx="5760720" cy="658368"/>
          </a:xfrm>
          <a:prstGeom prst="rect">
            <a:avLst/>
          </a:prstGeom>
          <a:noFill/>
          <a:ln/>
        </p:spPr>
        <p:txBody>
          <a:bodyPr wrap="square" lIns="0" tIns="0" rIns="0" bIns="0" rtlCol="0" anchor="ctr"/>
          <a:lstStyle/>
          <a:p>
            <a:pPr indent="0" marL="0">
              <a:lnSpc>
                <a:spcPct val="103000"/>
              </a:lnSpc>
              <a:buNone/>
            </a:pPr>
            <a:r>
              <a:rPr lang="en-US" sz="950" dirty="0">
                <a:solidFill>
                  <a:srgbClr val="1B2333"/>
                </a:solidFill>
                <a:latin typeface="Calibri" pitchFamily="34" charset="0"/>
                <a:ea typeface="Calibri" pitchFamily="34" charset="-122"/>
                <a:cs typeface="Calibri" pitchFamily="34" charset="-120"/>
              </a:rPr>
              <a:t>[4]  T. Q. Tran, N. B. T. Vu, D. Van Le and L. H. Vu, “Vertical and horizontal job-education mismatches and wages,” International Journal of Educational Development, vol. 117, art. 103323, 2025.</a:t>
            </a:r>
            <a:endParaRPr lang="en-US" sz="950" dirty="0"/>
          </a:p>
        </p:txBody>
      </p:sp>
      <p:sp>
        <p:nvSpPr>
          <p:cNvPr id="8" name="Text 6"/>
          <p:cNvSpPr txBox="1"/>
          <p:nvPr/>
        </p:nvSpPr>
        <p:spPr>
          <a:xfrm>
            <a:off x="566928" y="3986784"/>
            <a:ext cx="5760720" cy="658368"/>
          </a:xfrm>
          <a:prstGeom prst="rect">
            <a:avLst/>
          </a:prstGeom>
          <a:noFill/>
          <a:ln/>
        </p:spPr>
        <p:txBody>
          <a:bodyPr wrap="square" lIns="0" tIns="0" rIns="0" bIns="0" rtlCol="0" anchor="ctr"/>
          <a:lstStyle/>
          <a:p>
            <a:pPr indent="0" marL="0">
              <a:lnSpc>
                <a:spcPct val="103000"/>
              </a:lnSpc>
              <a:buNone/>
            </a:pPr>
            <a:r>
              <a:rPr lang="en-US" sz="950" dirty="0">
                <a:solidFill>
                  <a:srgbClr val="1B2333"/>
                </a:solidFill>
                <a:latin typeface="Calibri" pitchFamily="34" charset="0"/>
                <a:ea typeface="Calibri" pitchFamily="34" charset="-122"/>
                <a:cs typeface="Calibri" pitchFamily="34" charset="-120"/>
              </a:rPr>
              <a:t>[5]  D. J. Pittenger, “Cautionary comments regarding the Myers-Briggs Type Indicator,” Consulting Psychology Journal, vol. 57, no. 3, pp. 210–221, 2005.</a:t>
            </a:r>
            <a:endParaRPr lang="en-US" sz="950" dirty="0"/>
          </a:p>
        </p:txBody>
      </p:sp>
      <p:sp>
        <p:nvSpPr>
          <p:cNvPr id="9" name="Text 7"/>
          <p:cNvSpPr txBox="1"/>
          <p:nvPr/>
        </p:nvSpPr>
        <p:spPr>
          <a:xfrm>
            <a:off x="6693408" y="1847088"/>
            <a:ext cx="4928616" cy="3657600"/>
          </a:xfrm>
          <a:prstGeom prst="rect">
            <a:avLst/>
          </a:prstGeom>
          <a:noFill/>
          <a:ln/>
        </p:spPr>
        <p:txBody>
          <a:bodyPr wrap="square" lIns="0" tIns="0" rIns="0" bIns="0" rtlCol="0" anchor="ctr"/>
          <a:lstStyle/>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[6][7] Realistic job preview meta-analyses — Phillips 1998; Earnest, Allen &amp; Landis 2011</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[8][9] Social cognitive career theory — Lent, Brown &amp; Hackett</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[10] Kolb · [14][15] simulation in health professions education · [16] Chernikova et al. 2020</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[17][18] Evidence-centered design — Mislevy et al.</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[24] Li, Hew &amp; Du — gamification by psychological need · [26] role-play methods · [27] Sitzmann</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[30] Randomised reward mechanisms and problem gambling</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[32] Holland · [33] Super · [34] Krumboltz</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[44] Zheng et al. (MT-Bench) · [45] rubric-anchored chain-of-thought · [46] 21 evaluators, ~541,000 judgments · [47] JudgeBench · [51] RewardBench</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[49] O*NET · [50] ESCO · [52] EQGBench · [53] EduBench · [54] TextWorld · [55] Jericho</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[56] Multi-agent unobtrusive assessment in a serious game</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[57] CareerSim · [58] Future You · [59] Letters from Future Self · [60] CareerPooler · [63] SDT-grounded counselling agent</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[64] Forage · [65][66] EntryLevel, Anthropos · [70] Hidden Door</a:t>
            </a:r>
            <a:endParaRPr lang="en-US" sz="950" dirty="0"/>
          </a:p>
          <a:p>
            <a:pPr indent="0" marL="0">
              <a:spcAft>
                <a:spcPts val="400"/>
              </a:spcAft>
              <a:buNone/>
            </a:pPr>
            <a:r>
              <a:rPr lang="en-US" sz="950" dirty="0">
                <a:solidFill>
                  <a:srgbClr val="1B2333"/>
                </a:solidFill>
                <a:latin typeface="Calibri" pitchFamily="34" charset="0"/>
                <a:ea typeface="Calibri" pitchFamily="34" charset="-122"/>
                <a:cs typeface="Calibri" pitchFamily="34" charset="-120"/>
              </a:rPr>
              <a:t>[71–75] JobWay, JobTest.vn, Hướng nghiệp Sông An, Hướng Nghiệp LwL, AI Hay</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66928" y="384048"/>
            <a:ext cx="11055096" cy="219456"/>
          </a:xfrm>
          <a:prstGeom prst="rect">
            <a:avLst/>
          </a:prstGeom>
          <a:noFill/>
          <a:ln/>
        </p:spPr>
        <p:txBody>
          <a:bodyPr wrap="square" lIns="0" tIns="0" rIns="0" bIns="0" rtlCol="0" anchor="ctr"/>
          <a:lstStyle/>
          <a:p>
            <a:pPr indent="0" marL="0">
              <a:buNone/>
            </a:pPr>
            <a:r>
              <a:rPr lang="en-US" sz="1050" b="1" spc="220" kern="0" dirty="0">
                <a:solidFill>
                  <a:srgbClr val="4A8CFF"/>
                </a:solidFill>
                <a:latin typeface="Montserrat" pitchFamily="34" charset="0"/>
                <a:ea typeface="Montserrat" pitchFamily="34" charset="-122"/>
                <a:cs typeface="Montserrat" pitchFamily="34" charset="-120"/>
              </a:rPr>
              <a:t>APPENDIX A9</a:t>
            </a:r>
            <a:endParaRPr lang="en-US" sz="1050" dirty="0"/>
          </a:p>
        </p:txBody>
      </p:sp>
      <p:sp>
        <p:nvSpPr>
          <p:cNvPr id="3" name="Text 1"/>
          <p:cNvSpPr txBox="1"/>
          <p:nvPr/>
        </p:nvSpPr>
        <p:spPr>
          <a:xfrm>
            <a:off x="566928" y="658368"/>
            <a:ext cx="11055096" cy="603504"/>
          </a:xfrm>
          <a:prstGeom prst="rect">
            <a:avLst/>
          </a:prstGeom>
          <a:noFill/>
          <a:ln/>
        </p:spPr>
        <p:txBody>
          <a:bodyPr wrap="square" lIns="0" tIns="0" rIns="0" bIns="0" rtlCol="0" anchor="t"/>
          <a:lstStyle/>
          <a:p>
            <a:pPr indent="0" marL="0">
              <a:lnSpc>
                <a:spcPct val="100000"/>
              </a:lnSpc>
              <a:buNone/>
            </a:pPr>
            <a:r>
              <a:rPr lang="en-US" sz="2800" b="1" dirty="0">
                <a:solidFill>
                  <a:srgbClr val="003BA3"/>
                </a:solidFill>
                <a:latin typeface="Montserrat" pitchFamily="34" charset="0"/>
                <a:ea typeface="Montserrat" pitchFamily="34" charset="-122"/>
                <a:cs typeface="Montserrat" pitchFamily="34" charset="-120"/>
              </a:rPr>
              <a:t>List of abbreviations</a:t>
            </a:r>
            <a:endParaRPr lang="en-US" sz="2800" dirty="0"/>
          </a:p>
        </p:txBody>
      </p:sp>
      <p:sp>
        <p:nvSpPr>
          <p:cNvPr id="4" name="Shape 2"/>
          <p:cNvSpPr/>
          <p:nvPr/>
        </p:nvSpPr>
        <p:spPr>
          <a:xfrm>
            <a:off x="566928" y="1408176"/>
            <a:ext cx="5390388" cy="420624"/>
          </a:xfrm>
          <a:prstGeom prst="roundRect">
            <a:avLst>
              <a:gd name="adj" fmla="val 10870"/>
            </a:avLst>
          </a:prstGeom>
          <a:solidFill>
            <a:srgbClr val="F2F6FD"/>
          </a:solidFill>
          <a:ln/>
        </p:spPr>
      </p:sp>
      <p:sp>
        <p:nvSpPr>
          <p:cNvPr id="5" name="Text 3"/>
          <p:cNvSpPr txBox="1"/>
          <p:nvPr/>
        </p:nvSpPr>
        <p:spPr>
          <a:xfrm>
            <a:off x="731520" y="1408176"/>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ĐACN</a:t>
            </a:r>
            <a:endParaRPr lang="en-US" sz="1050" dirty="0"/>
          </a:p>
        </p:txBody>
      </p:sp>
      <p:sp>
        <p:nvSpPr>
          <p:cNvPr id="6" name="Text 4"/>
          <p:cNvSpPr txBox="1"/>
          <p:nvPr/>
        </p:nvSpPr>
        <p:spPr>
          <a:xfrm>
            <a:off x="2176272" y="1408176"/>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Đồ án chuyên ngành — Specialized Project</a:t>
            </a:r>
            <a:endParaRPr lang="en-US" sz="1050" dirty="0"/>
          </a:p>
        </p:txBody>
      </p:sp>
      <p:sp>
        <p:nvSpPr>
          <p:cNvPr id="7" name="Shape 5"/>
          <p:cNvSpPr/>
          <p:nvPr/>
        </p:nvSpPr>
        <p:spPr>
          <a:xfrm>
            <a:off x="6231636" y="1408176"/>
            <a:ext cx="5390388" cy="420624"/>
          </a:xfrm>
          <a:prstGeom prst="roundRect">
            <a:avLst>
              <a:gd name="adj" fmla="val 10870"/>
            </a:avLst>
          </a:prstGeom>
          <a:solidFill>
            <a:srgbClr val="F2F6FD"/>
          </a:solidFill>
          <a:ln/>
        </p:spPr>
      </p:sp>
      <p:sp>
        <p:nvSpPr>
          <p:cNvPr id="8" name="Text 6"/>
          <p:cNvSpPr txBox="1"/>
          <p:nvPr/>
        </p:nvSpPr>
        <p:spPr>
          <a:xfrm>
            <a:off x="6396228" y="1408176"/>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HCMUT</a:t>
            </a:r>
            <a:endParaRPr lang="en-US" sz="1050" dirty="0"/>
          </a:p>
        </p:txBody>
      </p:sp>
      <p:sp>
        <p:nvSpPr>
          <p:cNvPr id="9" name="Text 7"/>
          <p:cNvSpPr txBox="1"/>
          <p:nvPr/>
        </p:nvSpPr>
        <p:spPr>
          <a:xfrm>
            <a:off x="7840980" y="1408176"/>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Ho Chi Minh City University of Technology</a:t>
            </a:r>
            <a:endParaRPr lang="en-US" sz="1050" dirty="0"/>
          </a:p>
        </p:txBody>
      </p:sp>
      <p:sp>
        <p:nvSpPr>
          <p:cNvPr id="10" name="Shape 8"/>
          <p:cNvSpPr/>
          <p:nvPr/>
        </p:nvSpPr>
        <p:spPr>
          <a:xfrm>
            <a:off x="566928" y="1901952"/>
            <a:ext cx="5390388" cy="420624"/>
          </a:xfrm>
          <a:prstGeom prst="roundRect">
            <a:avLst>
              <a:gd name="adj" fmla="val 10870"/>
            </a:avLst>
          </a:prstGeom>
          <a:solidFill>
            <a:srgbClr val="F2F6FD"/>
          </a:solidFill>
          <a:ln/>
        </p:spPr>
      </p:sp>
      <p:sp>
        <p:nvSpPr>
          <p:cNvPr id="11" name="Text 9"/>
          <p:cNvSpPr txBox="1"/>
          <p:nvPr/>
        </p:nvSpPr>
        <p:spPr>
          <a:xfrm>
            <a:off x="731520" y="1901952"/>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BR</a:t>
            </a:r>
            <a:endParaRPr lang="en-US" sz="1050" dirty="0"/>
          </a:p>
        </p:txBody>
      </p:sp>
      <p:sp>
        <p:nvSpPr>
          <p:cNvPr id="12" name="Text 10"/>
          <p:cNvSpPr txBox="1"/>
          <p:nvPr/>
        </p:nvSpPr>
        <p:spPr>
          <a:xfrm>
            <a:off x="2176272" y="1901952"/>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Business rule</a:t>
            </a:r>
            <a:endParaRPr lang="en-US" sz="1050" dirty="0"/>
          </a:p>
        </p:txBody>
      </p:sp>
      <p:sp>
        <p:nvSpPr>
          <p:cNvPr id="13" name="Shape 11"/>
          <p:cNvSpPr/>
          <p:nvPr/>
        </p:nvSpPr>
        <p:spPr>
          <a:xfrm>
            <a:off x="6231636" y="1901952"/>
            <a:ext cx="5390388" cy="420624"/>
          </a:xfrm>
          <a:prstGeom prst="roundRect">
            <a:avLst>
              <a:gd name="adj" fmla="val 10870"/>
            </a:avLst>
          </a:prstGeom>
          <a:solidFill>
            <a:srgbClr val="F2F6FD"/>
          </a:solidFill>
          <a:ln/>
        </p:spPr>
      </p:sp>
      <p:sp>
        <p:nvSpPr>
          <p:cNvPr id="14" name="Text 12"/>
          <p:cNvSpPr txBox="1"/>
          <p:nvPr/>
        </p:nvSpPr>
        <p:spPr>
          <a:xfrm>
            <a:off x="6396228" y="1901952"/>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FR / NFR / DR</a:t>
            </a:r>
            <a:endParaRPr lang="en-US" sz="1050" dirty="0"/>
          </a:p>
        </p:txBody>
      </p:sp>
      <p:sp>
        <p:nvSpPr>
          <p:cNvPr id="15" name="Text 13"/>
          <p:cNvSpPr txBox="1"/>
          <p:nvPr/>
        </p:nvSpPr>
        <p:spPr>
          <a:xfrm>
            <a:off x="7840980" y="1901952"/>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Functional / non-functional / data requirement</a:t>
            </a:r>
            <a:endParaRPr lang="en-US" sz="1050" dirty="0"/>
          </a:p>
        </p:txBody>
      </p:sp>
      <p:sp>
        <p:nvSpPr>
          <p:cNvPr id="16" name="Shape 14"/>
          <p:cNvSpPr/>
          <p:nvPr/>
        </p:nvSpPr>
        <p:spPr>
          <a:xfrm>
            <a:off x="566928" y="2395728"/>
            <a:ext cx="5390388" cy="420624"/>
          </a:xfrm>
          <a:prstGeom prst="roundRect">
            <a:avLst>
              <a:gd name="adj" fmla="val 10870"/>
            </a:avLst>
          </a:prstGeom>
          <a:solidFill>
            <a:srgbClr val="F2F6FD"/>
          </a:solidFill>
          <a:ln/>
        </p:spPr>
      </p:sp>
      <p:sp>
        <p:nvSpPr>
          <p:cNvPr id="17" name="Text 15"/>
          <p:cNvSpPr txBox="1"/>
          <p:nvPr/>
        </p:nvSpPr>
        <p:spPr>
          <a:xfrm>
            <a:off x="731520" y="2395728"/>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UC</a:t>
            </a:r>
            <a:endParaRPr lang="en-US" sz="1050" dirty="0"/>
          </a:p>
        </p:txBody>
      </p:sp>
      <p:sp>
        <p:nvSpPr>
          <p:cNvPr id="18" name="Text 16"/>
          <p:cNvSpPr txBox="1"/>
          <p:nvPr/>
        </p:nvSpPr>
        <p:spPr>
          <a:xfrm>
            <a:off x="2176272" y="2395728"/>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Use case</a:t>
            </a:r>
            <a:endParaRPr lang="en-US" sz="1050" dirty="0"/>
          </a:p>
        </p:txBody>
      </p:sp>
      <p:sp>
        <p:nvSpPr>
          <p:cNvPr id="19" name="Shape 17"/>
          <p:cNvSpPr/>
          <p:nvPr/>
        </p:nvSpPr>
        <p:spPr>
          <a:xfrm>
            <a:off x="6231636" y="2395728"/>
            <a:ext cx="5390388" cy="420624"/>
          </a:xfrm>
          <a:prstGeom prst="roundRect">
            <a:avLst>
              <a:gd name="adj" fmla="val 10870"/>
            </a:avLst>
          </a:prstGeom>
          <a:solidFill>
            <a:srgbClr val="F2F6FD"/>
          </a:solidFill>
          <a:ln/>
        </p:spPr>
      </p:sp>
      <p:sp>
        <p:nvSpPr>
          <p:cNvPr id="20" name="Text 18"/>
          <p:cNvSpPr txBox="1"/>
          <p:nvPr/>
        </p:nvSpPr>
        <p:spPr>
          <a:xfrm>
            <a:off x="6396228" y="2395728"/>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RP</a:t>
            </a:r>
            <a:endParaRPr lang="en-US" sz="1050" dirty="0"/>
          </a:p>
        </p:txBody>
      </p:sp>
      <p:sp>
        <p:nvSpPr>
          <p:cNvPr id="21" name="Text 19"/>
          <p:cNvSpPr txBox="1"/>
          <p:nvPr/>
        </p:nvSpPr>
        <p:spPr>
          <a:xfrm>
            <a:off x="7840980" y="2395728"/>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Research problem</a:t>
            </a:r>
            <a:endParaRPr lang="en-US" sz="1050" dirty="0"/>
          </a:p>
        </p:txBody>
      </p:sp>
      <p:sp>
        <p:nvSpPr>
          <p:cNvPr id="22" name="Shape 20"/>
          <p:cNvSpPr/>
          <p:nvPr/>
        </p:nvSpPr>
        <p:spPr>
          <a:xfrm>
            <a:off x="566928" y="2889504"/>
            <a:ext cx="5390388" cy="420624"/>
          </a:xfrm>
          <a:prstGeom prst="roundRect">
            <a:avLst>
              <a:gd name="adj" fmla="val 10870"/>
            </a:avLst>
          </a:prstGeom>
          <a:solidFill>
            <a:srgbClr val="F2F6FD"/>
          </a:solidFill>
          <a:ln/>
        </p:spPr>
      </p:sp>
      <p:sp>
        <p:nvSpPr>
          <p:cNvPr id="23" name="Text 21"/>
          <p:cNvSpPr txBox="1"/>
          <p:nvPr/>
        </p:nvSpPr>
        <p:spPr>
          <a:xfrm>
            <a:off x="731520" y="2889504"/>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ECD</a:t>
            </a:r>
            <a:endParaRPr lang="en-US" sz="1050" dirty="0"/>
          </a:p>
        </p:txBody>
      </p:sp>
      <p:sp>
        <p:nvSpPr>
          <p:cNvPr id="24" name="Text 22"/>
          <p:cNvSpPr txBox="1"/>
          <p:nvPr/>
        </p:nvSpPr>
        <p:spPr>
          <a:xfrm>
            <a:off x="2176272" y="2889504"/>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Evidence-centered design</a:t>
            </a:r>
            <a:endParaRPr lang="en-US" sz="1050" dirty="0"/>
          </a:p>
        </p:txBody>
      </p:sp>
      <p:sp>
        <p:nvSpPr>
          <p:cNvPr id="25" name="Shape 23"/>
          <p:cNvSpPr/>
          <p:nvPr/>
        </p:nvSpPr>
        <p:spPr>
          <a:xfrm>
            <a:off x="6231636" y="2889504"/>
            <a:ext cx="5390388" cy="420624"/>
          </a:xfrm>
          <a:prstGeom prst="roundRect">
            <a:avLst>
              <a:gd name="adj" fmla="val 10870"/>
            </a:avLst>
          </a:prstGeom>
          <a:solidFill>
            <a:srgbClr val="F2F6FD"/>
          </a:solidFill>
          <a:ln/>
        </p:spPr>
      </p:sp>
      <p:sp>
        <p:nvSpPr>
          <p:cNvPr id="26" name="Text 24"/>
          <p:cNvSpPr txBox="1"/>
          <p:nvPr/>
        </p:nvSpPr>
        <p:spPr>
          <a:xfrm>
            <a:off x="6396228" y="2889504"/>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RJP</a:t>
            </a:r>
            <a:endParaRPr lang="en-US" sz="1050" dirty="0"/>
          </a:p>
        </p:txBody>
      </p:sp>
      <p:sp>
        <p:nvSpPr>
          <p:cNvPr id="27" name="Text 25"/>
          <p:cNvSpPr txBox="1"/>
          <p:nvPr/>
        </p:nvSpPr>
        <p:spPr>
          <a:xfrm>
            <a:off x="7840980" y="2889504"/>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Realistic job preview</a:t>
            </a:r>
            <a:endParaRPr lang="en-US" sz="1050" dirty="0"/>
          </a:p>
        </p:txBody>
      </p:sp>
      <p:sp>
        <p:nvSpPr>
          <p:cNvPr id="28" name="Shape 26"/>
          <p:cNvSpPr/>
          <p:nvPr/>
        </p:nvSpPr>
        <p:spPr>
          <a:xfrm>
            <a:off x="566928" y="3383280"/>
            <a:ext cx="5390388" cy="420624"/>
          </a:xfrm>
          <a:prstGeom prst="roundRect">
            <a:avLst>
              <a:gd name="adj" fmla="val 10870"/>
            </a:avLst>
          </a:prstGeom>
          <a:solidFill>
            <a:srgbClr val="F2F6FD"/>
          </a:solidFill>
          <a:ln/>
        </p:spPr>
      </p:sp>
      <p:sp>
        <p:nvSpPr>
          <p:cNvPr id="29" name="Text 27"/>
          <p:cNvSpPr txBox="1"/>
          <p:nvPr/>
        </p:nvSpPr>
        <p:spPr>
          <a:xfrm>
            <a:off x="731520" y="3383280"/>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SCCT</a:t>
            </a:r>
            <a:endParaRPr lang="en-US" sz="1050" dirty="0"/>
          </a:p>
        </p:txBody>
      </p:sp>
      <p:sp>
        <p:nvSpPr>
          <p:cNvPr id="30" name="Text 28"/>
          <p:cNvSpPr txBox="1"/>
          <p:nvPr/>
        </p:nvSpPr>
        <p:spPr>
          <a:xfrm>
            <a:off x="2176272" y="3383280"/>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Social cognitive career theory</a:t>
            </a:r>
            <a:endParaRPr lang="en-US" sz="1050" dirty="0"/>
          </a:p>
        </p:txBody>
      </p:sp>
      <p:sp>
        <p:nvSpPr>
          <p:cNvPr id="31" name="Shape 29"/>
          <p:cNvSpPr/>
          <p:nvPr/>
        </p:nvSpPr>
        <p:spPr>
          <a:xfrm>
            <a:off x="6231636" y="3383280"/>
            <a:ext cx="5390388" cy="420624"/>
          </a:xfrm>
          <a:prstGeom prst="roundRect">
            <a:avLst>
              <a:gd name="adj" fmla="val 10870"/>
            </a:avLst>
          </a:prstGeom>
          <a:solidFill>
            <a:srgbClr val="F2F6FD"/>
          </a:solidFill>
          <a:ln/>
        </p:spPr>
      </p:sp>
      <p:sp>
        <p:nvSpPr>
          <p:cNvPr id="32" name="Text 30"/>
          <p:cNvSpPr txBox="1"/>
          <p:nvPr/>
        </p:nvSpPr>
        <p:spPr>
          <a:xfrm>
            <a:off x="6396228" y="3383280"/>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SDT</a:t>
            </a:r>
            <a:endParaRPr lang="en-US" sz="1050" dirty="0"/>
          </a:p>
        </p:txBody>
      </p:sp>
      <p:sp>
        <p:nvSpPr>
          <p:cNvPr id="33" name="Text 31"/>
          <p:cNvSpPr txBox="1"/>
          <p:nvPr/>
        </p:nvSpPr>
        <p:spPr>
          <a:xfrm>
            <a:off x="7840980" y="3383280"/>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Self-determination theory</a:t>
            </a:r>
            <a:endParaRPr lang="en-US" sz="1050" dirty="0"/>
          </a:p>
        </p:txBody>
      </p:sp>
      <p:sp>
        <p:nvSpPr>
          <p:cNvPr id="34" name="Shape 32"/>
          <p:cNvSpPr/>
          <p:nvPr/>
        </p:nvSpPr>
        <p:spPr>
          <a:xfrm>
            <a:off x="566928" y="3877056"/>
            <a:ext cx="5390388" cy="420624"/>
          </a:xfrm>
          <a:prstGeom prst="roundRect">
            <a:avLst>
              <a:gd name="adj" fmla="val 10870"/>
            </a:avLst>
          </a:prstGeom>
          <a:solidFill>
            <a:srgbClr val="F2F6FD"/>
          </a:solidFill>
          <a:ln/>
        </p:spPr>
      </p:sp>
      <p:sp>
        <p:nvSpPr>
          <p:cNvPr id="35" name="Text 33"/>
          <p:cNvSpPr txBox="1"/>
          <p:nvPr/>
        </p:nvSpPr>
        <p:spPr>
          <a:xfrm>
            <a:off x="731520" y="3877056"/>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LLM</a:t>
            </a:r>
            <a:endParaRPr lang="en-US" sz="1050" dirty="0"/>
          </a:p>
        </p:txBody>
      </p:sp>
      <p:sp>
        <p:nvSpPr>
          <p:cNvPr id="36" name="Text 34"/>
          <p:cNvSpPr txBox="1"/>
          <p:nvPr/>
        </p:nvSpPr>
        <p:spPr>
          <a:xfrm>
            <a:off x="2176272" y="3877056"/>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Large language model</a:t>
            </a:r>
            <a:endParaRPr lang="en-US" sz="1050" dirty="0"/>
          </a:p>
        </p:txBody>
      </p:sp>
      <p:sp>
        <p:nvSpPr>
          <p:cNvPr id="37" name="Shape 35"/>
          <p:cNvSpPr/>
          <p:nvPr/>
        </p:nvSpPr>
        <p:spPr>
          <a:xfrm>
            <a:off x="6231636" y="3877056"/>
            <a:ext cx="5390388" cy="420624"/>
          </a:xfrm>
          <a:prstGeom prst="roundRect">
            <a:avLst>
              <a:gd name="adj" fmla="val 10870"/>
            </a:avLst>
          </a:prstGeom>
          <a:solidFill>
            <a:srgbClr val="F2F6FD"/>
          </a:solidFill>
          <a:ln/>
        </p:spPr>
      </p:sp>
      <p:sp>
        <p:nvSpPr>
          <p:cNvPr id="38" name="Text 36"/>
          <p:cNvSpPr txBox="1"/>
          <p:nvPr/>
        </p:nvSpPr>
        <p:spPr>
          <a:xfrm>
            <a:off x="6396228" y="3877056"/>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O*NET</a:t>
            </a:r>
            <a:endParaRPr lang="en-US" sz="1050" dirty="0"/>
          </a:p>
        </p:txBody>
      </p:sp>
      <p:sp>
        <p:nvSpPr>
          <p:cNvPr id="39" name="Text 37"/>
          <p:cNvSpPr txBox="1"/>
          <p:nvPr/>
        </p:nvSpPr>
        <p:spPr>
          <a:xfrm>
            <a:off x="7840980" y="3877056"/>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Occupational Information Network (US Department of Labor)</a:t>
            </a:r>
            <a:endParaRPr lang="en-US" sz="1050" dirty="0"/>
          </a:p>
        </p:txBody>
      </p:sp>
      <p:sp>
        <p:nvSpPr>
          <p:cNvPr id="40" name="Shape 38"/>
          <p:cNvSpPr/>
          <p:nvPr/>
        </p:nvSpPr>
        <p:spPr>
          <a:xfrm>
            <a:off x="566928" y="4370832"/>
            <a:ext cx="5390388" cy="420624"/>
          </a:xfrm>
          <a:prstGeom prst="roundRect">
            <a:avLst>
              <a:gd name="adj" fmla="val 10870"/>
            </a:avLst>
          </a:prstGeom>
          <a:solidFill>
            <a:srgbClr val="F2F6FD"/>
          </a:solidFill>
          <a:ln/>
        </p:spPr>
      </p:sp>
      <p:sp>
        <p:nvSpPr>
          <p:cNvPr id="41" name="Text 39"/>
          <p:cNvSpPr txBox="1"/>
          <p:nvPr/>
        </p:nvSpPr>
        <p:spPr>
          <a:xfrm>
            <a:off x="731520" y="4370832"/>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ESCO</a:t>
            </a:r>
            <a:endParaRPr lang="en-US" sz="1050" dirty="0"/>
          </a:p>
        </p:txBody>
      </p:sp>
      <p:sp>
        <p:nvSpPr>
          <p:cNvPr id="42" name="Text 40"/>
          <p:cNvSpPr txBox="1"/>
          <p:nvPr/>
        </p:nvSpPr>
        <p:spPr>
          <a:xfrm>
            <a:off x="2176272" y="4370832"/>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European Skills, Competences, Qualifications and Occupations</a:t>
            </a:r>
            <a:endParaRPr lang="en-US" sz="1050" dirty="0"/>
          </a:p>
        </p:txBody>
      </p:sp>
      <p:sp>
        <p:nvSpPr>
          <p:cNvPr id="43" name="Shape 41"/>
          <p:cNvSpPr/>
          <p:nvPr/>
        </p:nvSpPr>
        <p:spPr>
          <a:xfrm>
            <a:off x="6231636" y="4370832"/>
            <a:ext cx="5390388" cy="420624"/>
          </a:xfrm>
          <a:prstGeom prst="roundRect">
            <a:avLst>
              <a:gd name="adj" fmla="val 10870"/>
            </a:avLst>
          </a:prstGeom>
          <a:solidFill>
            <a:srgbClr val="F2F6FD"/>
          </a:solidFill>
          <a:ln/>
        </p:spPr>
      </p:sp>
      <p:sp>
        <p:nvSpPr>
          <p:cNvPr id="44" name="Text 42"/>
          <p:cNvSpPr txBox="1"/>
          <p:nvPr/>
        </p:nvSpPr>
        <p:spPr>
          <a:xfrm>
            <a:off x="6396228" y="4370832"/>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MBTI</a:t>
            </a:r>
            <a:endParaRPr lang="en-US" sz="1050" dirty="0"/>
          </a:p>
        </p:txBody>
      </p:sp>
      <p:sp>
        <p:nvSpPr>
          <p:cNvPr id="45" name="Text 43"/>
          <p:cNvSpPr txBox="1"/>
          <p:nvPr/>
        </p:nvSpPr>
        <p:spPr>
          <a:xfrm>
            <a:off x="7840980" y="4370832"/>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Myers–Briggs Type Indicator</a:t>
            </a:r>
            <a:endParaRPr lang="en-US" sz="1050" dirty="0"/>
          </a:p>
        </p:txBody>
      </p:sp>
      <p:sp>
        <p:nvSpPr>
          <p:cNvPr id="46" name="Shape 44"/>
          <p:cNvSpPr/>
          <p:nvPr/>
        </p:nvSpPr>
        <p:spPr>
          <a:xfrm>
            <a:off x="566928" y="4864608"/>
            <a:ext cx="5390388" cy="420624"/>
          </a:xfrm>
          <a:prstGeom prst="roundRect">
            <a:avLst>
              <a:gd name="adj" fmla="val 10870"/>
            </a:avLst>
          </a:prstGeom>
          <a:solidFill>
            <a:srgbClr val="F2F6FD"/>
          </a:solidFill>
          <a:ln/>
        </p:spPr>
      </p:sp>
      <p:sp>
        <p:nvSpPr>
          <p:cNvPr id="47" name="Text 45"/>
          <p:cNvSpPr txBox="1"/>
          <p:nvPr/>
        </p:nvSpPr>
        <p:spPr>
          <a:xfrm>
            <a:off x="731520" y="4864608"/>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κ (kappa)</a:t>
            </a:r>
            <a:endParaRPr lang="en-US" sz="1050" dirty="0"/>
          </a:p>
        </p:txBody>
      </p:sp>
      <p:sp>
        <p:nvSpPr>
          <p:cNvPr id="48" name="Text 46"/>
          <p:cNvSpPr txBox="1"/>
          <p:nvPr/>
        </p:nvSpPr>
        <p:spPr>
          <a:xfrm>
            <a:off x="2176272" y="4864608"/>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Cohen's kappa — chance-corrected agreement</a:t>
            </a:r>
            <a:endParaRPr lang="en-US" sz="1050" dirty="0"/>
          </a:p>
        </p:txBody>
      </p:sp>
      <p:sp>
        <p:nvSpPr>
          <p:cNvPr id="49" name="Shape 47"/>
          <p:cNvSpPr/>
          <p:nvPr/>
        </p:nvSpPr>
        <p:spPr>
          <a:xfrm>
            <a:off x="6231636" y="4864608"/>
            <a:ext cx="5390388" cy="420624"/>
          </a:xfrm>
          <a:prstGeom prst="roundRect">
            <a:avLst>
              <a:gd name="adj" fmla="val 10870"/>
            </a:avLst>
          </a:prstGeom>
          <a:solidFill>
            <a:srgbClr val="F2F6FD"/>
          </a:solidFill>
          <a:ln/>
        </p:spPr>
      </p:sp>
      <p:sp>
        <p:nvSpPr>
          <p:cNvPr id="50" name="Text 48"/>
          <p:cNvSpPr txBox="1"/>
          <p:nvPr/>
        </p:nvSpPr>
        <p:spPr>
          <a:xfrm>
            <a:off x="6396228" y="4864608"/>
            <a:ext cx="1371600" cy="420624"/>
          </a:xfrm>
          <a:prstGeom prst="rect">
            <a:avLst/>
          </a:prstGeom>
          <a:noFill/>
          <a:ln/>
        </p:spPr>
        <p:txBody>
          <a:bodyPr wrap="square" lIns="0" tIns="0" rIns="0" bIns="0" rtlCol="0" anchor="ctr"/>
          <a:lstStyle/>
          <a:p>
            <a:pPr indent="0" marL="0">
              <a:buNone/>
            </a:pPr>
            <a:r>
              <a:rPr lang="en-US" sz="1050" b="1" dirty="0">
                <a:solidFill>
                  <a:srgbClr val="003BA3"/>
                </a:solidFill>
                <a:latin typeface="Montserrat" pitchFamily="34" charset="0"/>
                <a:ea typeface="Montserrat" pitchFamily="34" charset="-122"/>
                <a:cs typeface="Montserrat" pitchFamily="34" charset="-120"/>
              </a:rPr>
              <a:t>g</a:t>
            </a:r>
            <a:endParaRPr lang="en-US" sz="1050" dirty="0"/>
          </a:p>
        </p:txBody>
      </p:sp>
      <p:sp>
        <p:nvSpPr>
          <p:cNvPr id="51" name="Text 49"/>
          <p:cNvSpPr txBox="1"/>
          <p:nvPr/>
        </p:nvSpPr>
        <p:spPr>
          <a:xfrm>
            <a:off x="7840980" y="4864608"/>
            <a:ext cx="3616452" cy="420624"/>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Hedges' g — standardised mean difference effect size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HCMUT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JobQuest — Advisor Report, Chapters 1–5</dc:title>
  <dc:subject>Specialized Project (ĐACN)</dc:subject>
  <dc:creator>Golden Trio</dc:creator>
  <cp:lastModifiedBy>Golden Trio</cp:lastModifiedBy>
  <cp:revision>1</cp:revision>
  <dcterms:created xsi:type="dcterms:W3CDTF">2026-09-18T16:46:02Z</dcterms:created>
  <dcterms:modified xsi:type="dcterms:W3CDTF">2026-09-18T16:46:02Z</dcterms:modified>
</cp:coreProperties>
</file>